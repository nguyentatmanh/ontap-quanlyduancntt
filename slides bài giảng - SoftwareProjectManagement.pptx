
<file path=[Content_Types].xml><?xml version="1.0" encoding="utf-8"?>
<Types xmlns="http://schemas.openxmlformats.org/package/2006/content-types">
  <Default Extension="xml" ContentType="application/xml"/>
  <Default Extension="jpeg" ContentType="image/jpeg"/>
  <Default Extension="wdp" ContentType="image/vnd.ms-photo"/>
  <Default Extension="png" ContentType="image/png"/>
  <Default Extension="rels" ContentType="application/vnd.openxmlformats-package.relationships+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6" r:id="rId1"/>
  </p:sldMasterIdLst>
  <p:notesMasterIdLst>
    <p:notesMasterId r:id="rId85"/>
  </p:notesMasterIdLst>
  <p:handoutMasterIdLst>
    <p:handoutMasterId r:id="rId86"/>
  </p:handoutMasterIdLst>
  <p:sldIdLst>
    <p:sldId id="256" r:id="rId2"/>
    <p:sldId id="268" r:id="rId3"/>
    <p:sldId id="448" r:id="rId4"/>
    <p:sldId id="377" r:id="rId5"/>
    <p:sldId id="438" r:id="rId6"/>
    <p:sldId id="507" r:id="rId7"/>
    <p:sldId id="442" r:id="rId8"/>
    <p:sldId id="443" r:id="rId9"/>
    <p:sldId id="444" r:id="rId10"/>
    <p:sldId id="509" r:id="rId11"/>
    <p:sldId id="441" r:id="rId12"/>
    <p:sldId id="440" r:id="rId13"/>
    <p:sldId id="511" r:id="rId14"/>
    <p:sldId id="512" r:id="rId15"/>
    <p:sldId id="513" r:id="rId16"/>
    <p:sldId id="439" r:id="rId17"/>
    <p:sldId id="510" r:id="rId18"/>
    <p:sldId id="514" r:id="rId19"/>
    <p:sldId id="445" r:id="rId20"/>
    <p:sldId id="515" r:id="rId21"/>
    <p:sldId id="508" r:id="rId22"/>
    <p:sldId id="516" r:id="rId23"/>
    <p:sldId id="449" r:id="rId24"/>
    <p:sldId id="450" r:id="rId25"/>
    <p:sldId id="451" r:id="rId26"/>
    <p:sldId id="518" r:id="rId27"/>
    <p:sldId id="452" r:id="rId28"/>
    <p:sldId id="517" r:id="rId29"/>
    <p:sldId id="455" r:id="rId30"/>
    <p:sldId id="456" r:id="rId31"/>
    <p:sldId id="457" r:id="rId32"/>
    <p:sldId id="458" r:id="rId33"/>
    <p:sldId id="459" r:id="rId34"/>
    <p:sldId id="460" r:id="rId35"/>
    <p:sldId id="461" r:id="rId36"/>
    <p:sldId id="462" r:id="rId37"/>
    <p:sldId id="463" r:id="rId38"/>
    <p:sldId id="464" r:id="rId39"/>
    <p:sldId id="465" r:id="rId40"/>
    <p:sldId id="466" r:id="rId41"/>
    <p:sldId id="468" r:id="rId42"/>
    <p:sldId id="467" r:id="rId43"/>
    <p:sldId id="470" r:id="rId44"/>
    <p:sldId id="469" r:id="rId45"/>
    <p:sldId id="471" r:id="rId46"/>
    <p:sldId id="472" r:id="rId47"/>
    <p:sldId id="474" r:id="rId48"/>
    <p:sldId id="475" r:id="rId49"/>
    <p:sldId id="477" r:id="rId50"/>
    <p:sldId id="478" r:id="rId51"/>
    <p:sldId id="479" r:id="rId52"/>
    <p:sldId id="480" r:id="rId53"/>
    <p:sldId id="481" r:id="rId54"/>
    <p:sldId id="482" r:id="rId55"/>
    <p:sldId id="483" r:id="rId56"/>
    <p:sldId id="484" r:id="rId57"/>
    <p:sldId id="486" r:id="rId58"/>
    <p:sldId id="487" r:id="rId59"/>
    <p:sldId id="489" r:id="rId60"/>
    <p:sldId id="490" r:id="rId61"/>
    <p:sldId id="491" r:id="rId62"/>
    <p:sldId id="492" r:id="rId63"/>
    <p:sldId id="493" r:id="rId64"/>
    <p:sldId id="494" r:id="rId65"/>
    <p:sldId id="495" r:id="rId66"/>
    <p:sldId id="498" r:id="rId67"/>
    <p:sldId id="497" r:id="rId68"/>
    <p:sldId id="496" r:id="rId69"/>
    <p:sldId id="499" r:id="rId70"/>
    <p:sldId id="501" r:id="rId71"/>
    <p:sldId id="500" r:id="rId72"/>
    <p:sldId id="502" r:id="rId73"/>
    <p:sldId id="503" r:id="rId74"/>
    <p:sldId id="505" r:id="rId75"/>
    <p:sldId id="519" r:id="rId76"/>
    <p:sldId id="506" r:id="rId77"/>
    <p:sldId id="520" r:id="rId78"/>
    <p:sldId id="521" r:id="rId79"/>
    <p:sldId id="522" r:id="rId80"/>
    <p:sldId id="523" r:id="rId81"/>
    <p:sldId id="524" r:id="rId82"/>
    <p:sldId id="525" r:id="rId83"/>
    <p:sldId id="526" r:id="rId8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FFFF99"/>
    <a:srgbClr val="0000FF"/>
    <a:srgbClr val="66FF33"/>
    <a:srgbClr val="37379F"/>
    <a:srgbClr val="AFFBB6"/>
    <a:srgbClr val="FF66CC"/>
    <a:srgbClr val="D8D2D3"/>
    <a:srgbClr val="CBE0F5"/>
    <a:srgbClr val="FFC1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54" autoAdjust="0"/>
    <p:restoredTop sz="96092" autoAdjust="0"/>
  </p:normalViewPr>
  <p:slideViewPr>
    <p:cSldViewPr>
      <p:cViewPr varScale="1">
        <p:scale>
          <a:sx n="129" d="100"/>
          <a:sy n="129" d="100"/>
        </p:scale>
        <p:origin x="1720"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80" d="100"/>
          <a:sy n="80" d="100"/>
        </p:scale>
        <p:origin x="-2052" y="110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90"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handoutMaster" Target="handoutMasters/handoutMaster1.xml"/><Relationship Id="rId87" Type="http://schemas.openxmlformats.org/officeDocument/2006/relationships/presProps" Target="presProps.xml"/><Relationship Id="rId88" Type="http://schemas.openxmlformats.org/officeDocument/2006/relationships/viewProps" Target="viewProps.xml"/><Relationship Id="rId8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E737B3D-7F5C-47BA-99CF-C719319F3FCA}" type="datetimeFigureOut">
              <a:rPr lang="fr-FR" smtClean="0"/>
              <a:t>22/04/2024</a:t>
            </a:fld>
            <a:endParaRPr lang="fr-F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CA23349-032A-4B4B-8172-1EF4CDFF22FA}" type="slidenum">
              <a:rPr lang="fr-FR" smtClean="0"/>
              <a:t>‹#›</a:t>
            </a:fld>
            <a:endParaRPr lang="fr-FR"/>
          </a:p>
        </p:txBody>
      </p:sp>
    </p:spTree>
    <p:extLst>
      <p:ext uri="{BB962C8B-B14F-4D97-AF65-F5344CB8AC3E}">
        <p14:creationId xmlns:p14="http://schemas.microsoft.com/office/powerpoint/2010/main" val="32007852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D7C6DE8-0516-483A-9F7D-234AB668F892}" type="datetimeFigureOut">
              <a:rPr lang="fr-FR" smtClean="0"/>
              <a:t>22/04/2024</a:t>
            </a:fld>
            <a:endParaRPr lang="fr-F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BD4B47-DF6F-48A7-B1A2-65EE4825372E}" type="slidenum">
              <a:rPr lang="fr-FR" smtClean="0"/>
              <a:t>‹#›</a:t>
            </a:fld>
            <a:endParaRPr lang="fr-FR"/>
          </a:p>
        </p:txBody>
      </p:sp>
    </p:spTree>
    <p:extLst>
      <p:ext uri="{BB962C8B-B14F-4D97-AF65-F5344CB8AC3E}">
        <p14:creationId xmlns:p14="http://schemas.microsoft.com/office/powerpoint/2010/main" val="1519005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baseline="0" dirty="0"/>
          </a:p>
        </p:txBody>
      </p:sp>
      <p:sp>
        <p:nvSpPr>
          <p:cNvPr id="4" name="Slide Number Placeholder 3"/>
          <p:cNvSpPr>
            <a:spLocks noGrp="1"/>
          </p:cNvSpPr>
          <p:nvPr>
            <p:ph type="sldNum" sz="quarter" idx="10"/>
          </p:nvPr>
        </p:nvSpPr>
        <p:spPr/>
        <p:txBody>
          <a:bodyPr/>
          <a:lstStyle/>
          <a:p>
            <a:fld id="{70BD4B47-DF6F-48A7-B1A2-65EE4825372E}" type="slidenum">
              <a:rPr lang="fr-FR" smtClean="0"/>
              <a:t>1</a:t>
            </a:fld>
            <a:endParaRPr lang="fr-FR"/>
          </a:p>
        </p:txBody>
      </p:sp>
    </p:spTree>
    <p:extLst>
      <p:ext uri="{BB962C8B-B14F-4D97-AF65-F5344CB8AC3E}">
        <p14:creationId xmlns:p14="http://schemas.microsoft.com/office/powerpoint/2010/main" val="1829581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baseline="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t>2</a:t>
            </a:fld>
            <a:endParaRPr lang="fr-FR"/>
          </a:p>
        </p:txBody>
      </p:sp>
    </p:spTree>
    <p:extLst>
      <p:ext uri="{BB962C8B-B14F-4D97-AF65-F5344CB8AC3E}">
        <p14:creationId xmlns:p14="http://schemas.microsoft.com/office/powerpoint/2010/main" val="15314077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t>3</a:t>
            </a:fld>
            <a:endParaRPr lang="fr-FR"/>
          </a:p>
        </p:txBody>
      </p:sp>
    </p:spTree>
    <p:extLst>
      <p:ext uri="{BB962C8B-B14F-4D97-AF65-F5344CB8AC3E}">
        <p14:creationId xmlns:p14="http://schemas.microsoft.com/office/powerpoint/2010/main" val="1683129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t>4</a:t>
            </a:fld>
            <a:endParaRPr lang="fr-FR"/>
          </a:p>
        </p:txBody>
      </p:sp>
    </p:spTree>
    <p:extLst>
      <p:ext uri="{BB962C8B-B14F-4D97-AF65-F5344CB8AC3E}">
        <p14:creationId xmlns:p14="http://schemas.microsoft.com/office/powerpoint/2010/main" val="1683129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t>5</a:t>
            </a:fld>
            <a:endParaRPr lang="fr-FR"/>
          </a:p>
        </p:txBody>
      </p:sp>
    </p:spTree>
    <p:extLst>
      <p:ext uri="{BB962C8B-B14F-4D97-AF65-F5344CB8AC3E}">
        <p14:creationId xmlns:p14="http://schemas.microsoft.com/office/powerpoint/2010/main" val="1683129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t>6</a:t>
            </a:fld>
            <a:endParaRPr lang="fr-FR"/>
          </a:p>
        </p:txBody>
      </p:sp>
    </p:spTree>
    <p:extLst>
      <p:ext uri="{BB962C8B-B14F-4D97-AF65-F5344CB8AC3E}">
        <p14:creationId xmlns:p14="http://schemas.microsoft.com/office/powerpoint/2010/main" val="220806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t>7</a:t>
            </a:fld>
            <a:endParaRPr lang="fr-FR"/>
          </a:p>
        </p:txBody>
      </p:sp>
    </p:spTree>
    <p:extLst>
      <p:ext uri="{BB962C8B-B14F-4D97-AF65-F5344CB8AC3E}">
        <p14:creationId xmlns:p14="http://schemas.microsoft.com/office/powerpoint/2010/main" val="1683129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t>8</a:t>
            </a:fld>
            <a:endParaRPr lang="fr-FR"/>
          </a:p>
        </p:txBody>
      </p:sp>
    </p:spTree>
    <p:extLst>
      <p:ext uri="{BB962C8B-B14F-4D97-AF65-F5344CB8AC3E}">
        <p14:creationId xmlns:p14="http://schemas.microsoft.com/office/powerpoint/2010/main" val="16831299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t>9</a:t>
            </a:fld>
            <a:endParaRPr lang="fr-FR"/>
          </a:p>
        </p:txBody>
      </p:sp>
    </p:spTree>
    <p:extLst>
      <p:ext uri="{BB962C8B-B14F-4D97-AF65-F5344CB8AC3E}">
        <p14:creationId xmlns:p14="http://schemas.microsoft.com/office/powerpoint/2010/main" val="16831299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t>11</a:t>
            </a:fld>
            <a:endParaRPr lang="fr-FR"/>
          </a:p>
        </p:txBody>
      </p:sp>
    </p:spTree>
    <p:extLst>
      <p:ext uri="{BB962C8B-B14F-4D97-AF65-F5344CB8AC3E}">
        <p14:creationId xmlns:p14="http://schemas.microsoft.com/office/powerpoint/2010/main" val="16831299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t>12</a:t>
            </a:fld>
            <a:endParaRPr lang="fr-FR"/>
          </a:p>
        </p:txBody>
      </p:sp>
    </p:spTree>
    <p:extLst>
      <p:ext uri="{BB962C8B-B14F-4D97-AF65-F5344CB8AC3E}">
        <p14:creationId xmlns:p14="http://schemas.microsoft.com/office/powerpoint/2010/main" val="16831299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t>16</a:t>
            </a:fld>
            <a:endParaRPr lang="fr-FR"/>
          </a:p>
        </p:txBody>
      </p:sp>
    </p:spTree>
    <p:extLst>
      <p:ext uri="{BB962C8B-B14F-4D97-AF65-F5344CB8AC3E}">
        <p14:creationId xmlns:p14="http://schemas.microsoft.com/office/powerpoint/2010/main" val="16831299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t>19</a:t>
            </a:fld>
            <a:endParaRPr lang="fr-FR"/>
          </a:p>
        </p:txBody>
      </p:sp>
    </p:spTree>
    <p:extLst>
      <p:ext uri="{BB962C8B-B14F-4D97-AF65-F5344CB8AC3E}">
        <p14:creationId xmlns:p14="http://schemas.microsoft.com/office/powerpoint/2010/main" val="1683129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err="1" smtClean="0"/>
              <a:t>Cach</a:t>
            </a:r>
            <a:r>
              <a:rPr lang="en-US" sz="1400" dirty="0" smtClean="0"/>
              <a:t> do, do do, </a:t>
            </a:r>
            <a:r>
              <a:rPr lang="en-US" sz="1400" dirty="0" err="1" smtClean="0"/>
              <a:t>va</a:t>
            </a:r>
            <a:r>
              <a:rPr lang="en-US" sz="1400" dirty="0" smtClean="0"/>
              <a:t> so do</a:t>
            </a:r>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23</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24</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25</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27</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29</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30</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31</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32</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33</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34</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35</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36</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37</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38</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39</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40</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41</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42</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43</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44</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45</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46</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err="1" smtClean="0"/>
              <a:t>Cach</a:t>
            </a:r>
            <a:r>
              <a:rPr lang="en-US" sz="1400" dirty="0" smtClean="0"/>
              <a:t> do, do do, </a:t>
            </a:r>
            <a:r>
              <a:rPr lang="en-US" sz="1400" dirty="0" err="1" smtClean="0"/>
              <a:t>va</a:t>
            </a:r>
            <a:r>
              <a:rPr lang="en-US" sz="1400" dirty="0" smtClean="0"/>
              <a:t> so do</a:t>
            </a:r>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47</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48</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49</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50</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51</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52</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53</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54</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55</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56</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57</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err="1" smtClean="0"/>
              <a:t>Cach</a:t>
            </a:r>
            <a:r>
              <a:rPr lang="en-US" sz="1400" dirty="0" smtClean="0"/>
              <a:t> do, do do, </a:t>
            </a:r>
            <a:r>
              <a:rPr lang="en-US" sz="1400" dirty="0" err="1" smtClean="0"/>
              <a:t>va</a:t>
            </a:r>
            <a:r>
              <a:rPr lang="en-US" sz="1400" dirty="0" smtClean="0"/>
              <a:t> so do</a:t>
            </a:r>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58</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59</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60</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61</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62</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63</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64</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65</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66</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err="1" smtClean="0"/>
              <a:t>Cach</a:t>
            </a:r>
            <a:r>
              <a:rPr lang="en-US" sz="1400" dirty="0" smtClean="0"/>
              <a:t> do, do do, </a:t>
            </a:r>
            <a:r>
              <a:rPr lang="en-US" sz="1400" dirty="0" err="1" smtClean="0"/>
              <a:t>va</a:t>
            </a:r>
            <a:r>
              <a:rPr lang="en-US" sz="1400" dirty="0" smtClean="0"/>
              <a:t> so do</a:t>
            </a:r>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67</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68</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69</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70</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71</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72</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73</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74</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smtClean="0"/>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76</a:t>
            </a:fld>
            <a:endParaRPr lang="fr-FR">
              <a:solidFill>
                <a:prstClr val="black"/>
              </a:solidFill>
            </a:endParaRPr>
          </a:p>
        </p:txBody>
      </p:sp>
    </p:spTree>
    <p:extLst>
      <p:ext uri="{BB962C8B-B14F-4D97-AF65-F5344CB8AC3E}">
        <p14:creationId xmlns:p14="http://schemas.microsoft.com/office/powerpoint/2010/main" val="168312990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err="1" smtClean="0"/>
              <a:t>Cach</a:t>
            </a:r>
            <a:r>
              <a:rPr lang="en-US" sz="1400" dirty="0" smtClean="0"/>
              <a:t> do, do do, </a:t>
            </a:r>
            <a:r>
              <a:rPr lang="en-US" sz="1400" dirty="0" err="1" smtClean="0"/>
              <a:t>va</a:t>
            </a:r>
            <a:r>
              <a:rPr lang="en-US" sz="1400" dirty="0" smtClean="0"/>
              <a:t> so do</a:t>
            </a:r>
          </a:p>
        </p:txBody>
      </p:sp>
      <p:sp>
        <p:nvSpPr>
          <p:cNvPr id="4" name="Slide Number Placeholder 3"/>
          <p:cNvSpPr>
            <a:spLocks noGrp="1"/>
          </p:cNvSpPr>
          <p:nvPr>
            <p:ph type="sldNum" sz="quarter" idx="10"/>
          </p:nvPr>
        </p:nvSpPr>
        <p:spPr/>
        <p:txBody>
          <a:bodyPr/>
          <a:lstStyle/>
          <a:p>
            <a:fld id="{70BD4B47-DF6F-48A7-B1A2-65EE4825372E}" type="slidenum">
              <a:rPr lang="fr-FR" smtClean="0">
                <a:solidFill>
                  <a:prstClr val="black"/>
                </a:solidFill>
              </a:rPr>
              <a:pPr/>
              <a:t>77</a:t>
            </a:fld>
            <a:endParaRPr lang="fr-FR">
              <a:solidFill>
                <a:prstClr val="black"/>
              </a:solidFill>
            </a:endParaRPr>
          </a:p>
        </p:txBody>
      </p:sp>
    </p:spTree>
    <p:extLst>
      <p:ext uri="{BB962C8B-B14F-4D97-AF65-F5344CB8AC3E}">
        <p14:creationId xmlns:p14="http://schemas.microsoft.com/office/powerpoint/2010/main" val="6628356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6.png"/><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3099" name="Picture 27"/>
          <p:cNvPicPr>
            <a:picLocks noChangeAspect="1" noChangeArrowheads="1"/>
          </p:cNvPicPr>
          <p:nvPr/>
        </p:nvPicPr>
        <p:blipFill>
          <a:blip r:embed="rId2"/>
          <a:srcRect/>
          <a:stretch>
            <a:fillRect/>
          </a:stretch>
        </p:blipFill>
        <p:spPr bwMode="auto">
          <a:xfrm>
            <a:off x="-374" y="0"/>
            <a:ext cx="9144374" cy="6858911"/>
          </a:xfrm>
          <a:prstGeom prst="rect">
            <a:avLst/>
          </a:prstGeom>
          <a:noFill/>
          <a:ln w="9525">
            <a:noFill/>
            <a:miter lim="800000"/>
            <a:headEnd/>
            <a:tailEnd/>
          </a:ln>
          <a:effectLst/>
        </p:spPr>
      </p:pic>
      <p:sp>
        <p:nvSpPr>
          <p:cNvPr id="3080" name="Rectangle 8"/>
          <p:cNvSpPr>
            <a:spLocks noChangeArrowheads="1"/>
          </p:cNvSpPr>
          <p:nvPr/>
        </p:nvSpPr>
        <p:spPr bwMode="auto">
          <a:xfrm>
            <a:off x="0" y="6524625"/>
            <a:ext cx="9144000" cy="333375"/>
          </a:xfrm>
          <a:prstGeom prst="rect">
            <a:avLst/>
          </a:prstGeom>
          <a:solidFill>
            <a:srgbClr val="174A7C"/>
          </a:solidFill>
          <a:ln w="9525">
            <a:noFill/>
            <a:miter lim="800000"/>
            <a:headEnd/>
            <a:tailEnd/>
          </a:ln>
          <a:effectLst/>
        </p:spPr>
        <p:txBody>
          <a:bodyPr wrap="none" anchor="ctr"/>
          <a:lstStyle/>
          <a:p>
            <a:endParaRPr lang="fr-FR"/>
          </a:p>
        </p:txBody>
      </p:sp>
      <p:sp>
        <p:nvSpPr>
          <p:cNvPr id="3074" name="AutoShape 2"/>
          <p:cNvSpPr>
            <a:spLocks noGrp="1" noChangeArrowheads="1"/>
          </p:cNvSpPr>
          <p:nvPr>
            <p:ph type="ctrTitle"/>
          </p:nvPr>
        </p:nvSpPr>
        <p:spPr>
          <a:xfrm>
            <a:off x="-409575" y="1863725"/>
            <a:ext cx="9966325" cy="773113"/>
          </a:xfrm>
          <a:solidFill>
            <a:srgbClr val="878EAF"/>
          </a:solidFill>
        </p:spPr>
        <p:txBody>
          <a:bodyPr/>
          <a:lstStyle>
            <a:lvl1pPr algn="ctr">
              <a:lnSpc>
                <a:spcPct val="85000"/>
              </a:lnSpc>
              <a:defRPr sz="4200">
                <a:cs typeface="Arial" charset="0"/>
              </a:defRPr>
            </a:lvl1pPr>
          </a:lstStyle>
          <a:p>
            <a:r>
              <a:rPr lang="en-US" smtClean="0"/>
              <a:t>Click to edit Master title style</a:t>
            </a:r>
            <a:endParaRPr lang="fr-FR"/>
          </a:p>
        </p:txBody>
      </p:sp>
      <p:sp>
        <p:nvSpPr>
          <p:cNvPr id="3075" name="Rectangle 3"/>
          <p:cNvSpPr>
            <a:spLocks noGrp="1" noChangeArrowheads="1"/>
          </p:cNvSpPr>
          <p:nvPr>
            <p:ph type="subTitle" idx="1"/>
          </p:nvPr>
        </p:nvSpPr>
        <p:spPr>
          <a:xfrm>
            <a:off x="3825875" y="2951163"/>
            <a:ext cx="1495425" cy="549275"/>
          </a:xfrm>
        </p:spPr>
        <p:txBody>
          <a:bodyPr wrap="none">
            <a:spAutoFit/>
          </a:bodyPr>
          <a:lstStyle>
            <a:lvl1pPr marL="0" indent="0" algn="ctr">
              <a:buFontTx/>
              <a:buNone/>
              <a:defRPr sz="3000" b="0">
                <a:solidFill>
                  <a:srgbClr val="174A7C"/>
                </a:solidFill>
              </a:defRPr>
            </a:lvl1pPr>
          </a:lstStyle>
          <a:p>
            <a:r>
              <a:rPr lang="en-US" smtClean="0"/>
              <a:t>Click to edit Master subtitle style</a:t>
            </a:r>
            <a:endParaRPr lang="fr-FR"/>
          </a:p>
        </p:txBody>
      </p:sp>
      <p:sp>
        <p:nvSpPr>
          <p:cNvPr id="3077" name="AutoShape 5"/>
          <p:cNvSpPr>
            <a:spLocks noGrp="1" noChangeArrowheads="1"/>
          </p:cNvSpPr>
          <p:nvPr>
            <p:ph type="ftr" sz="quarter" idx="3"/>
          </p:nvPr>
        </p:nvSpPr>
        <p:spPr>
          <a:xfrm>
            <a:off x="2887663" y="3368675"/>
            <a:ext cx="3371850" cy="438150"/>
          </a:xfrm>
          <a:prstGeom prst="roundRect">
            <a:avLst>
              <a:gd name="adj" fmla="val 50000"/>
            </a:avLst>
          </a:prstGeom>
          <a:ln>
            <a:round/>
          </a:ln>
        </p:spPr>
        <p:txBody>
          <a:bodyPr wrap="none" lIns="180000" rIns="360000"/>
          <a:lstStyle>
            <a:lvl1pPr algn="ctr">
              <a:defRPr sz="1600" b="1"/>
            </a:lvl1pPr>
          </a:lstStyle>
          <a:p>
            <a:r>
              <a:rPr lang="fr-FR" smtClean="0"/>
              <a:t>Sélection de variables en mode semi-supervisé</a:t>
            </a:r>
            <a:endParaRPr lang="en-US"/>
          </a:p>
        </p:txBody>
      </p:sp>
      <p:sp>
        <p:nvSpPr>
          <p:cNvPr id="3089" name="AutoShape 17"/>
          <p:cNvSpPr>
            <a:spLocks noGrp="1" noChangeArrowheads="1"/>
          </p:cNvSpPr>
          <p:nvPr>
            <p:ph type="dt" sz="quarter" idx="2"/>
          </p:nvPr>
        </p:nvSpPr>
        <p:spPr bwMode="auto">
          <a:xfrm>
            <a:off x="5334000" y="6452108"/>
            <a:ext cx="3521075" cy="393700"/>
          </a:xfrm>
          <a:prstGeom prst="roundRect">
            <a:avLst>
              <a:gd name="adj" fmla="val 50000"/>
            </a:avLst>
          </a:prstGeom>
          <a:solidFill>
            <a:srgbClr val="174A7C"/>
          </a:solidFill>
          <a:ln>
            <a:round/>
            <a:headEnd/>
            <a:tailEnd/>
          </a:ln>
        </p:spPr>
        <p:txBody>
          <a:bodyPr vert="horz" wrap="none" lIns="180000" tIns="45720" rIns="180000" bIns="45720" numCol="1" anchor="t" anchorCtr="0" compatLnSpc="1">
            <a:prstTxWarp prst="textNoShape">
              <a:avLst/>
            </a:prstTxWarp>
            <a:spAutoFit/>
          </a:bodyPr>
          <a:lstStyle>
            <a:lvl1pPr algn="r">
              <a:defRPr sz="1400" b="1">
                <a:solidFill>
                  <a:schemeClr val="bg1"/>
                </a:solidFill>
              </a:defRPr>
            </a:lvl1pPr>
          </a:lstStyle>
          <a:p>
            <a:endParaRPr lang="en-US"/>
          </a:p>
        </p:txBody>
      </p:sp>
      <p:pic>
        <p:nvPicPr>
          <p:cNvPr id="1026"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286000" y="228600"/>
            <a:ext cx="1452562" cy="994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105400" y="228600"/>
            <a:ext cx="1600200" cy="994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1"/>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69863" y="188129"/>
            <a:ext cx="7273971" cy="822305"/>
          </a:xfrm>
        </p:spPr>
        <p:txBody>
          <a:bodyPr>
            <a:spAutoFit/>
          </a:bodyPr>
          <a:lstStyle/>
          <a:p>
            <a:r>
              <a:rPr lang="en-US" smtClean="0"/>
              <a:t>Click to edit Master title style</a:t>
            </a:r>
            <a:endParaRPr lang="fr-FR"/>
          </a:p>
        </p:txBody>
      </p:sp>
      <p:sp>
        <p:nvSpPr>
          <p:cNvPr id="3" name="Espace réservé du contenu 2"/>
          <p:cNvSpPr>
            <a:spLocks noGrp="1"/>
          </p:cNvSpPr>
          <p:nvPr>
            <p:ph idx="1"/>
          </p:nvPr>
        </p:nvSpPr>
        <p:spPr/>
        <p:txBody>
          <a:bodyPr/>
          <a:lstStyle>
            <a:lvl1pPr marL="342900" indent="-342900">
              <a:buFont typeface="Arial" pitchFamily="34" charset="0"/>
              <a:buChar char="●"/>
              <a:defRPr/>
            </a:lvl1pPr>
            <a:lvl2pPr marL="785812" indent="-342900">
              <a:buClr>
                <a:schemeClr val="accent2">
                  <a:lumMod val="75000"/>
                </a:schemeClr>
              </a:buClr>
              <a:buSzPct val="140000"/>
              <a:buFont typeface="Arial" pitchFamily="34" charset="0"/>
              <a:buChar char="●"/>
              <a:defRPr/>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fr-FR" dirty="0"/>
          </a:p>
        </p:txBody>
      </p:sp>
      <p:sp>
        <p:nvSpPr>
          <p:cNvPr id="4" name="Espace réservé du pied de page 3"/>
          <p:cNvSpPr>
            <a:spLocks noGrp="1"/>
          </p:cNvSpPr>
          <p:nvPr>
            <p:ph type="ftr" sz="quarter" idx="10"/>
          </p:nvPr>
        </p:nvSpPr>
        <p:spPr/>
        <p:txBody>
          <a:bodyPr/>
          <a:lstStyle>
            <a:lvl1pPr>
              <a:defRPr/>
            </a:lvl1pPr>
          </a:lstStyle>
          <a:p>
            <a:r>
              <a:rPr lang="fr-FR" smtClean="0"/>
              <a:t>Sélection de variables en mode semi-supervisé</a:t>
            </a:r>
            <a:endParaRPr lang="en-US"/>
          </a:p>
        </p:txBody>
      </p:sp>
      <p:sp>
        <p:nvSpPr>
          <p:cNvPr id="5" name="Espace réservé du numéro de diapositive 4"/>
          <p:cNvSpPr>
            <a:spLocks noGrp="1"/>
          </p:cNvSpPr>
          <p:nvPr>
            <p:ph type="sldNum" sz="quarter" idx="11"/>
          </p:nvPr>
        </p:nvSpPr>
        <p:spPr>
          <a:xfrm>
            <a:off x="8001000" y="6530975"/>
            <a:ext cx="687814" cy="327025"/>
          </a:xfrm>
        </p:spPr>
        <p:txBody>
          <a:bodyPr/>
          <a:lstStyle>
            <a:lvl1pPr>
              <a:defRPr/>
            </a:lvl1pPr>
          </a:lstStyle>
          <a:p>
            <a:fld id="{B6F15528-21DE-4FAA-801E-634DDDAF4B2B}" type="slidenum">
              <a:rPr lang="en-US" smtClean="0"/>
              <a:pPr/>
              <a:t>‹#›</a:t>
            </a:fld>
            <a:endParaRPr lang="en-US" dirty="0"/>
          </a:p>
        </p:txBody>
      </p:sp>
      <p:pic>
        <p:nvPicPr>
          <p:cNvPr id="7"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33982" y="6342617"/>
            <a:ext cx="838200" cy="497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9945838" cy="865584"/>
          </a:xfrm>
        </p:spPr>
        <p:txBody>
          <a:bodyPr anchor="t">
            <a:spAutoFit/>
          </a:bodyPr>
          <a:lstStyle>
            <a:lvl1pPr algn="l">
              <a:defRPr sz="4000" b="1" cap="all"/>
            </a:lvl1pPr>
          </a:lstStyle>
          <a:p>
            <a:r>
              <a:rPr lang="en-US" smtClean="0"/>
              <a:t>Click to edit Master title style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Espace réservé du pied de page 3"/>
          <p:cNvSpPr>
            <a:spLocks noGrp="1"/>
          </p:cNvSpPr>
          <p:nvPr>
            <p:ph type="ftr" sz="quarter" idx="10"/>
          </p:nvPr>
        </p:nvSpPr>
        <p:spPr/>
        <p:txBody>
          <a:bodyPr/>
          <a:lstStyle>
            <a:lvl1pPr>
              <a:defRPr/>
            </a:lvl1pPr>
          </a:lstStyle>
          <a:p>
            <a:r>
              <a:rPr lang="fr-FR" smtClean="0"/>
              <a:t>Sélection de variables en mode semi-supervisé</a:t>
            </a:r>
            <a:endParaRPr lang="en-US"/>
          </a:p>
        </p:txBody>
      </p:sp>
      <p:sp>
        <p:nvSpPr>
          <p:cNvPr id="5" name="Espace réservé du numéro de diapositive 4"/>
          <p:cNvSpPr>
            <a:spLocks noGrp="1"/>
          </p:cNvSpPr>
          <p:nvPr>
            <p:ph type="sldNum" sz="quarter" idx="11"/>
          </p:nvPr>
        </p:nvSpPr>
        <p:spPr>
          <a:xfrm>
            <a:off x="8225631" y="6553199"/>
            <a:ext cx="918369" cy="250825"/>
          </a:xfrm>
        </p:spPr>
        <p:txBody>
          <a:bodyPr/>
          <a:lstStyle>
            <a:lvl1pPr>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169863" y="188129"/>
            <a:ext cx="7273971" cy="822305"/>
          </a:xfrm>
        </p:spPr>
        <p:txBody>
          <a:bodyPr>
            <a:spAutoFit/>
          </a:bodyPr>
          <a:lstStyle/>
          <a:p>
            <a:r>
              <a:rPr lang="en-US" smtClean="0"/>
              <a:t>Click to edit Master title style</a:t>
            </a:r>
            <a:endParaRPr lang="fr-FR"/>
          </a:p>
        </p:txBody>
      </p:sp>
      <p:sp>
        <p:nvSpPr>
          <p:cNvPr id="3" name="Espace réservé du contenu 2"/>
          <p:cNvSpPr>
            <a:spLocks noGrp="1"/>
          </p:cNvSpPr>
          <p:nvPr>
            <p:ph sz="half" idx="1"/>
          </p:nvPr>
        </p:nvSpPr>
        <p:spPr>
          <a:xfrm>
            <a:off x="457200" y="1366838"/>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contenu 3"/>
          <p:cNvSpPr>
            <a:spLocks noGrp="1"/>
          </p:cNvSpPr>
          <p:nvPr>
            <p:ph sz="half" idx="2"/>
          </p:nvPr>
        </p:nvSpPr>
        <p:spPr>
          <a:xfrm>
            <a:off x="4648200" y="1366838"/>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u pied de page 4"/>
          <p:cNvSpPr>
            <a:spLocks noGrp="1"/>
          </p:cNvSpPr>
          <p:nvPr>
            <p:ph type="ftr" sz="quarter" idx="10"/>
          </p:nvPr>
        </p:nvSpPr>
        <p:spPr/>
        <p:txBody>
          <a:bodyPr/>
          <a:lstStyle>
            <a:lvl1pPr>
              <a:defRPr/>
            </a:lvl1pPr>
          </a:lstStyle>
          <a:p>
            <a:r>
              <a:rPr lang="fr-FR" smtClean="0"/>
              <a:t>Sélection de variables en mode semi-supervisé</a:t>
            </a:r>
            <a:endParaRPr lang="en-US"/>
          </a:p>
        </p:txBody>
      </p:sp>
      <p:sp>
        <p:nvSpPr>
          <p:cNvPr id="6" name="Espace réservé du numéro de diapositive 5"/>
          <p:cNvSpPr>
            <a:spLocks noGrp="1"/>
          </p:cNvSpPr>
          <p:nvPr>
            <p:ph type="sldNum" sz="quarter" idx="11"/>
          </p:nvPr>
        </p:nvSpPr>
        <p:spPr/>
        <p:txBody>
          <a:bodyPr/>
          <a:lstStyle>
            <a:lvl1pPr>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762000" y="168295"/>
            <a:ext cx="7273971" cy="822305"/>
          </a:xfrm>
        </p:spPr>
        <p:txBody>
          <a:bodyPr>
            <a:spAutoFit/>
          </a:bodyPr>
          <a:lstStyle>
            <a:lvl1pPr>
              <a:defRPr/>
            </a:lvl1pPr>
          </a:lstStyle>
          <a:p>
            <a:r>
              <a:rPr lang="en-US" smtClean="0"/>
              <a:t>Click to edit Master title style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Espace réservé du pied de page 6"/>
          <p:cNvSpPr>
            <a:spLocks noGrp="1"/>
          </p:cNvSpPr>
          <p:nvPr>
            <p:ph type="ftr" sz="quarter" idx="10"/>
          </p:nvPr>
        </p:nvSpPr>
        <p:spPr/>
        <p:txBody>
          <a:bodyPr/>
          <a:lstStyle>
            <a:lvl1pPr>
              <a:defRPr/>
            </a:lvl1pPr>
          </a:lstStyle>
          <a:p>
            <a:r>
              <a:rPr lang="fr-FR" smtClean="0"/>
              <a:t>Sélection de variables en mode semi-supervisé</a:t>
            </a:r>
            <a:endParaRPr lang="en-US"/>
          </a:p>
        </p:txBody>
      </p:sp>
      <p:sp>
        <p:nvSpPr>
          <p:cNvPr id="8" name="Espace réservé du numéro de diapositive 7"/>
          <p:cNvSpPr>
            <a:spLocks noGrp="1"/>
          </p:cNvSpPr>
          <p:nvPr>
            <p:ph type="sldNum" sz="quarter" idx="11"/>
          </p:nvPr>
        </p:nvSpPr>
        <p:spPr/>
        <p:txBody>
          <a:bodyPr/>
          <a:lstStyle>
            <a:lvl1pPr>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169863" y="188129"/>
            <a:ext cx="7273971" cy="822305"/>
          </a:xfrm>
        </p:spPr>
        <p:txBody>
          <a:bodyPr>
            <a:spAutoFit/>
          </a:bodyPr>
          <a:lstStyle/>
          <a:p>
            <a:r>
              <a:rPr lang="en-US" smtClean="0"/>
              <a:t>Click to edit Master title style</a:t>
            </a:r>
            <a:endParaRPr lang="fr-FR"/>
          </a:p>
        </p:txBody>
      </p:sp>
      <p:sp>
        <p:nvSpPr>
          <p:cNvPr id="3" name="Espace réservé du pied de page 2"/>
          <p:cNvSpPr>
            <a:spLocks noGrp="1"/>
          </p:cNvSpPr>
          <p:nvPr>
            <p:ph type="ftr" sz="quarter" idx="10"/>
          </p:nvPr>
        </p:nvSpPr>
        <p:spPr/>
        <p:txBody>
          <a:bodyPr/>
          <a:lstStyle>
            <a:lvl1pPr>
              <a:defRPr/>
            </a:lvl1pPr>
          </a:lstStyle>
          <a:p>
            <a:r>
              <a:rPr lang="fr-FR" smtClean="0"/>
              <a:t>Sélection de variables en mode semi-supervisé</a:t>
            </a:r>
            <a:endParaRPr lang="en-US"/>
          </a:p>
        </p:txBody>
      </p:sp>
      <p:sp>
        <p:nvSpPr>
          <p:cNvPr id="4" name="Espace réservé du numéro de diapositive 3"/>
          <p:cNvSpPr>
            <a:spLocks noGrp="1"/>
          </p:cNvSpPr>
          <p:nvPr>
            <p:ph type="sldNum" sz="quarter" idx="11"/>
          </p:nvPr>
        </p:nvSpPr>
        <p:spPr/>
        <p:txBody>
          <a:bodyPr/>
          <a:lstStyle>
            <a:lvl1pPr>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u pied de page 1"/>
          <p:cNvSpPr>
            <a:spLocks noGrp="1"/>
          </p:cNvSpPr>
          <p:nvPr>
            <p:ph type="ftr" sz="quarter" idx="10"/>
          </p:nvPr>
        </p:nvSpPr>
        <p:spPr/>
        <p:txBody>
          <a:bodyPr/>
          <a:lstStyle>
            <a:lvl1pPr>
              <a:defRPr/>
            </a:lvl1pPr>
          </a:lstStyle>
          <a:p>
            <a:r>
              <a:rPr lang="fr-FR" smtClean="0"/>
              <a:t>Sélection de variables en mode semi-supervisé</a:t>
            </a:r>
            <a:endParaRPr lang="en-US"/>
          </a:p>
        </p:txBody>
      </p:sp>
      <p:sp>
        <p:nvSpPr>
          <p:cNvPr id="3" name="Espace réservé du numéro de diapositive 2"/>
          <p:cNvSpPr>
            <a:spLocks noGrp="1"/>
          </p:cNvSpPr>
          <p:nvPr>
            <p:ph type="sldNum" sz="quarter" idx="11"/>
          </p:nvPr>
        </p:nvSpPr>
        <p:spPr/>
        <p:txBody>
          <a:bodyPr/>
          <a:lstStyle>
            <a:lvl1pPr>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28600" y="381000"/>
            <a:ext cx="4001339" cy="432792"/>
          </a:xfrm>
        </p:spPr>
        <p:txBody>
          <a:bodyPr anchor="b">
            <a:spAutoFit/>
          </a:bodyPr>
          <a:lstStyle>
            <a:lvl1pPr algn="l">
              <a:defRPr sz="2000" b="1"/>
            </a:lvl1pPr>
          </a:lstStyle>
          <a:p>
            <a:r>
              <a:rPr lang="en-US" smtClean="0"/>
              <a:t>Click to edit Master title style</a:t>
            </a:r>
            <a:endParaRPr lang="fr-FR"/>
          </a:p>
        </p:txBody>
      </p:sp>
      <p:sp>
        <p:nvSpPr>
          <p:cNvPr id="3" name="Espace réservé du contenu 2"/>
          <p:cNvSpPr>
            <a:spLocks noGrp="1"/>
          </p:cNvSpPr>
          <p:nvPr>
            <p:ph idx="1"/>
          </p:nvPr>
        </p:nvSpPr>
        <p:spPr>
          <a:xfrm>
            <a:off x="3575050" y="990600"/>
            <a:ext cx="5111750" cy="51355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u pied de page 4"/>
          <p:cNvSpPr>
            <a:spLocks noGrp="1"/>
          </p:cNvSpPr>
          <p:nvPr>
            <p:ph type="ftr" sz="quarter" idx="10"/>
          </p:nvPr>
        </p:nvSpPr>
        <p:spPr/>
        <p:txBody>
          <a:bodyPr/>
          <a:lstStyle>
            <a:lvl1pPr>
              <a:defRPr/>
            </a:lvl1pPr>
          </a:lstStyle>
          <a:p>
            <a:r>
              <a:rPr lang="fr-FR" smtClean="0"/>
              <a:t>Sélection de variables en mode semi-supervisé</a:t>
            </a:r>
            <a:endParaRPr lang="en-US"/>
          </a:p>
        </p:txBody>
      </p:sp>
      <p:sp>
        <p:nvSpPr>
          <p:cNvPr id="6" name="Espace réservé du numéro de diapositive 5"/>
          <p:cNvSpPr>
            <a:spLocks noGrp="1"/>
          </p:cNvSpPr>
          <p:nvPr>
            <p:ph type="sldNum" sz="quarter" idx="11"/>
          </p:nvPr>
        </p:nvSpPr>
        <p:spPr/>
        <p:txBody>
          <a:bodyPr/>
          <a:lstStyle>
            <a:lvl1pPr>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u pied de page 4"/>
          <p:cNvSpPr>
            <a:spLocks noGrp="1"/>
          </p:cNvSpPr>
          <p:nvPr>
            <p:ph type="ftr" sz="quarter" idx="10"/>
          </p:nvPr>
        </p:nvSpPr>
        <p:spPr/>
        <p:txBody>
          <a:bodyPr/>
          <a:lstStyle>
            <a:lvl1pPr>
              <a:defRPr/>
            </a:lvl1pPr>
          </a:lstStyle>
          <a:p>
            <a:r>
              <a:rPr lang="fr-FR" smtClean="0"/>
              <a:t>Sélection de variables en mode semi-supervisé</a:t>
            </a:r>
            <a:endParaRPr lang="en-US"/>
          </a:p>
        </p:txBody>
      </p:sp>
      <p:sp>
        <p:nvSpPr>
          <p:cNvPr id="6" name="Espace réservé du numéro de diapositive 5"/>
          <p:cNvSpPr>
            <a:spLocks noGrp="1"/>
          </p:cNvSpPr>
          <p:nvPr>
            <p:ph type="sldNum" sz="quarter" idx="11"/>
          </p:nvPr>
        </p:nvSpPr>
        <p:spPr/>
        <p:txBody>
          <a:bodyPr/>
          <a:lstStyle>
            <a:lvl1pPr>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a:xfrm>
            <a:off x="169863" y="188129"/>
            <a:ext cx="7273971" cy="822305"/>
          </a:xfrm>
        </p:spPr>
        <p:txBody>
          <a:bodyPr>
            <a:spAutoFit/>
          </a:bodyPr>
          <a:lstStyle/>
          <a:p>
            <a:r>
              <a:rPr lang="en-US" smtClean="0"/>
              <a:t>Click to edit Master title style</a:t>
            </a:r>
            <a:endParaRPr lang="fr-FR"/>
          </a:p>
        </p:txBody>
      </p:sp>
      <p:sp>
        <p:nvSpPr>
          <p:cNvPr id="3" name="Espace réservé du texte vertical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pied de page 3"/>
          <p:cNvSpPr>
            <a:spLocks noGrp="1"/>
          </p:cNvSpPr>
          <p:nvPr>
            <p:ph type="ftr" sz="quarter" idx="10"/>
          </p:nvPr>
        </p:nvSpPr>
        <p:spPr/>
        <p:txBody>
          <a:bodyPr/>
          <a:lstStyle>
            <a:lvl1pPr>
              <a:defRPr/>
            </a:lvl1pPr>
          </a:lstStyle>
          <a:p>
            <a:r>
              <a:rPr lang="fr-FR" smtClean="0"/>
              <a:t>Sélection de variables en mode semi-supervisé</a:t>
            </a:r>
            <a:endParaRPr lang="en-US"/>
          </a:p>
        </p:txBody>
      </p:sp>
      <p:sp>
        <p:nvSpPr>
          <p:cNvPr id="5" name="Espace réservé du numéro de diapositive 4"/>
          <p:cNvSpPr>
            <a:spLocks noGrp="1"/>
          </p:cNvSpPr>
          <p:nvPr>
            <p:ph type="sldNum" sz="quarter" idx="11"/>
          </p:nvPr>
        </p:nvSpPr>
        <p:spPr/>
        <p:txBody>
          <a:bodyPr/>
          <a:lstStyle>
            <a:lvl1pPr>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981825" y="188913"/>
            <a:ext cx="2270125" cy="5978525"/>
          </a:xfrm>
        </p:spPr>
        <p:txBody>
          <a:bodyPr vert="eaVert"/>
          <a:lstStyle/>
          <a:p>
            <a:r>
              <a:rPr lang="en-US" smtClean="0"/>
              <a:t>Click to edit Master title style</a:t>
            </a:r>
            <a:endParaRPr lang="fr-FR"/>
          </a:p>
        </p:txBody>
      </p:sp>
      <p:sp>
        <p:nvSpPr>
          <p:cNvPr id="3" name="Espace réservé du texte vertical 2"/>
          <p:cNvSpPr>
            <a:spLocks noGrp="1"/>
          </p:cNvSpPr>
          <p:nvPr>
            <p:ph type="body" orient="vert" idx="1"/>
          </p:nvPr>
        </p:nvSpPr>
        <p:spPr>
          <a:xfrm>
            <a:off x="169863" y="188913"/>
            <a:ext cx="6659562" cy="5978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pied de page 3"/>
          <p:cNvSpPr>
            <a:spLocks noGrp="1"/>
          </p:cNvSpPr>
          <p:nvPr>
            <p:ph type="ftr" sz="quarter" idx="10"/>
          </p:nvPr>
        </p:nvSpPr>
        <p:spPr/>
        <p:txBody>
          <a:bodyPr/>
          <a:lstStyle>
            <a:lvl1pPr>
              <a:defRPr/>
            </a:lvl1pPr>
          </a:lstStyle>
          <a:p>
            <a:r>
              <a:rPr lang="fr-FR" smtClean="0"/>
              <a:t>Sélection de variables en mode semi-supervisé</a:t>
            </a:r>
            <a:endParaRPr lang="en-US"/>
          </a:p>
        </p:txBody>
      </p:sp>
      <p:sp>
        <p:nvSpPr>
          <p:cNvPr id="5" name="Espace réservé du numéro de diapositive 4"/>
          <p:cNvSpPr>
            <a:spLocks noGrp="1"/>
          </p:cNvSpPr>
          <p:nvPr>
            <p:ph type="sldNum" sz="quarter" idx="11"/>
          </p:nvPr>
        </p:nvSpPr>
        <p:spPr/>
        <p:txBody>
          <a:bodyPr/>
          <a:lstStyle>
            <a:lvl1pPr>
              <a:defRPr/>
            </a:lvl1p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a:xfrm>
            <a:off x="199698" y="6492875"/>
            <a:ext cx="2133600" cy="365125"/>
          </a:xfrm>
          <a:prstGeom prst="rect">
            <a:avLst/>
          </a:prstGeom>
        </p:spPr>
        <p:txBody>
          <a:bodyPr/>
          <a:lstStyle/>
          <a:p>
            <a:endParaRPr lang="fr-FR"/>
          </a:p>
        </p:txBody>
      </p:sp>
      <p:sp>
        <p:nvSpPr>
          <p:cNvPr id="5" name="Footer Placeholder 4"/>
          <p:cNvSpPr>
            <a:spLocks noGrp="1"/>
          </p:cNvSpPr>
          <p:nvPr>
            <p:ph type="ftr" sz="quarter" idx="11"/>
          </p:nvPr>
        </p:nvSpPr>
        <p:spPr/>
        <p:txBody>
          <a:bodyPr/>
          <a:lstStyle/>
          <a:p>
            <a:r>
              <a:rPr lang="fr-FR" smtClean="0"/>
              <a:t>Sélection de variables en mode semi-supervisé</a:t>
            </a:r>
            <a:endParaRPr lang="fr-FR"/>
          </a:p>
        </p:txBody>
      </p:sp>
      <p:sp>
        <p:nvSpPr>
          <p:cNvPr id="6" name="Slide Number Placeholder 5"/>
          <p:cNvSpPr>
            <a:spLocks noGrp="1"/>
          </p:cNvSpPr>
          <p:nvPr>
            <p:ph type="sldNum" sz="quarter" idx="12"/>
          </p:nvPr>
        </p:nvSpPr>
        <p:spPr/>
        <p:txBody>
          <a:bodyPr/>
          <a:lstStyle/>
          <a:p>
            <a:fld id="{9A49A170-6C1C-49EB-A8FF-4E13E53FFD43}" type="slidenum">
              <a:rPr lang="fr-FR" smtClean="0"/>
              <a:pPr/>
              <a:t>‹#›</a:t>
            </a:fld>
            <a:endParaRPr lang="fr-FR" dirty="0"/>
          </a:p>
        </p:txBody>
      </p:sp>
      <p:sp>
        <p:nvSpPr>
          <p:cNvPr id="17" name="Title 1"/>
          <p:cNvSpPr>
            <a:spLocks noGrp="1"/>
          </p:cNvSpPr>
          <p:nvPr>
            <p:ph type="title"/>
          </p:nvPr>
        </p:nvSpPr>
        <p:spPr>
          <a:xfrm>
            <a:off x="304800" y="171727"/>
            <a:ext cx="7273971" cy="822305"/>
          </a:xfrm>
        </p:spPr>
        <p:txBody>
          <a:bodyPr>
            <a:spAutoFit/>
          </a:bodyPr>
          <a:lstStyle/>
          <a:p>
            <a:r>
              <a:rPr lang="en-US" smtClean="0"/>
              <a:t>Click to edit Master title style</a:t>
            </a:r>
            <a:endParaRPr dirty="0"/>
          </a:p>
        </p:txBody>
      </p:sp>
    </p:spTree>
    <p:extLst>
      <p:ext uri="{BB962C8B-B14F-4D97-AF65-F5344CB8AC3E}">
        <p14:creationId xmlns:p14="http://schemas.microsoft.com/office/powerpoint/2010/main" val="2543969851"/>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99698" y="6492875"/>
            <a:ext cx="2133600" cy="365125"/>
          </a:xfrm>
          <a:prstGeom prst="rect">
            <a:avLst/>
          </a:prstGeom>
        </p:spPr>
        <p:txBody>
          <a:bodyPr/>
          <a:lstStyle/>
          <a:p>
            <a:endParaRPr lang="fr-FR"/>
          </a:p>
        </p:txBody>
      </p:sp>
      <p:sp>
        <p:nvSpPr>
          <p:cNvPr id="3" name="Footer Placeholder 2"/>
          <p:cNvSpPr>
            <a:spLocks noGrp="1"/>
          </p:cNvSpPr>
          <p:nvPr>
            <p:ph type="ftr" sz="quarter" idx="11"/>
          </p:nvPr>
        </p:nvSpPr>
        <p:spPr/>
        <p:txBody>
          <a:bodyPr/>
          <a:lstStyle/>
          <a:p>
            <a:r>
              <a:rPr lang="fr-FR" smtClean="0"/>
              <a:t>Sélection de variables en mode semi-supervisé</a:t>
            </a:r>
            <a:endParaRPr lang="fr-FR"/>
          </a:p>
        </p:txBody>
      </p:sp>
      <p:sp>
        <p:nvSpPr>
          <p:cNvPr id="4" name="Slide Number Placeholder 3"/>
          <p:cNvSpPr>
            <a:spLocks noGrp="1"/>
          </p:cNvSpPr>
          <p:nvPr>
            <p:ph type="sldNum" sz="quarter" idx="12"/>
          </p:nvPr>
        </p:nvSpPr>
        <p:spPr/>
        <p:txBody>
          <a:bodyPr/>
          <a:lstStyle/>
          <a:p>
            <a:fld id="{9A49A170-6C1C-49EB-A8FF-4E13E53FFD43}" type="slidenum">
              <a:rPr lang="fr-FR" smtClean="0"/>
              <a:t>‹#›</a:t>
            </a:fld>
            <a:endParaRPr lang="fr-FR"/>
          </a:p>
        </p:txBody>
      </p:sp>
      <p:sp>
        <p:nvSpPr>
          <p:cNvPr id="9" name="Rectangle 8"/>
          <p:cNvSpPr/>
          <p:nvPr userDrawn="1"/>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0" name="Group 9"/>
          <p:cNvGrpSpPr/>
          <p:nvPr userDrawn="1"/>
        </p:nvGrpSpPr>
        <p:grpSpPr>
          <a:xfrm>
            <a:off x="284163" y="1577847"/>
            <a:ext cx="8576373" cy="137411"/>
            <a:chOff x="284163" y="1577847"/>
            <a:chExt cx="8576373" cy="137411"/>
          </a:xfrm>
        </p:grpSpPr>
        <p:sp>
          <p:nvSpPr>
            <p:cNvPr id="11" name="Rectangle 10"/>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4" name="Title 1"/>
          <p:cNvSpPr>
            <a:spLocks noGrp="1"/>
          </p:cNvSpPr>
          <p:nvPr>
            <p:ph type="title"/>
          </p:nvPr>
        </p:nvSpPr>
        <p:spPr>
          <a:xfrm>
            <a:off x="284163" y="630382"/>
            <a:ext cx="8574087" cy="967840"/>
          </a:xfrm>
        </p:spPr>
        <p:txBody>
          <a:bodyPr/>
          <a:lstStyle/>
          <a:p>
            <a:r>
              <a:rPr lang="en-US" smtClean="0"/>
              <a:t>Click to edit Master title style</a:t>
            </a:r>
            <a:endParaRPr dirty="0"/>
          </a:p>
        </p:txBody>
      </p:sp>
    </p:spTree>
    <p:extLst>
      <p:ext uri="{BB962C8B-B14F-4D97-AF65-F5344CB8AC3E}">
        <p14:creationId xmlns:p14="http://schemas.microsoft.com/office/powerpoint/2010/main" val="183864552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jpeg"/><Relationship Id="rId16" Type="http://schemas.microsoft.com/office/2007/relationships/hdphoto" Target="../media/hdphoto1.wdp"/><Relationship Id="rId17" Type="http://schemas.openxmlformats.org/officeDocument/2006/relationships/image" Target="../media/image2.png"/><Relationship Id="rId18"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extLst>
              <a:ext uri="{BEBA8EAE-BF5A-486C-A8C5-ECC9F3942E4B}">
                <a14:imgProps xmlns:a14="http://schemas.microsoft.com/office/drawing/2010/main">
                  <a14:imgLayer r:embed="rId16">
                    <a14:imgEffect>
                      <a14:sharpenSoften amount="-100000"/>
                    </a14:imgEffect>
                  </a14:imgLayer>
                </a14:imgProps>
              </a:ext>
            </a:extLst>
          </a:blip>
          <a:srcRect/>
          <a:stretch>
            <a:fillRect t="-1000" b="-1000"/>
          </a:stretch>
        </a:blipFill>
        <a:effectLst/>
      </p:bgPr>
    </p:bg>
    <p:spTree>
      <p:nvGrpSpPr>
        <p:cNvPr id="1" name=""/>
        <p:cNvGrpSpPr/>
        <p:nvPr/>
      </p:nvGrpSpPr>
      <p:grpSpPr>
        <a:xfrm>
          <a:off x="0" y="0"/>
          <a:ext cx="0" cy="0"/>
          <a:chOff x="0" y="0"/>
          <a:chExt cx="0" cy="0"/>
        </a:xfrm>
      </p:grpSpPr>
      <p:sp>
        <p:nvSpPr>
          <p:cNvPr id="1032" name="Rectangle 8"/>
          <p:cNvSpPr>
            <a:spLocks noChangeArrowheads="1"/>
          </p:cNvSpPr>
          <p:nvPr/>
        </p:nvSpPr>
        <p:spPr bwMode="auto">
          <a:xfrm>
            <a:off x="0" y="-9525"/>
            <a:ext cx="9144000" cy="627063"/>
          </a:xfrm>
          <a:prstGeom prst="rect">
            <a:avLst/>
          </a:prstGeom>
          <a:ln>
            <a:headEnd/>
            <a:tailEnd/>
          </a:ln>
        </p:spPr>
        <p:style>
          <a:lnRef idx="1">
            <a:schemeClr val="dk1"/>
          </a:lnRef>
          <a:fillRef idx="3">
            <a:schemeClr val="dk1"/>
          </a:fillRef>
          <a:effectRef idx="2">
            <a:schemeClr val="dk1"/>
          </a:effectRef>
          <a:fontRef idx="minor">
            <a:schemeClr val="lt1"/>
          </a:fontRef>
        </p:style>
        <p:txBody>
          <a:bodyPr wrap="none" anchor="ctr"/>
          <a:lstStyle/>
          <a:p>
            <a:endParaRPr lang="fr-FR"/>
          </a:p>
        </p:txBody>
      </p:sp>
      <p:sp>
        <p:nvSpPr>
          <p:cNvPr id="1033" name="AutoShape 9"/>
          <p:cNvSpPr>
            <a:spLocks noChangeArrowheads="1"/>
          </p:cNvSpPr>
          <p:nvPr/>
        </p:nvSpPr>
        <p:spPr bwMode="auto">
          <a:xfrm>
            <a:off x="7162800" y="6308725"/>
            <a:ext cx="1368425" cy="431800"/>
          </a:xfrm>
          <a:prstGeom prst="roundRect">
            <a:avLst>
              <a:gd name="adj" fmla="val 50000"/>
            </a:avLst>
          </a:prstGeom>
          <a:solidFill>
            <a:schemeClr val="bg1"/>
          </a:solidFill>
          <a:ln w="57150">
            <a:solidFill>
              <a:srgbClr val="1E4C7C"/>
            </a:solidFill>
            <a:round/>
            <a:headEnd/>
            <a:tailEnd/>
          </a:ln>
          <a:effectLst/>
        </p:spPr>
        <p:txBody>
          <a:bodyPr wrap="none" anchor="ctr"/>
          <a:lstStyle/>
          <a:p>
            <a:endParaRPr lang="fr-FR"/>
          </a:p>
        </p:txBody>
      </p:sp>
      <p:sp>
        <p:nvSpPr>
          <p:cNvPr id="1034" name="Rectangle 10"/>
          <p:cNvSpPr>
            <a:spLocks noChangeArrowheads="1"/>
          </p:cNvSpPr>
          <p:nvPr/>
        </p:nvSpPr>
        <p:spPr bwMode="auto">
          <a:xfrm>
            <a:off x="0" y="6499225"/>
            <a:ext cx="9144000" cy="358775"/>
          </a:xfrm>
          <a:prstGeom prst="rect">
            <a:avLst/>
          </a:prstGeom>
          <a:solidFill>
            <a:schemeClr val="bg1"/>
          </a:solidFill>
          <a:ln w="57150">
            <a:noFill/>
            <a:miter lim="800000"/>
            <a:headEnd/>
            <a:tailEnd/>
          </a:ln>
          <a:effectLst/>
        </p:spPr>
        <p:txBody>
          <a:bodyPr wrap="none" anchor="ctr"/>
          <a:lstStyle/>
          <a:p>
            <a:endParaRPr lang="fr-FR"/>
          </a:p>
        </p:txBody>
      </p:sp>
      <p:sp>
        <p:nvSpPr>
          <p:cNvPr id="1035" name="Rectangle 11"/>
          <p:cNvSpPr>
            <a:spLocks noChangeArrowheads="1"/>
          </p:cNvSpPr>
          <p:nvPr/>
        </p:nvSpPr>
        <p:spPr bwMode="auto">
          <a:xfrm>
            <a:off x="0" y="6451600"/>
            <a:ext cx="9144000" cy="406400"/>
          </a:xfrm>
          <a:prstGeom prst="rect">
            <a:avLst/>
          </a:prstGeom>
          <a:solidFill>
            <a:schemeClr val="bg1"/>
          </a:solidFill>
          <a:ln w="57150">
            <a:noFill/>
            <a:miter lim="800000"/>
            <a:headEnd/>
            <a:tailEnd/>
          </a:ln>
          <a:effectLst/>
        </p:spPr>
        <p:txBody>
          <a:bodyPr wrap="none" anchor="ctr"/>
          <a:lstStyle/>
          <a:p>
            <a:endParaRPr lang="fr-FR"/>
          </a:p>
        </p:txBody>
      </p:sp>
      <p:sp>
        <p:nvSpPr>
          <p:cNvPr id="1036" name="Rectangle 12"/>
          <p:cNvSpPr>
            <a:spLocks noChangeArrowheads="1"/>
          </p:cNvSpPr>
          <p:nvPr/>
        </p:nvSpPr>
        <p:spPr bwMode="auto">
          <a:xfrm>
            <a:off x="0" y="6453188"/>
            <a:ext cx="9144000" cy="47625"/>
          </a:xfrm>
          <a:prstGeom prst="rect">
            <a:avLst/>
          </a:prstGeom>
          <a:solidFill>
            <a:srgbClr val="174A7C"/>
          </a:solidFill>
          <a:ln w="9525">
            <a:noFill/>
            <a:miter lim="800000"/>
            <a:headEnd/>
            <a:tailEnd/>
          </a:ln>
          <a:effectLst/>
        </p:spPr>
        <p:txBody>
          <a:bodyPr wrap="none" anchor="ctr"/>
          <a:lstStyle/>
          <a:p>
            <a:endParaRPr lang="fr-FR"/>
          </a:p>
        </p:txBody>
      </p:sp>
      <p:sp>
        <p:nvSpPr>
          <p:cNvPr id="1037" name="AutoShape 13"/>
          <p:cNvSpPr>
            <a:spLocks noChangeArrowheads="1"/>
          </p:cNvSpPr>
          <p:nvPr/>
        </p:nvSpPr>
        <p:spPr bwMode="auto">
          <a:xfrm>
            <a:off x="7185025" y="6334125"/>
            <a:ext cx="1325563" cy="376238"/>
          </a:xfrm>
          <a:prstGeom prst="roundRect">
            <a:avLst>
              <a:gd name="adj" fmla="val 50000"/>
            </a:avLst>
          </a:prstGeom>
          <a:solidFill>
            <a:schemeClr val="bg1"/>
          </a:solidFill>
          <a:ln w="57150">
            <a:noFill/>
            <a:round/>
            <a:headEnd/>
            <a:tailEnd/>
          </a:ln>
          <a:effectLst/>
        </p:spPr>
        <p:txBody>
          <a:bodyPr wrap="none" anchor="ctr"/>
          <a:lstStyle/>
          <a:p>
            <a:endParaRPr lang="fr-FR"/>
          </a:p>
        </p:txBody>
      </p:sp>
      <p:sp>
        <p:nvSpPr>
          <p:cNvPr id="1026" name="AutoShape 2"/>
          <p:cNvSpPr>
            <a:spLocks noGrp="1" noChangeArrowheads="1"/>
          </p:cNvSpPr>
          <p:nvPr>
            <p:ph type="title"/>
          </p:nvPr>
        </p:nvSpPr>
        <p:spPr bwMode="auto">
          <a:xfrm>
            <a:off x="0" y="0"/>
            <a:ext cx="9110860" cy="822305"/>
          </a:xfrm>
          <a:prstGeom prst="roundRect">
            <a:avLst>
              <a:gd name="adj" fmla="val 50000"/>
            </a:avLst>
          </a:prstGeom>
          <a:ln>
            <a:headEnd/>
            <a:tailEnd/>
          </a:ln>
        </p:spPr>
        <p:style>
          <a:lnRef idx="1">
            <a:schemeClr val="dk1"/>
          </a:lnRef>
          <a:fillRef idx="3">
            <a:schemeClr val="dk1"/>
          </a:fillRef>
          <a:effectRef idx="2">
            <a:schemeClr val="dk1"/>
          </a:effectRef>
          <a:fontRef idx="none"/>
        </p:style>
        <p:txBody>
          <a:bodyPr vert="horz" wrap="none" lIns="180000" tIns="0" rIns="180000" bIns="0" numCol="1" anchor="ctr" anchorCtr="0" compatLnSpc="1">
            <a:prstTxWarp prst="textNoShape">
              <a:avLst/>
            </a:prstTxWarp>
            <a:spAutoFit/>
          </a:bodyPr>
          <a:lstStyle/>
          <a:p>
            <a:pPr lvl="0"/>
            <a:r>
              <a:rPr lang="fr-FR" dirty="0" smtClean="0"/>
              <a:t>Cliquez pour modifier le style du titre</a:t>
            </a:r>
          </a:p>
        </p:txBody>
      </p:sp>
      <p:sp>
        <p:nvSpPr>
          <p:cNvPr id="1027" name="Rectangle 3"/>
          <p:cNvSpPr>
            <a:spLocks noGrp="1" noChangeArrowheads="1"/>
          </p:cNvSpPr>
          <p:nvPr>
            <p:ph type="body" idx="1"/>
          </p:nvPr>
        </p:nvSpPr>
        <p:spPr bwMode="auto">
          <a:xfrm>
            <a:off x="284714" y="1066800"/>
            <a:ext cx="8402086" cy="507770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fr-FR" dirty="0" smtClean="0"/>
              <a:t>Cliquez pour modifier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p>
        </p:txBody>
      </p:sp>
      <p:sp>
        <p:nvSpPr>
          <p:cNvPr id="1029" name="Rectangle 5"/>
          <p:cNvSpPr>
            <a:spLocks noGrp="1" noChangeArrowheads="1"/>
          </p:cNvSpPr>
          <p:nvPr>
            <p:ph type="ftr" sz="quarter" idx="3"/>
          </p:nvPr>
        </p:nvSpPr>
        <p:spPr bwMode="auto">
          <a:xfrm>
            <a:off x="585788" y="6507163"/>
            <a:ext cx="3324225" cy="2603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a:defRPr sz="1100">
                <a:solidFill>
                  <a:srgbClr val="1E4C7C"/>
                </a:solidFill>
              </a:defRPr>
            </a:lvl1pPr>
          </a:lstStyle>
          <a:p>
            <a:r>
              <a:rPr lang="fr-FR" smtClean="0"/>
              <a:t>Sélection de variables en mode semi-supervisé</a:t>
            </a:r>
            <a:endParaRPr lang="en-US"/>
          </a:p>
        </p:txBody>
      </p:sp>
      <p:sp>
        <p:nvSpPr>
          <p:cNvPr id="1030" name="Rectangle 6"/>
          <p:cNvSpPr>
            <a:spLocks noGrp="1" noChangeArrowheads="1"/>
          </p:cNvSpPr>
          <p:nvPr>
            <p:ph type="sldNum" sz="quarter" idx="4"/>
          </p:nvPr>
        </p:nvSpPr>
        <p:spPr bwMode="auto">
          <a:xfrm>
            <a:off x="8225631" y="6499225"/>
            <a:ext cx="611187"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1">
                <a:solidFill>
                  <a:srgbClr val="1E4C7C"/>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Lst>
  <p:timing>
    <p:tnLst>
      <p:par>
        <p:cTn id="1" dur="indefinite" restart="never" nodeType="tmRoot"/>
      </p:par>
    </p:tnLst>
  </p:timing>
  <p:hf hdr="0" ftr="0" dt="0"/>
  <p:txStyles>
    <p:titleStyle>
      <a:lvl1pPr algn="l" rtl="0" eaLnBrk="1" fontAlgn="base" hangingPunct="1">
        <a:spcBef>
          <a:spcPct val="0"/>
        </a:spcBef>
        <a:spcAft>
          <a:spcPct val="0"/>
        </a:spcAft>
        <a:defRPr sz="3800" b="1">
          <a:solidFill>
            <a:schemeClr val="bg1"/>
          </a:solidFill>
          <a:latin typeface="+mj-lt"/>
          <a:ea typeface="+mj-ea"/>
          <a:cs typeface="+mj-cs"/>
        </a:defRPr>
      </a:lvl1pPr>
      <a:lvl2pPr algn="l" rtl="0" eaLnBrk="1" fontAlgn="base" hangingPunct="1">
        <a:spcBef>
          <a:spcPct val="0"/>
        </a:spcBef>
        <a:spcAft>
          <a:spcPct val="0"/>
        </a:spcAft>
        <a:defRPr sz="3800" b="1">
          <a:solidFill>
            <a:schemeClr val="bg1"/>
          </a:solidFill>
          <a:latin typeface="Arial" charset="0"/>
        </a:defRPr>
      </a:lvl2pPr>
      <a:lvl3pPr algn="l" rtl="0" eaLnBrk="1" fontAlgn="base" hangingPunct="1">
        <a:spcBef>
          <a:spcPct val="0"/>
        </a:spcBef>
        <a:spcAft>
          <a:spcPct val="0"/>
        </a:spcAft>
        <a:defRPr sz="3800" b="1">
          <a:solidFill>
            <a:schemeClr val="bg1"/>
          </a:solidFill>
          <a:latin typeface="Arial" charset="0"/>
        </a:defRPr>
      </a:lvl3pPr>
      <a:lvl4pPr algn="l" rtl="0" eaLnBrk="1" fontAlgn="base" hangingPunct="1">
        <a:spcBef>
          <a:spcPct val="0"/>
        </a:spcBef>
        <a:spcAft>
          <a:spcPct val="0"/>
        </a:spcAft>
        <a:defRPr sz="3800" b="1">
          <a:solidFill>
            <a:schemeClr val="bg1"/>
          </a:solidFill>
          <a:latin typeface="Arial" charset="0"/>
        </a:defRPr>
      </a:lvl4pPr>
      <a:lvl5pPr algn="l" rtl="0" eaLnBrk="1" fontAlgn="base" hangingPunct="1">
        <a:spcBef>
          <a:spcPct val="0"/>
        </a:spcBef>
        <a:spcAft>
          <a:spcPct val="0"/>
        </a:spcAft>
        <a:defRPr sz="3800" b="1">
          <a:solidFill>
            <a:schemeClr val="bg1"/>
          </a:solidFill>
          <a:latin typeface="Arial" charset="0"/>
        </a:defRPr>
      </a:lvl5pPr>
      <a:lvl6pPr marL="457200" algn="l" rtl="0" eaLnBrk="1" fontAlgn="base" hangingPunct="1">
        <a:spcBef>
          <a:spcPct val="0"/>
        </a:spcBef>
        <a:spcAft>
          <a:spcPct val="0"/>
        </a:spcAft>
        <a:defRPr sz="3800" b="1">
          <a:solidFill>
            <a:schemeClr val="bg1"/>
          </a:solidFill>
          <a:latin typeface="Arial" charset="0"/>
        </a:defRPr>
      </a:lvl6pPr>
      <a:lvl7pPr marL="914400" algn="l" rtl="0" eaLnBrk="1" fontAlgn="base" hangingPunct="1">
        <a:spcBef>
          <a:spcPct val="0"/>
        </a:spcBef>
        <a:spcAft>
          <a:spcPct val="0"/>
        </a:spcAft>
        <a:defRPr sz="3800" b="1">
          <a:solidFill>
            <a:schemeClr val="bg1"/>
          </a:solidFill>
          <a:latin typeface="Arial" charset="0"/>
        </a:defRPr>
      </a:lvl7pPr>
      <a:lvl8pPr marL="1371600" algn="l" rtl="0" eaLnBrk="1" fontAlgn="base" hangingPunct="1">
        <a:spcBef>
          <a:spcPct val="0"/>
        </a:spcBef>
        <a:spcAft>
          <a:spcPct val="0"/>
        </a:spcAft>
        <a:defRPr sz="3800" b="1">
          <a:solidFill>
            <a:schemeClr val="bg1"/>
          </a:solidFill>
          <a:latin typeface="Arial" charset="0"/>
        </a:defRPr>
      </a:lvl8pPr>
      <a:lvl9pPr marL="1828800" algn="l" rtl="0" eaLnBrk="1" fontAlgn="base" hangingPunct="1">
        <a:spcBef>
          <a:spcPct val="0"/>
        </a:spcBef>
        <a:spcAft>
          <a:spcPct val="0"/>
        </a:spcAft>
        <a:defRPr sz="3800" b="1">
          <a:solidFill>
            <a:schemeClr val="bg1"/>
          </a:solidFill>
          <a:latin typeface="Arial" charset="0"/>
        </a:defRPr>
      </a:lvl9pPr>
    </p:titleStyle>
    <p:bodyStyle>
      <a:lvl1pPr marL="342900" indent="-342900" algn="just" rtl="0" eaLnBrk="1" fontAlgn="base" hangingPunct="1">
        <a:spcBef>
          <a:spcPct val="20000"/>
        </a:spcBef>
        <a:spcAft>
          <a:spcPct val="0"/>
        </a:spcAft>
        <a:buClr>
          <a:srgbClr val="C00000"/>
        </a:buClr>
        <a:buSzPct val="150000"/>
        <a:buFont typeface="Arial" pitchFamily="34" charset="0"/>
        <a:buChar char="●"/>
        <a:defRPr sz="2500" b="1">
          <a:solidFill>
            <a:srgbClr val="1E4C7C"/>
          </a:solidFill>
          <a:latin typeface="+mn-lt"/>
          <a:ea typeface="+mn-ea"/>
          <a:cs typeface="+mn-cs"/>
        </a:defRPr>
      </a:lvl1pPr>
      <a:lvl2pPr marL="785812" indent="-342900" algn="just" rtl="0" eaLnBrk="1" fontAlgn="base" hangingPunct="1">
        <a:spcBef>
          <a:spcPct val="20000"/>
        </a:spcBef>
        <a:spcAft>
          <a:spcPct val="0"/>
        </a:spcAft>
        <a:buClr>
          <a:schemeClr val="accent1">
            <a:lumMod val="25000"/>
          </a:schemeClr>
        </a:buClr>
        <a:buSzPct val="150000"/>
        <a:buFont typeface="Arial" pitchFamily="34" charset="0"/>
        <a:buChar char="●"/>
        <a:defRPr sz="2100" b="1">
          <a:solidFill>
            <a:srgbClr val="1E4C7C"/>
          </a:solidFill>
          <a:latin typeface="+mn-lt"/>
        </a:defRPr>
      </a:lvl2pPr>
      <a:lvl3pPr marL="1150938" indent="-342900" algn="just" rtl="0" eaLnBrk="1" fontAlgn="base" hangingPunct="1">
        <a:spcBef>
          <a:spcPct val="20000"/>
        </a:spcBef>
        <a:spcAft>
          <a:spcPct val="0"/>
        </a:spcAft>
        <a:buClr>
          <a:schemeClr val="accent2">
            <a:lumMod val="60000"/>
            <a:lumOff val="40000"/>
          </a:schemeClr>
        </a:buClr>
        <a:buSzPct val="110000"/>
        <a:buFont typeface="Arial" pitchFamily="34" charset="0"/>
        <a:buChar char="●"/>
        <a:defRPr sz="1900" b="1">
          <a:solidFill>
            <a:srgbClr val="1E4C7C"/>
          </a:solidFill>
          <a:latin typeface="+mn-lt"/>
        </a:defRPr>
      </a:lvl3pPr>
      <a:lvl4pPr marL="1349375" indent="-187325" algn="just" rtl="0" eaLnBrk="1" fontAlgn="base" hangingPunct="1">
        <a:spcBef>
          <a:spcPct val="20000"/>
        </a:spcBef>
        <a:spcAft>
          <a:spcPct val="0"/>
        </a:spcAft>
        <a:buClr>
          <a:srgbClr val="3D445B"/>
        </a:buClr>
        <a:buSzPct val="80000"/>
        <a:buFont typeface="Wingdings 2" pitchFamily="18" charset="2"/>
        <a:buBlip>
          <a:blip r:embed="rId17"/>
        </a:buBlip>
        <a:defRPr sz="1900" i="1">
          <a:solidFill>
            <a:srgbClr val="1E4C7C"/>
          </a:solidFill>
          <a:latin typeface="+mn-lt"/>
        </a:defRPr>
      </a:lvl4pPr>
      <a:lvl5pPr marL="1703388" indent="-174625" algn="just" rtl="0" eaLnBrk="1" fontAlgn="base" hangingPunct="1">
        <a:spcBef>
          <a:spcPct val="20000"/>
        </a:spcBef>
        <a:spcAft>
          <a:spcPct val="0"/>
        </a:spcAft>
        <a:buSzPct val="75000"/>
        <a:buBlip>
          <a:blip r:embed="rId18"/>
        </a:buBlip>
        <a:defRPr sz="1600">
          <a:solidFill>
            <a:srgbClr val="1E4C7C"/>
          </a:solidFill>
          <a:latin typeface="+mn-lt"/>
        </a:defRPr>
      </a:lvl5pPr>
      <a:lvl6pPr marL="2160588" indent="-174625" algn="just" rtl="0" eaLnBrk="1" fontAlgn="base" hangingPunct="1">
        <a:spcBef>
          <a:spcPct val="20000"/>
        </a:spcBef>
        <a:spcAft>
          <a:spcPct val="0"/>
        </a:spcAft>
        <a:buSzPct val="75000"/>
        <a:buBlip>
          <a:blip r:embed="rId18"/>
        </a:buBlip>
        <a:defRPr sz="1600">
          <a:solidFill>
            <a:srgbClr val="1E4C7C"/>
          </a:solidFill>
          <a:latin typeface="+mn-lt"/>
        </a:defRPr>
      </a:lvl6pPr>
      <a:lvl7pPr marL="2617788" indent="-174625" algn="just" rtl="0" eaLnBrk="1" fontAlgn="base" hangingPunct="1">
        <a:spcBef>
          <a:spcPct val="20000"/>
        </a:spcBef>
        <a:spcAft>
          <a:spcPct val="0"/>
        </a:spcAft>
        <a:buSzPct val="75000"/>
        <a:buBlip>
          <a:blip r:embed="rId18"/>
        </a:buBlip>
        <a:defRPr sz="1600">
          <a:solidFill>
            <a:srgbClr val="1E4C7C"/>
          </a:solidFill>
          <a:latin typeface="+mn-lt"/>
        </a:defRPr>
      </a:lvl7pPr>
      <a:lvl8pPr marL="3074988" indent="-174625" algn="just" rtl="0" eaLnBrk="1" fontAlgn="base" hangingPunct="1">
        <a:spcBef>
          <a:spcPct val="20000"/>
        </a:spcBef>
        <a:spcAft>
          <a:spcPct val="0"/>
        </a:spcAft>
        <a:buSzPct val="75000"/>
        <a:buBlip>
          <a:blip r:embed="rId18"/>
        </a:buBlip>
        <a:defRPr sz="1600">
          <a:solidFill>
            <a:srgbClr val="1E4C7C"/>
          </a:solidFill>
          <a:latin typeface="+mn-lt"/>
        </a:defRPr>
      </a:lvl8pPr>
      <a:lvl9pPr marL="3532188" indent="-174625" algn="just" rtl="0" eaLnBrk="1" fontAlgn="base" hangingPunct="1">
        <a:spcBef>
          <a:spcPct val="20000"/>
        </a:spcBef>
        <a:spcAft>
          <a:spcPct val="0"/>
        </a:spcAft>
        <a:buSzPct val="75000"/>
        <a:buBlip>
          <a:blip r:embed="rId18"/>
        </a:buBlip>
        <a:defRPr sz="1600">
          <a:solidFill>
            <a:srgbClr val="1E4C7C"/>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tif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1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1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1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1" y="2209800"/>
            <a:ext cx="8673846" cy="1219200"/>
          </a:xfrm>
        </p:spPr>
        <p:txBody>
          <a:bodyPr>
            <a:normAutofit/>
          </a:bodyPr>
          <a:lstStyle/>
          <a:p>
            <a:pPr>
              <a:lnSpc>
                <a:spcPct val="100000"/>
              </a:lnSpc>
            </a:pPr>
            <a:r>
              <a:rPr lang="fr-FR" sz="3600" dirty="0" smtClean="0"/>
              <a:t>SOFTWARE PROJECT MANAGEMENT</a:t>
            </a:r>
            <a:endParaRPr lang="fr-FR" sz="3600" dirty="0"/>
          </a:p>
        </p:txBody>
      </p:sp>
      <p:sp>
        <p:nvSpPr>
          <p:cNvPr id="3" name="Subtitle 2"/>
          <p:cNvSpPr>
            <a:spLocks noGrp="1"/>
          </p:cNvSpPr>
          <p:nvPr>
            <p:ph type="subTitle" idx="1"/>
          </p:nvPr>
        </p:nvSpPr>
        <p:spPr>
          <a:xfrm>
            <a:off x="1066800" y="3962400"/>
            <a:ext cx="7007351" cy="838200"/>
          </a:xfrm>
        </p:spPr>
        <p:txBody>
          <a:bodyPr>
            <a:noAutofit/>
          </a:bodyPr>
          <a:lstStyle/>
          <a:p>
            <a:r>
              <a:rPr lang="fr-FR" sz="2000" dirty="0" err="1" smtClean="0"/>
              <a:t>Subject</a:t>
            </a:r>
            <a:r>
              <a:rPr lang="fr-FR" sz="2000" dirty="0" smtClean="0"/>
              <a:t> </a:t>
            </a:r>
            <a:r>
              <a:rPr lang="fr-FR" sz="2000" dirty="0" err="1" smtClean="0"/>
              <a:t>presented</a:t>
            </a:r>
            <a:r>
              <a:rPr lang="fr-FR" sz="2000" dirty="0" smtClean="0"/>
              <a:t> by:</a:t>
            </a:r>
          </a:p>
          <a:p>
            <a:r>
              <a:rPr lang="fr-FR" sz="2400" b="1" dirty="0" smtClean="0"/>
              <a:t>PhD. </a:t>
            </a:r>
            <a:r>
              <a:rPr lang="fr-FR" sz="2400" b="1" dirty="0" err="1" smtClean="0"/>
              <a:t>Trần</a:t>
            </a:r>
            <a:r>
              <a:rPr lang="fr-FR" sz="2400" b="1" dirty="0" smtClean="0"/>
              <a:t> </a:t>
            </a:r>
            <a:r>
              <a:rPr lang="fr-FR" sz="2400" b="1" dirty="0" err="1" smtClean="0"/>
              <a:t>Khánh</a:t>
            </a:r>
            <a:r>
              <a:rPr lang="fr-FR" sz="2400" b="1" dirty="0" smtClean="0"/>
              <a:t> Dung</a:t>
            </a:r>
          </a:p>
          <a:p>
            <a:r>
              <a:rPr lang="fr-FR" sz="1800" b="1" dirty="0" err="1" smtClean="0"/>
              <a:t>Department</a:t>
            </a:r>
            <a:r>
              <a:rPr lang="fr-FR" sz="1800" b="1" dirty="0" smtClean="0"/>
              <a:t> of Software Engineering</a:t>
            </a:r>
          </a:p>
          <a:p>
            <a:r>
              <a:rPr lang="fr-FR" sz="1800" b="1" dirty="0" smtClean="0"/>
              <a:t>Email: </a:t>
            </a:r>
            <a:r>
              <a:rPr lang="fr-FR" sz="1800" b="1" i="1" dirty="0" err="1" smtClean="0"/>
              <a:t>dungtk@huce.edu.vn</a:t>
            </a:r>
            <a:endParaRPr lang="fr-FR" sz="1800" b="1" i="1" dirty="0" smtClean="0"/>
          </a:p>
        </p:txBody>
      </p:sp>
      <p:sp>
        <p:nvSpPr>
          <p:cNvPr id="5" name="Subtitle 2"/>
          <p:cNvSpPr txBox="1">
            <a:spLocks/>
          </p:cNvSpPr>
          <p:nvPr/>
        </p:nvSpPr>
        <p:spPr bwMode="auto">
          <a:xfrm>
            <a:off x="1219199" y="5486400"/>
            <a:ext cx="7007351" cy="899652"/>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noAutofit/>
          </a:bodyPr>
          <a:lstStyle>
            <a:lvl1pPr marL="0" indent="0" algn="ctr" rtl="0" eaLnBrk="1" fontAlgn="base" hangingPunct="1">
              <a:spcBef>
                <a:spcPct val="20000"/>
              </a:spcBef>
              <a:spcAft>
                <a:spcPct val="0"/>
              </a:spcAft>
              <a:buSzPct val="150000"/>
              <a:buFontTx/>
              <a:buNone/>
              <a:defRPr sz="3000" b="0">
                <a:solidFill>
                  <a:srgbClr val="174A7C"/>
                </a:solidFill>
                <a:latin typeface="+mn-lt"/>
                <a:ea typeface="+mn-ea"/>
                <a:cs typeface="+mn-cs"/>
              </a:defRPr>
            </a:lvl1pPr>
            <a:lvl2pPr marL="628650" indent="-185738" algn="just" rtl="0" eaLnBrk="1" fontAlgn="base" hangingPunct="1">
              <a:spcBef>
                <a:spcPct val="20000"/>
              </a:spcBef>
              <a:spcAft>
                <a:spcPct val="0"/>
              </a:spcAft>
              <a:buClr>
                <a:srgbClr val="FF0000"/>
              </a:buClr>
              <a:buSzPct val="90000"/>
              <a:buFont typeface="Wingdings 2" pitchFamily="18" charset="2"/>
              <a:buChar char=""/>
              <a:defRPr sz="2100" b="1">
                <a:solidFill>
                  <a:srgbClr val="1E4C7C"/>
                </a:solidFill>
                <a:latin typeface="+mn-lt"/>
              </a:defRPr>
            </a:lvl2pPr>
            <a:lvl3pPr marL="982663" indent="-174625" algn="just" rtl="0" eaLnBrk="1" fontAlgn="base" hangingPunct="1">
              <a:spcBef>
                <a:spcPct val="20000"/>
              </a:spcBef>
              <a:spcAft>
                <a:spcPct val="0"/>
              </a:spcAft>
              <a:buSzPct val="80000"/>
              <a:buFont typeface="Wingdings 2" pitchFamily="18" charset="2"/>
              <a:buChar char=""/>
              <a:defRPr sz="1900" b="1">
                <a:solidFill>
                  <a:srgbClr val="1E4C7C"/>
                </a:solidFill>
                <a:latin typeface="+mn-lt"/>
              </a:defRPr>
            </a:lvl3pPr>
            <a:lvl4pPr marL="1349375" indent="-187325" algn="just" rtl="0" eaLnBrk="1" fontAlgn="base" hangingPunct="1">
              <a:spcBef>
                <a:spcPct val="20000"/>
              </a:spcBef>
              <a:spcAft>
                <a:spcPct val="0"/>
              </a:spcAft>
              <a:buClr>
                <a:srgbClr val="3D445B"/>
              </a:buClr>
              <a:buSzPct val="80000"/>
              <a:buFont typeface="Wingdings 2" pitchFamily="18" charset="2"/>
              <a:buBlip>
                <a:blip r:embed="rId3"/>
              </a:buBlip>
              <a:defRPr sz="1900" i="1">
                <a:solidFill>
                  <a:srgbClr val="1E4C7C"/>
                </a:solidFill>
                <a:latin typeface="+mn-lt"/>
              </a:defRPr>
            </a:lvl4pPr>
            <a:lvl5pPr marL="1703388" indent="-174625" algn="just" rtl="0" eaLnBrk="1" fontAlgn="base" hangingPunct="1">
              <a:spcBef>
                <a:spcPct val="20000"/>
              </a:spcBef>
              <a:spcAft>
                <a:spcPct val="0"/>
              </a:spcAft>
              <a:buSzPct val="75000"/>
              <a:buBlip>
                <a:blip r:embed="rId4"/>
              </a:buBlip>
              <a:defRPr sz="1600">
                <a:solidFill>
                  <a:srgbClr val="1E4C7C"/>
                </a:solidFill>
                <a:latin typeface="+mn-lt"/>
              </a:defRPr>
            </a:lvl5pPr>
            <a:lvl6pPr marL="2160588" indent="-174625" algn="just" rtl="0" eaLnBrk="1" fontAlgn="base" hangingPunct="1">
              <a:spcBef>
                <a:spcPct val="20000"/>
              </a:spcBef>
              <a:spcAft>
                <a:spcPct val="0"/>
              </a:spcAft>
              <a:buSzPct val="75000"/>
              <a:buBlip>
                <a:blip r:embed="rId4"/>
              </a:buBlip>
              <a:defRPr sz="1600">
                <a:solidFill>
                  <a:srgbClr val="1E4C7C"/>
                </a:solidFill>
                <a:latin typeface="+mn-lt"/>
              </a:defRPr>
            </a:lvl6pPr>
            <a:lvl7pPr marL="2617788" indent="-174625" algn="just" rtl="0" eaLnBrk="1" fontAlgn="base" hangingPunct="1">
              <a:spcBef>
                <a:spcPct val="20000"/>
              </a:spcBef>
              <a:spcAft>
                <a:spcPct val="0"/>
              </a:spcAft>
              <a:buSzPct val="75000"/>
              <a:buBlip>
                <a:blip r:embed="rId4"/>
              </a:buBlip>
              <a:defRPr sz="1600">
                <a:solidFill>
                  <a:srgbClr val="1E4C7C"/>
                </a:solidFill>
                <a:latin typeface="+mn-lt"/>
              </a:defRPr>
            </a:lvl7pPr>
            <a:lvl8pPr marL="3074988" indent="-174625" algn="just" rtl="0" eaLnBrk="1" fontAlgn="base" hangingPunct="1">
              <a:spcBef>
                <a:spcPct val="20000"/>
              </a:spcBef>
              <a:spcAft>
                <a:spcPct val="0"/>
              </a:spcAft>
              <a:buSzPct val="75000"/>
              <a:buBlip>
                <a:blip r:embed="rId4"/>
              </a:buBlip>
              <a:defRPr sz="1600">
                <a:solidFill>
                  <a:srgbClr val="1E4C7C"/>
                </a:solidFill>
                <a:latin typeface="+mn-lt"/>
              </a:defRPr>
            </a:lvl8pPr>
            <a:lvl9pPr marL="3532188" indent="-174625" algn="just" rtl="0" eaLnBrk="1" fontAlgn="base" hangingPunct="1">
              <a:spcBef>
                <a:spcPct val="20000"/>
              </a:spcBef>
              <a:spcAft>
                <a:spcPct val="0"/>
              </a:spcAft>
              <a:buSzPct val="75000"/>
              <a:buBlip>
                <a:blip r:embed="rId4"/>
              </a:buBlip>
              <a:defRPr sz="1600">
                <a:solidFill>
                  <a:srgbClr val="1E4C7C"/>
                </a:solidFill>
                <a:latin typeface="+mn-lt"/>
              </a:defRPr>
            </a:lvl9pPr>
          </a:lstStyle>
          <a:p>
            <a:endParaRPr lang="fr-FR" sz="1600" dirty="0" smtClean="0"/>
          </a:p>
          <a:p>
            <a:endParaRPr lang="fr-FR" sz="1600" dirty="0" smtClean="0"/>
          </a:p>
          <a:p>
            <a:r>
              <a:rPr lang="fr-FR" sz="1600" dirty="0" smtClean="0"/>
              <a:t>01- 2017</a:t>
            </a:r>
          </a:p>
          <a:p>
            <a:endParaRPr lang="fr-FR" sz="1600" dirty="0"/>
          </a:p>
        </p:txBody>
      </p:sp>
    </p:spTree>
    <p:extLst>
      <p:ext uri="{BB962C8B-B14F-4D97-AF65-F5344CB8AC3E}">
        <p14:creationId xmlns:p14="http://schemas.microsoft.com/office/powerpoint/2010/main" val="13461287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125" y="590"/>
            <a:ext cx="2366325" cy="779026"/>
          </a:xfrm>
        </p:spPr>
        <p:style>
          <a:lnRef idx="1">
            <a:schemeClr val="dk1"/>
          </a:lnRef>
          <a:fillRef idx="3">
            <a:schemeClr val="dk1"/>
          </a:fillRef>
          <a:effectRef idx="2">
            <a:schemeClr val="dk1"/>
          </a:effectRef>
          <a:fontRef idx="minor">
            <a:schemeClr val="lt1"/>
          </a:fontRef>
        </p:style>
        <p:txBody>
          <a:bodyPr wrap="square">
            <a:spAutoFit/>
          </a:bodyPr>
          <a:lstStyle/>
          <a:p>
            <a:r>
              <a:rPr lang="fr-FR" sz="3600" dirty="0" err="1" smtClean="0">
                <a:effectLst>
                  <a:outerShdw blurRad="38100" dist="38100" dir="2700000" algn="tl">
                    <a:srgbClr val="000000">
                      <a:alpha val="43137"/>
                    </a:srgbClr>
                  </a:outerShdw>
                </a:effectLst>
              </a:rPr>
              <a:t>Interest</a:t>
            </a:r>
            <a:endParaRPr lang="fr-FR" sz="3600" dirty="0">
              <a:effectLst>
                <a:outerShdw blurRad="38100" dist="38100" dir="2700000" algn="tl">
                  <a:srgbClr val="000000">
                    <a:alpha val="43137"/>
                  </a:srgbClr>
                </a:outerShdw>
              </a:effectLst>
            </a:endParaRPr>
          </a:p>
        </p:txBody>
      </p:sp>
      <p:sp>
        <p:nvSpPr>
          <p:cNvPr id="2" name="Content Placeholder 1"/>
          <p:cNvSpPr>
            <a:spLocks noGrp="1"/>
          </p:cNvSpPr>
          <p:nvPr>
            <p:ph idx="1"/>
          </p:nvPr>
        </p:nvSpPr>
        <p:spPr>
          <a:xfrm>
            <a:off x="228600" y="1143000"/>
            <a:ext cx="8534400" cy="4724400"/>
          </a:xfrm>
        </p:spPr>
        <p:txBody>
          <a:bodyPr>
            <a:noAutofit/>
          </a:bodyPr>
          <a:lstStyle/>
          <a:p>
            <a:r>
              <a:rPr lang="en-US" sz="2000" dirty="0" smtClean="0"/>
              <a:t>Basic software </a:t>
            </a:r>
            <a:r>
              <a:rPr lang="en-US" sz="2000" dirty="0"/>
              <a:t>project management concepts and </a:t>
            </a:r>
            <a:r>
              <a:rPr lang="en-US" sz="2000" dirty="0" smtClean="0"/>
              <a:t>principles</a:t>
            </a:r>
          </a:p>
          <a:p>
            <a:r>
              <a:rPr lang="en-US" sz="2000" dirty="0"/>
              <a:t>P</a:t>
            </a:r>
            <a:r>
              <a:rPr lang="en-US" sz="2000" dirty="0" smtClean="0"/>
              <a:t>rocess </a:t>
            </a:r>
            <a:r>
              <a:rPr lang="en-US" sz="2000" dirty="0"/>
              <a:t>and project </a:t>
            </a:r>
            <a:r>
              <a:rPr lang="en-US" sz="2000" dirty="0" smtClean="0"/>
              <a:t>metrics</a:t>
            </a:r>
          </a:p>
          <a:p>
            <a:r>
              <a:rPr lang="fr-FR" sz="2000" dirty="0" smtClean="0"/>
              <a:t>B</a:t>
            </a:r>
            <a:r>
              <a:rPr lang="en-US" sz="2000" dirty="0" err="1" smtClean="0"/>
              <a:t>asis</a:t>
            </a:r>
            <a:r>
              <a:rPr lang="en-US" sz="2000" dirty="0" smtClean="0"/>
              <a:t> for effective management decision making</a:t>
            </a:r>
            <a:r>
              <a:rPr lang="fr-FR" sz="2000" dirty="0" smtClean="0"/>
              <a:t> </a:t>
            </a:r>
          </a:p>
          <a:p>
            <a:r>
              <a:rPr lang="en-US" sz="2000" dirty="0"/>
              <a:t>Techniques used to </a:t>
            </a:r>
          </a:p>
          <a:p>
            <a:pPr lvl="1"/>
            <a:r>
              <a:rPr lang="en-US" sz="2000" b="0" dirty="0">
                <a:ea typeface="+mn-ea"/>
                <a:cs typeface="+mn-cs"/>
              </a:rPr>
              <a:t>estimate cost,</a:t>
            </a:r>
          </a:p>
          <a:p>
            <a:pPr lvl="1"/>
            <a:r>
              <a:rPr lang="en-US" sz="2000" b="0" dirty="0"/>
              <a:t>resource requirements,</a:t>
            </a:r>
          </a:p>
          <a:p>
            <a:pPr lvl="1"/>
            <a:r>
              <a:rPr lang="en-US" sz="2000" b="0" dirty="0"/>
              <a:t>and </a:t>
            </a:r>
            <a:r>
              <a:rPr lang="en-US" sz="2000" b="0" dirty="0" smtClean="0"/>
              <a:t>establish </a:t>
            </a:r>
            <a:r>
              <a:rPr lang="en-US" sz="2000" b="0" dirty="0"/>
              <a:t>an effective project plan </a:t>
            </a:r>
            <a:endParaRPr lang="fr-FR" sz="2000" dirty="0" smtClean="0"/>
          </a:p>
          <a:p>
            <a:pPr>
              <a:lnSpc>
                <a:spcPct val="150000"/>
              </a:lnSpc>
            </a:pPr>
            <a:r>
              <a:rPr lang="en-US" sz="2000" dirty="0" smtClean="0"/>
              <a:t>Management </a:t>
            </a:r>
            <a:r>
              <a:rPr lang="en-US" sz="2000" dirty="0"/>
              <a:t>activities that lead to effective risk monitoring, mitigation, and management</a:t>
            </a:r>
            <a:endParaRPr lang="fr-FR" sz="2000" dirty="0" smtClean="0"/>
          </a:p>
          <a:p>
            <a:r>
              <a:rPr lang="en-US" sz="2000" dirty="0"/>
              <a:t>Activities required to define project tasks and establish a workable project </a:t>
            </a:r>
            <a:r>
              <a:rPr lang="en-US" sz="2000" dirty="0" smtClean="0"/>
              <a:t>schedule</a:t>
            </a:r>
          </a:p>
          <a:p>
            <a:r>
              <a:rPr lang="en-US" sz="2000" dirty="0"/>
              <a:t>T</a:t>
            </a:r>
            <a:r>
              <a:rPr lang="en-US" sz="2000" dirty="0" smtClean="0"/>
              <a:t>echniques </a:t>
            </a:r>
            <a:r>
              <a:rPr lang="en-US" sz="2000" dirty="0"/>
              <a:t>for ensuring </a:t>
            </a:r>
            <a:r>
              <a:rPr lang="en-US" sz="2000" dirty="0" smtClean="0"/>
              <a:t>quality and controlling changes</a:t>
            </a:r>
            <a:endParaRPr lang="en-US" sz="2000"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12144637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4550458" cy="822305"/>
          </a:xfrm>
        </p:spPr>
        <p:txBody>
          <a:bodyPr/>
          <a:lstStyle/>
          <a:p>
            <a:r>
              <a:rPr lang="fr-FR" dirty="0" smtClean="0"/>
              <a:t> State of </a:t>
            </a:r>
            <a:r>
              <a:rPr lang="fr-FR" dirty="0" err="1" smtClean="0"/>
              <a:t>problem</a:t>
            </a:r>
            <a:endParaRPr lang="fr-FR" dirty="0"/>
          </a:p>
        </p:txBody>
      </p:sp>
      <p:sp>
        <p:nvSpPr>
          <p:cNvPr id="18" name="Content Placeholder 17"/>
          <p:cNvSpPr>
            <a:spLocks noGrp="1"/>
          </p:cNvSpPr>
          <p:nvPr>
            <p:ph idx="1"/>
          </p:nvPr>
        </p:nvSpPr>
        <p:spPr>
          <a:xfrm>
            <a:off x="284714" y="1329846"/>
            <a:ext cx="8402086" cy="5077703"/>
          </a:xfrm>
        </p:spPr>
        <p:txBody>
          <a:bodyPr/>
          <a:lstStyle/>
          <a:p>
            <a:pPr marL="0" indent="0">
              <a:buNone/>
            </a:pPr>
            <a:r>
              <a:rPr lang="en-US" sz="2400" b="0" i="1" dirty="0" smtClean="0"/>
              <a:t>“I've </a:t>
            </a:r>
            <a:r>
              <a:rPr lang="en-US" sz="2400" b="0" i="1" dirty="0"/>
              <a:t>visited dozens of commercial shops, both good and bad, and I've observed </a:t>
            </a:r>
            <a:r>
              <a:rPr lang="en-US" sz="2400" b="0" i="1" dirty="0" smtClean="0"/>
              <a:t>scores of </a:t>
            </a:r>
            <a:r>
              <a:rPr lang="en-US" sz="2400" b="0" i="1" dirty="0"/>
              <a:t>data processing managers, again, both good and bad. Too often, I've watched </a:t>
            </a:r>
            <a:r>
              <a:rPr lang="en-US" sz="2400" b="0" i="1" dirty="0" smtClean="0"/>
              <a:t>in horror </a:t>
            </a:r>
            <a:r>
              <a:rPr lang="en-US" sz="2400" b="0" i="1" dirty="0"/>
              <a:t>as these managers futilely struggled through nightmarish projects, </a:t>
            </a:r>
            <a:r>
              <a:rPr lang="en-US" sz="2400" b="0" i="1" dirty="0" smtClean="0"/>
              <a:t>squirmed under </a:t>
            </a:r>
            <a:r>
              <a:rPr lang="en-US" sz="2400" b="0" i="1" dirty="0"/>
              <a:t>impossible deadlines, or delivered systems that outraged their users and </a:t>
            </a:r>
            <a:r>
              <a:rPr lang="en-US" sz="2400" b="0" i="1" dirty="0" smtClean="0"/>
              <a:t>went on </a:t>
            </a:r>
            <a:r>
              <a:rPr lang="en-US" sz="2400" b="0" i="1" dirty="0"/>
              <a:t>to devour huge chunks of maintenance time</a:t>
            </a:r>
            <a:r>
              <a:rPr lang="en-US" sz="2400" b="0" i="1" dirty="0" smtClean="0"/>
              <a:t>.”</a:t>
            </a:r>
          </a:p>
          <a:p>
            <a:pPr marL="0" indent="0" defTabSz="457200">
              <a:lnSpc>
                <a:spcPct val="15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b="0" dirty="0" smtClean="0"/>
              <a:t>[Page-Jones</a:t>
            </a:r>
            <a:r>
              <a:rPr lang="en-US" b="0" dirty="0"/>
              <a:t>, M., </a:t>
            </a:r>
            <a:r>
              <a:rPr lang="en-US" b="0" i="1" dirty="0"/>
              <a:t>Practical Project Management, </a:t>
            </a:r>
            <a:r>
              <a:rPr lang="en-US" b="0" dirty="0"/>
              <a:t>Dorset House, </a:t>
            </a:r>
            <a:r>
              <a:rPr lang="en-US" b="0" dirty="0" smtClean="0"/>
              <a:t>1985]</a:t>
            </a:r>
            <a:endParaRPr lang="it-IT" dirty="0" smtClean="0"/>
          </a:p>
          <a:p>
            <a:pPr marL="0" indent="0"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900" dirty="0" smtClean="0">
              <a:ea typeface="+mn-ea"/>
              <a:cs typeface="+mn-cs"/>
            </a:endParaRPr>
          </a:p>
          <a:p>
            <a:pPr marL="0" indent="0"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smtClean="0"/>
          </a:p>
          <a:p>
            <a:pPr marL="0" indent="0"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lvl="1" defTabSz="457200">
              <a:lnSpc>
                <a:spcPct val="90000"/>
              </a:lnSpc>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lvl="1" defTabSz="457200">
              <a:lnSpc>
                <a:spcPct val="90000"/>
              </a:lnSpc>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marL="0" indent="0">
              <a:buNone/>
            </a:pPr>
            <a:endParaRPr lang="en-US"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18178155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2566326" cy="822305"/>
          </a:xfrm>
        </p:spPr>
        <p:txBody>
          <a:bodyPr/>
          <a:lstStyle/>
          <a:p>
            <a:r>
              <a:rPr lang="fr-FR" dirty="0" smtClean="0"/>
              <a:t> Content</a:t>
            </a:r>
            <a:endParaRPr lang="fr-FR" dirty="0"/>
          </a:p>
        </p:txBody>
      </p:sp>
      <p:sp>
        <p:nvSpPr>
          <p:cNvPr id="18" name="Content Placeholder 17"/>
          <p:cNvSpPr>
            <a:spLocks noGrp="1"/>
          </p:cNvSpPr>
          <p:nvPr>
            <p:ph idx="1"/>
          </p:nvPr>
        </p:nvSpPr>
        <p:spPr>
          <a:xfrm>
            <a:off x="304800" y="1295400"/>
            <a:ext cx="8402086" cy="5077703"/>
          </a:xfrm>
        </p:spPr>
        <p:txBody>
          <a:bodyPr/>
          <a:lstStyle/>
          <a:p>
            <a:pPr marL="0" indent="0" algn="ctr">
              <a:buNone/>
            </a:pPr>
            <a:r>
              <a:rPr lang="en-US" sz="8800" dirty="0" smtClean="0"/>
              <a:t>Part I</a:t>
            </a:r>
            <a:endParaRPr lang="en-US" sz="7200" dirty="0" smtClean="0"/>
          </a:p>
          <a:p>
            <a:pPr marL="0" indent="0" algn="ctr">
              <a:buNone/>
            </a:pPr>
            <a:r>
              <a:rPr lang="en-US" sz="7200" dirty="0" smtClean="0"/>
              <a:t>Key concepts &amp; principles</a:t>
            </a:r>
            <a:endParaRPr lang="en-US" sz="7200" dirty="0"/>
          </a:p>
          <a:p>
            <a:pPr marL="0" indent="0" algn="ctr">
              <a:buNone/>
            </a:pPr>
            <a:endParaRPr lang="it-IT" dirty="0" smtClean="0"/>
          </a:p>
          <a:p>
            <a:pPr marL="0" indent="0" algn="ctr"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900" dirty="0" smtClean="0">
              <a:ea typeface="+mn-ea"/>
              <a:cs typeface="+mn-cs"/>
            </a:endParaRPr>
          </a:p>
          <a:p>
            <a:pPr marL="0" indent="0" algn="ctr"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smtClean="0"/>
          </a:p>
          <a:p>
            <a:pPr marL="0" indent="0" algn="ctr"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lvl="1" algn="ctr" defTabSz="457200">
              <a:lnSpc>
                <a:spcPct val="90000"/>
              </a:lnSpc>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lvl="1" algn="ctr" defTabSz="457200">
              <a:lnSpc>
                <a:spcPct val="90000"/>
              </a:lnSpc>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marL="0" indent="0" algn="ctr">
              <a:buNone/>
            </a:pPr>
            <a:endParaRPr lang="en-US"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14516822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3880108" cy="822305"/>
          </a:xfrm>
        </p:spPr>
        <p:txBody>
          <a:bodyPr/>
          <a:lstStyle/>
          <a:p>
            <a:r>
              <a:rPr lang="fr-FR" dirty="0" smtClean="0"/>
              <a:t>Key concepts</a:t>
            </a:r>
            <a:endParaRPr lang="fr-FR" dirty="0"/>
          </a:p>
        </p:txBody>
      </p:sp>
      <p:sp>
        <p:nvSpPr>
          <p:cNvPr id="18" name="Content Placeholder 17"/>
          <p:cNvSpPr>
            <a:spLocks noGrp="1"/>
          </p:cNvSpPr>
          <p:nvPr>
            <p:ph idx="1"/>
          </p:nvPr>
        </p:nvSpPr>
        <p:spPr>
          <a:xfrm>
            <a:off x="304800" y="914400"/>
            <a:ext cx="8402086" cy="5340749"/>
          </a:xfrm>
        </p:spPr>
        <p:txBody>
          <a:bodyPr/>
          <a:lstStyle/>
          <a:p>
            <a:r>
              <a:rPr lang="en-US" sz="4000" dirty="0" smtClean="0">
                <a:latin typeface="+mj-lt"/>
              </a:rPr>
              <a:t>The People</a:t>
            </a:r>
          </a:p>
          <a:p>
            <a:r>
              <a:rPr lang="en-US" sz="4000" dirty="0" smtClean="0">
                <a:latin typeface="+mj-lt"/>
              </a:rPr>
              <a:t>The Product</a:t>
            </a:r>
          </a:p>
          <a:p>
            <a:r>
              <a:rPr lang="en-US" sz="4000" dirty="0" smtClean="0">
                <a:latin typeface="+mj-lt"/>
              </a:rPr>
              <a:t>The Process</a:t>
            </a:r>
          </a:p>
          <a:p>
            <a:r>
              <a:rPr lang="en-US" sz="4000" dirty="0" smtClean="0">
                <a:latin typeface="+mj-lt"/>
              </a:rPr>
              <a:t>The Project</a:t>
            </a:r>
          </a:p>
          <a:p>
            <a:endParaRPr lang="en-US" sz="2800" dirty="0" smtClean="0">
              <a:latin typeface="+mj-lt"/>
            </a:endParaRPr>
          </a:p>
          <a:p>
            <a:endParaRPr lang="en-US" sz="2800" dirty="0" smtClean="0">
              <a:latin typeface="+mj-lt"/>
            </a:endParaRPr>
          </a:p>
          <a:p>
            <a:pPr lvl="1" defTabSz="457200">
              <a:lnSpc>
                <a:spcPct val="90000"/>
              </a:lnSpc>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dirty="0" smtClean="0">
              <a:latin typeface="+mj-lt"/>
            </a:endParaRPr>
          </a:p>
          <a:p>
            <a:pPr marL="0" indent="0">
              <a:buNone/>
            </a:pPr>
            <a:endParaRPr lang="en-US" sz="2800" dirty="0">
              <a:latin typeface="+mj-lt"/>
            </a:endParaRPr>
          </a:p>
        </p:txBody>
      </p:sp>
      <p:sp>
        <p:nvSpPr>
          <p:cNvPr id="3" name="Slide Number Placeholder 2"/>
          <p:cNvSpPr>
            <a:spLocks noGrp="1"/>
          </p:cNvSpPr>
          <p:nvPr>
            <p:ph type="sldNum" sz="quarter" idx="11"/>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41971913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4325269" cy="822305"/>
          </a:xfrm>
        </p:spPr>
        <p:txBody>
          <a:bodyPr/>
          <a:lstStyle/>
          <a:p>
            <a:r>
              <a:rPr lang="fr-FR" dirty="0" smtClean="0"/>
              <a:t>People - </a:t>
            </a:r>
            <a:r>
              <a:rPr lang="fr-FR" dirty="0" err="1" smtClean="0"/>
              <a:t>Players</a:t>
            </a:r>
            <a:endParaRPr lang="fr-FR" dirty="0"/>
          </a:p>
        </p:txBody>
      </p:sp>
      <p:sp>
        <p:nvSpPr>
          <p:cNvPr id="18" name="Content Placeholder 17"/>
          <p:cNvSpPr>
            <a:spLocks noGrp="1"/>
          </p:cNvSpPr>
          <p:nvPr>
            <p:ph idx="1"/>
          </p:nvPr>
        </p:nvSpPr>
        <p:spPr>
          <a:xfrm>
            <a:off x="304800" y="914400"/>
            <a:ext cx="8402086" cy="5340749"/>
          </a:xfrm>
        </p:spPr>
        <p:txBody>
          <a:bodyPr/>
          <a:lstStyle/>
          <a:p>
            <a:r>
              <a:rPr lang="en-US" sz="2800" dirty="0" smtClean="0">
                <a:latin typeface="+mj-lt"/>
              </a:rPr>
              <a:t>Senior managers </a:t>
            </a:r>
            <a:r>
              <a:rPr lang="en-US" sz="2800" b="0" dirty="0" smtClean="0">
                <a:latin typeface="+mj-lt"/>
              </a:rPr>
              <a:t>who define the business issues</a:t>
            </a:r>
          </a:p>
          <a:p>
            <a:r>
              <a:rPr lang="en-US" sz="2800" dirty="0" smtClean="0">
                <a:latin typeface="+mj-lt"/>
              </a:rPr>
              <a:t>Project (technical) managers </a:t>
            </a:r>
            <a:r>
              <a:rPr lang="en-US" sz="2800" b="0" dirty="0" smtClean="0">
                <a:latin typeface="+mj-lt"/>
              </a:rPr>
              <a:t>who must plan, motivate, organize, and control the practitioners who do software work.</a:t>
            </a:r>
          </a:p>
          <a:p>
            <a:r>
              <a:rPr lang="en-US" sz="2800" dirty="0" smtClean="0">
                <a:latin typeface="+mj-lt"/>
              </a:rPr>
              <a:t>Practitioners </a:t>
            </a:r>
            <a:r>
              <a:rPr lang="en-US" sz="2800" b="0" dirty="0" smtClean="0">
                <a:latin typeface="+mj-lt"/>
              </a:rPr>
              <a:t>who deliver the technical skills that are necessary to engineer a product or application.</a:t>
            </a:r>
          </a:p>
          <a:p>
            <a:r>
              <a:rPr lang="en-US" sz="2800" dirty="0" smtClean="0">
                <a:latin typeface="+mj-lt"/>
              </a:rPr>
              <a:t>Customers </a:t>
            </a:r>
            <a:r>
              <a:rPr lang="en-US" sz="2800" b="0" dirty="0" smtClean="0">
                <a:latin typeface="+mj-lt"/>
              </a:rPr>
              <a:t>who specify the requirements for the software to be engineered</a:t>
            </a:r>
          </a:p>
          <a:p>
            <a:r>
              <a:rPr lang="en-US" sz="2800" dirty="0" smtClean="0">
                <a:latin typeface="+mj-lt"/>
              </a:rPr>
              <a:t>End-users </a:t>
            </a:r>
            <a:r>
              <a:rPr lang="en-US" sz="2800" b="0" dirty="0" smtClean="0">
                <a:latin typeface="+mj-lt"/>
              </a:rPr>
              <a:t>who interact with the software once it is released for production use.</a:t>
            </a:r>
            <a:endParaRPr lang="en-US" sz="2800" dirty="0" smtClean="0">
              <a:latin typeface="+mj-lt"/>
            </a:endParaRPr>
          </a:p>
          <a:p>
            <a:pPr lvl="1" defTabSz="457200">
              <a:lnSpc>
                <a:spcPct val="90000"/>
              </a:lnSpc>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dirty="0" smtClean="0">
              <a:latin typeface="+mj-lt"/>
            </a:endParaRPr>
          </a:p>
          <a:p>
            <a:pPr lvl="1" defTabSz="457200">
              <a:lnSpc>
                <a:spcPct val="90000"/>
              </a:lnSpc>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dirty="0" smtClean="0">
              <a:latin typeface="+mj-lt"/>
            </a:endParaRPr>
          </a:p>
          <a:p>
            <a:pPr marL="0" indent="0">
              <a:buNone/>
            </a:pPr>
            <a:endParaRPr lang="en-US" sz="2800" dirty="0">
              <a:latin typeface="+mj-lt"/>
            </a:endParaRPr>
          </a:p>
        </p:txBody>
      </p:sp>
      <p:sp>
        <p:nvSpPr>
          <p:cNvPr id="3" name="Slide Number Placeholder 2"/>
          <p:cNvSpPr>
            <a:spLocks noGrp="1"/>
          </p:cNvSpPr>
          <p:nvPr>
            <p:ph type="sldNum" sz="quarter" idx="11"/>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1682904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5550779" cy="822305"/>
          </a:xfrm>
        </p:spPr>
        <p:txBody>
          <a:bodyPr/>
          <a:lstStyle/>
          <a:p>
            <a:r>
              <a:rPr lang="fr-FR" dirty="0" smtClean="0"/>
              <a:t>People – Team leader</a:t>
            </a:r>
            <a:endParaRPr lang="fr-FR" dirty="0"/>
          </a:p>
        </p:txBody>
      </p:sp>
      <p:sp>
        <p:nvSpPr>
          <p:cNvPr id="18" name="Content Placeholder 17"/>
          <p:cNvSpPr>
            <a:spLocks noGrp="1"/>
          </p:cNvSpPr>
          <p:nvPr>
            <p:ph idx="1"/>
          </p:nvPr>
        </p:nvSpPr>
        <p:spPr>
          <a:xfrm>
            <a:off x="304800" y="914400"/>
            <a:ext cx="8402086" cy="5340749"/>
          </a:xfrm>
        </p:spPr>
        <p:txBody>
          <a:bodyPr/>
          <a:lstStyle/>
          <a:p>
            <a:r>
              <a:rPr lang="en-US" sz="2800" dirty="0"/>
              <a:t>Motivation. </a:t>
            </a:r>
            <a:r>
              <a:rPr lang="en-US" sz="2800" b="0" dirty="0"/>
              <a:t>The ability to encourage (by “push or pull”) technical people </a:t>
            </a:r>
            <a:r>
              <a:rPr lang="en-US" sz="2800" b="0" dirty="0" smtClean="0"/>
              <a:t>to produce </a:t>
            </a:r>
            <a:r>
              <a:rPr lang="en-US" sz="2800" b="0" dirty="0"/>
              <a:t>to their best ability.</a:t>
            </a:r>
          </a:p>
          <a:p>
            <a:r>
              <a:rPr lang="en-US" sz="2800" dirty="0"/>
              <a:t>Organization. </a:t>
            </a:r>
            <a:r>
              <a:rPr lang="en-US" sz="2800" b="0" dirty="0"/>
              <a:t>The ability to mold existing processes (or invent new ones) </a:t>
            </a:r>
            <a:r>
              <a:rPr lang="en-US" sz="2800" b="0" dirty="0" smtClean="0"/>
              <a:t>that will </a:t>
            </a:r>
            <a:r>
              <a:rPr lang="en-US" sz="2800" b="0" dirty="0"/>
              <a:t>enable the initial concept to be translated into a final product.</a:t>
            </a:r>
          </a:p>
          <a:p>
            <a:r>
              <a:rPr lang="en-US" sz="2800" dirty="0"/>
              <a:t>Ideas or innovation. </a:t>
            </a:r>
            <a:r>
              <a:rPr lang="en-US" sz="2800" b="0" dirty="0"/>
              <a:t>The ability to encourage people to create and feel </a:t>
            </a:r>
            <a:r>
              <a:rPr lang="en-US" sz="2800" b="0" dirty="0" smtClean="0"/>
              <a:t>creative even </a:t>
            </a:r>
            <a:r>
              <a:rPr lang="en-US" sz="2800" b="0" dirty="0"/>
              <a:t>when they must work within bounds established for a particular </a:t>
            </a:r>
            <a:r>
              <a:rPr lang="en-US" sz="2800" b="0" dirty="0" smtClean="0"/>
              <a:t>software product </a:t>
            </a:r>
            <a:r>
              <a:rPr lang="en-US" sz="2800" b="0" dirty="0"/>
              <a:t>or application.</a:t>
            </a:r>
            <a:endParaRPr lang="en-US" sz="2800" dirty="0" smtClean="0">
              <a:latin typeface="+mj-lt"/>
            </a:endParaRPr>
          </a:p>
          <a:p>
            <a:pPr lvl="1" defTabSz="457200">
              <a:lnSpc>
                <a:spcPct val="90000"/>
              </a:lnSpc>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dirty="0" smtClean="0">
              <a:latin typeface="+mj-lt"/>
            </a:endParaRPr>
          </a:p>
          <a:p>
            <a:pPr marL="0" indent="0">
              <a:buNone/>
            </a:pPr>
            <a:endParaRPr lang="en-US" sz="2800" dirty="0">
              <a:latin typeface="+mj-lt"/>
            </a:endParaRPr>
          </a:p>
        </p:txBody>
      </p:sp>
      <p:sp>
        <p:nvSpPr>
          <p:cNvPr id="3" name="Slide Number Placeholder 2"/>
          <p:cNvSpPr>
            <a:spLocks noGrp="1"/>
          </p:cNvSpPr>
          <p:nvPr>
            <p:ph type="sldNum" sz="quarter" idx="11"/>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41342785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6196805" cy="822305"/>
          </a:xfrm>
        </p:spPr>
        <p:txBody>
          <a:bodyPr/>
          <a:lstStyle/>
          <a:p>
            <a:r>
              <a:rPr lang="fr-FR" dirty="0" smtClean="0"/>
              <a:t>People – Software Team</a:t>
            </a:r>
            <a:endParaRPr lang="fr-FR" dirty="0"/>
          </a:p>
        </p:txBody>
      </p:sp>
      <p:sp>
        <p:nvSpPr>
          <p:cNvPr id="18" name="Content Placeholder 17"/>
          <p:cNvSpPr>
            <a:spLocks noGrp="1"/>
          </p:cNvSpPr>
          <p:nvPr>
            <p:ph idx="1"/>
          </p:nvPr>
        </p:nvSpPr>
        <p:spPr>
          <a:xfrm>
            <a:off x="304800" y="914400"/>
            <a:ext cx="8402086" cy="5340749"/>
          </a:xfrm>
        </p:spPr>
        <p:txBody>
          <a:bodyPr/>
          <a:lstStyle/>
          <a:p>
            <a:pPr marL="0" indent="0">
              <a:buNone/>
            </a:pPr>
            <a:r>
              <a:rPr lang="en-US" sz="2400" b="0" dirty="0" smtClean="0"/>
              <a:t>A </a:t>
            </a:r>
            <a:r>
              <a:rPr lang="en-US" sz="2400" b="0" dirty="0"/>
              <a:t>project </a:t>
            </a:r>
            <a:r>
              <a:rPr lang="en-US" sz="2400" b="0" dirty="0" smtClean="0"/>
              <a:t>that will </a:t>
            </a:r>
            <a:r>
              <a:rPr lang="en-US" sz="2400" b="0" dirty="0"/>
              <a:t>require </a:t>
            </a:r>
            <a:r>
              <a:rPr lang="en-US" sz="2400" b="0" i="1" dirty="0"/>
              <a:t>n </a:t>
            </a:r>
            <a:r>
              <a:rPr lang="en-US" sz="2400" b="0" dirty="0"/>
              <a:t>people working for </a:t>
            </a:r>
            <a:r>
              <a:rPr lang="en-US" sz="2400" b="0" i="1" dirty="0"/>
              <a:t>k </a:t>
            </a:r>
            <a:r>
              <a:rPr lang="en-US" sz="2400" b="0" dirty="0"/>
              <a:t>years:</a:t>
            </a:r>
          </a:p>
          <a:p>
            <a:pPr marL="0" indent="0">
              <a:buNone/>
            </a:pPr>
            <a:r>
              <a:rPr lang="en-US" sz="2400" dirty="0"/>
              <a:t>1. </a:t>
            </a:r>
            <a:r>
              <a:rPr lang="en-US" sz="2400" b="0" i="1" dirty="0"/>
              <a:t>n </a:t>
            </a:r>
            <a:r>
              <a:rPr lang="en-US" sz="2400" b="0" dirty="0"/>
              <a:t>individuals are assigned to </a:t>
            </a:r>
            <a:r>
              <a:rPr lang="en-US" sz="2400" b="0" i="1" dirty="0"/>
              <a:t>m </a:t>
            </a:r>
            <a:r>
              <a:rPr lang="en-US" sz="2400" b="0" dirty="0"/>
              <a:t>different functional tasks, relatively </a:t>
            </a:r>
            <a:r>
              <a:rPr lang="en-US" sz="2400" b="0" dirty="0" smtClean="0"/>
              <a:t>little combined </a:t>
            </a:r>
            <a:r>
              <a:rPr lang="en-US" sz="2400" b="0" dirty="0"/>
              <a:t>work occurs; coordination is the responsibility of a software </a:t>
            </a:r>
            <a:r>
              <a:rPr lang="en-US" sz="2400" b="0" dirty="0" smtClean="0"/>
              <a:t>manager who </a:t>
            </a:r>
            <a:r>
              <a:rPr lang="en-US" sz="2400" b="0" dirty="0"/>
              <a:t>may </a:t>
            </a:r>
            <a:r>
              <a:rPr lang="en-US" sz="2400" b="0" dirty="0" smtClean="0"/>
              <a:t>have </a:t>
            </a:r>
            <a:r>
              <a:rPr lang="en-US" sz="2400" b="0" dirty="0"/>
              <a:t>other projects to be </a:t>
            </a:r>
            <a:r>
              <a:rPr lang="en-US" sz="2400" b="0"/>
              <a:t>concerned </a:t>
            </a:r>
            <a:r>
              <a:rPr lang="en-US" sz="2400" b="0" smtClean="0"/>
              <a:t>with</a:t>
            </a:r>
            <a:endParaRPr lang="en-US" sz="2400" b="0" dirty="0"/>
          </a:p>
          <a:p>
            <a:pPr marL="0" indent="0">
              <a:buNone/>
            </a:pPr>
            <a:r>
              <a:rPr lang="en-US" sz="2400" dirty="0"/>
              <a:t>2. </a:t>
            </a:r>
            <a:r>
              <a:rPr lang="en-US" sz="2400" b="0" i="1" dirty="0"/>
              <a:t>n </a:t>
            </a:r>
            <a:r>
              <a:rPr lang="en-US" sz="2400" b="0" dirty="0"/>
              <a:t>individuals are assigned to </a:t>
            </a:r>
            <a:r>
              <a:rPr lang="en-US" sz="2400" b="0" i="1" dirty="0"/>
              <a:t>m </a:t>
            </a:r>
            <a:r>
              <a:rPr lang="en-US" sz="2400" b="0" dirty="0"/>
              <a:t>different functional tasks ( </a:t>
            </a:r>
            <a:r>
              <a:rPr lang="en-US" sz="2400" b="0" i="1" dirty="0"/>
              <a:t>m </a:t>
            </a:r>
            <a:r>
              <a:rPr lang="en-US" sz="2400" b="0" dirty="0"/>
              <a:t>&lt; </a:t>
            </a:r>
            <a:r>
              <a:rPr lang="en-US" sz="2400" b="0" i="1" dirty="0"/>
              <a:t>n </a:t>
            </a:r>
            <a:r>
              <a:rPr lang="en-US" sz="2400" b="0" dirty="0"/>
              <a:t>) so </a:t>
            </a:r>
            <a:r>
              <a:rPr lang="en-US" sz="2400" b="0" dirty="0" smtClean="0"/>
              <a:t>that informal </a:t>
            </a:r>
            <a:r>
              <a:rPr lang="en-US" sz="2400" b="0" dirty="0"/>
              <a:t>"teams" are established; an ad hoc team leader may be </a:t>
            </a:r>
            <a:r>
              <a:rPr lang="en-US" sz="2400" b="0" dirty="0" smtClean="0"/>
              <a:t>appointed; coordination </a:t>
            </a:r>
            <a:r>
              <a:rPr lang="en-US" sz="2400" b="0" dirty="0"/>
              <a:t>among teams is the responsibility of a software </a:t>
            </a:r>
            <a:r>
              <a:rPr lang="en-US" sz="2400" b="0" dirty="0" smtClean="0"/>
              <a:t>manager</a:t>
            </a:r>
            <a:endParaRPr lang="en-US" sz="2400" b="0" dirty="0"/>
          </a:p>
          <a:p>
            <a:pPr marL="0" indent="0">
              <a:buNone/>
            </a:pPr>
            <a:r>
              <a:rPr lang="en-US" sz="2400" dirty="0"/>
              <a:t>3. </a:t>
            </a:r>
            <a:r>
              <a:rPr lang="en-US" sz="2400" b="0" i="1" dirty="0"/>
              <a:t>n </a:t>
            </a:r>
            <a:r>
              <a:rPr lang="en-US" sz="2400" b="0" dirty="0"/>
              <a:t>individuals are organized into </a:t>
            </a:r>
            <a:r>
              <a:rPr lang="en-US" sz="2400" b="0" i="1" dirty="0"/>
              <a:t>t </a:t>
            </a:r>
            <a:r>
              <a:rPr lang="en-US" sz="2400" b="0" dirty="0"/>
              <a:t>teams; each team is assigned one or </a:t>
            </a:r>
            <a:r>
              <a:rPr lang="en-US" sz="2400" b="0" dirty="0" smtClean="0"/>
              <a:t>more functional </a:t>
            </a:r>
            <a:r>
              <a:rPr lang="en-US" sz="2400" b="0" dirty="0"/>
              <a:t>tasks; each team has a specific structure that is defined for </a:t>
            </a:r>
            <a:r>
              <a:rPr lang="en-US" sz="2400" b="0" dirty="0" smtClean="0"/>
              <a:t>all teams </a:t>
            </a:r>
            <a:r>
              <a:rPr lang="en-US" sz="2400" b="0" dirty="0"/>
              <a:t>working on a project; coordination is controlled by both the team and</a:t>
            </a:r>
          </a:p>
          <a:p>
            <a:pPr marL="0" indent="0">
              <a:buNone/>
            </a:pPr>
            <a:r>
              <a:rPr lang="en-US" sz="2400" b="0" dirty="0"/>
              <a:t>a software project </a:t>
            </a:r>
            <a:r>
              <a:rPr lang="en-US" sz="2400" b="0" dirty="0" smtClean="0"/>
              <a:t>manager</a:t>
            </a:r>
            <a:endParaRPr lang="en-US" sz="2400" dirty="0" smtClean="0">
              <a:latin typeface="+mj-lt"/>
            </a:endParaRPr>
          </a:p>
          <a:p>
            <a:pPr marL="442912" lvl="1" indent="0"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400" dirty="0" smtClean="0">
              <a:latin typeface="+mj-lt"/>
            </a:endParaRPr>
          </a:p>
          <a:p>
            <a:pPr marL="0" indent="0">
              <a:buNone/>
            </a:pPr>
            <a:endParaRPr lang="en-US" sz="2400" dirty="0">
              <a:latin typeface="+mj-lt"/>
            </a:endParaRPr>
          </a:p>
        </p:txBody>
      </p:sp>
      <p:sp>
        <p:nvSpPr>
          <p:cNvPr id="3" name="Slide Number Placeholder 2"/>
          <p:cNvSpPr>
            <a:spLocks noGrp="1"/>
          </p:cNvSpPr>
          <p:nvPr>
            <p:ph type="sldNum" sz="quarter" idx="11"/>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21373093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6196805" cy="822305"/>
          </a:xfrm>
        </p:spPr>
        <p:txBody>
          <a:bodyPr/>
          <a:lstStyle/>
          <a:p>
            <a:r>
              <a:rPr lang="fr-FR" dirty="0" smtClean="0"/>
              <a:t>People – Software Team</a:t>
            </a:r>
            <a:endParaRPr lang="fr-FR" dirty="0"/>
          </a:p>
        </p:txBody>
      </p:sp>
      <p:sp>
        <p:nvSpPr>
          <p:cNvPr id="18" name="Content Placeholder 17"/>
          <p:cNvSpPr>
            <a:spLocks noGrp="1"/>
          </p:cNvSpPr>
          <p:nvPr>
            <p:ph idx="1"/>
          </p:nvPr>
        </p:nvSpPr>
        <p:spPr>
          <a:xfrm>
            <a:off x="304800" y="914400"/>
            <a:ext cx="8402086" cy="5340749"/>
          </a:xfrm>
        </p:spPr>
        <p:txBody>
          <a:bodyPr/>
          <a:lstStyle/>
          <a:p>
            <a:r>
              <a:rPr lang="en-US" sz="2800" b="0" dirty="0"/>
              <a:t>To achieve </a:t>
            </a:r>
            <a:r>
              <a:rPr lang="en-US" sz="2800" b="0" dirty="0" smtClean="0"/>
              <a:t>a high-performance </a:t>
            </a:r>
            <a:r>
              <a:rPr lang="en-US" sz="2800" b="0" dirty="0"/>
              <a:t>team:</a:t>
            </a:r>
          </a:p>
          <a:p>
            <a:pPr marL="442912" lvl="1" indent="0">
              <a:buNone/>
            </a:pPr>
            <a:r>
              <a:rPr lang="en-US" sz="2800" b="0" dirty="0"/>
              <a:t>• </a:t>
            </a:r>
            <a:r>
              <a:rPr lang="en-US" sz="2800" b="0" dirty="0" smtClean="0"/>
              <a:t>Team members </a:t>
            </a:r>
            <a:r>
              <a:rPr lang="en-US" sz="2800" b="0" dirty="0"/>
              <a:t>must have trust in one another.</a:t>
            </a:r>
          </a:p>
          <a:p>
            <a:pPr marL="442912" lvl="1" indent="0">
              <a:buNone/>
            </a:pPr>
            <a:r>
              <a:rPr lang="en-US" sz="2800" b="0" dirty="0"/>
              <a:t>• The distribution of skills must be appropriate to the problem.</a:t>
            </a:r>
          </a:p>
          <a:p>
            <a:pPr marL="442912" lvl="1" indent="0">
              <a:buNone/>
            </a:pPr>
            <a:r>
              <a:rPr lang="en-US" sz="2800" b="0" dirty="0"/>
              <a:t>• Mavericks may have to be excluded from the team, if team cohesiveness is </a:t>
            </a:r>
            <a:r>
              <a:rPr lang="en-US" sz="2800" b="0" dirty="0" smtClean="0"/>
              <a:t>to be </a:t>
            </a:r>
            <a:r>
              <a:rPr lang="en-US" sz="2800" b="0" dirty="0"/>
              <a:t>maintained.</a:t>
            </a:r>
            <a:endParaRPr lang="en-US" sz="2800" dirty="0" smtClean="0">
              <a:latin typeface="+mj-lt"/>
            </a:endParaRPr>
          </a:p>
          <a:p>
            <a:pPr marL="0" indent="0">
              <a:buNone/>
            </a:pPr>
            <a:endParaRPr lang="en-US" sz="2400" dirty="0">
              <a:latin typeface="+mj-lt"/>
            </a:endParaRPr>
          </a:p>
        </p:txBody>
      </p:sp>
      <p:sp>
        <p:nvSpPr>
          <p:cNvPr id="3" name="Slide Number Placeholder 2"/>
          <p:cNvSpPr>
            <a:spLocks noGrp="1"/>
          </p:cNvSpPr>
          <p:nvPr>
            <p:ph type="sldNum" sz="quarter" idx="11"/>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17200219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63" y="188129"/>
            <a:ext cx="6030303" cy="822305"/>
          </a:xfrm>
        </p:spPr>
        <p:txBody>
          <a:bodyPr/>
          <a:lstStyle/>
          <a:p>
            <a:r>
              <a:rPr lang="en-US" dirty="0" smtClean="0"/>
              <a:t>Key concepts - Product</a:t>
            </a:r>
            <a:endParaRPr lang="en-US" dirty="0"/>
          </a:p>
        </p:txBody>
      </p:sp>
      <p:sp>
        <p:nvSpPr>
          <p:cNvPr id="3" name="Content Placeholder 2"/>
          <p:cNvSpPr>
            <a:spLocks noGrp="1"/>
          </p:cNvSpPr>
          <p:nvPr>
            <p:ph idx="1"/>
          </p:nvPr>
        </p:nvSpPr>
        <p:spPr/>
        <p:txBody>
          <a:bodyPr/>
          <a:lstStyle/>
          <a:p>
            <a:r>
              <a:rPr lang="en-US" b="0" dirty="0"/>
              <a:t>Scope is defined by answering the following questions: </a:t>
            </a:r>
          </a:p>
          <a:p>
            <a:pPr lvl="1"/>
            <a:r>
              <a:rPr lang="en-US" b="0" dirty="0"/>
              <a:t>Context. </a:t>
            </a:r>
            <a:endParaRPr lang="en-US" b="0" dirty="0" smtClean="0"/>
          </a:p>
          <a:p>
            <a:pPr lvl="2"/>
            <a:r>
              <a:rPr lang="en-US" b="0" dirty="0" smtClean="0"/>
              <a:t>How </a:t>
            </a:r>
            <a:r>
              <a:rPr lang="en-US" b="0" dirty="0"/>
              <a:t>does the software to be built fit into a larger system, product, or business context and what constraints are imposed as a result of the context</a:t>
            </a:r>
            <a:r>
              <a:rPr lang="en-US" b="0" dirty="0" smtClean="0"/>
              <a:t>?</a:t>
            </a:r>
          </a:p>
          <a:p>
            <a:pPr lvl="1"/>
            <a:r>
              <a:rPr lang="en-US" b="0" dirty="0" smtClean="0"/>
              <a:t> </a:t>
            </a:r>
            <a:r>
              <a:rPr lang="en-US" b="0" dirty="0"/>
              <a:t>Information objectives. </a:t>
            </a:r>
            <a:endParaRPr lang="en-US" b="0" dirty="0" smtClean="0"/>
          </a:p>
          <a:p>
            <a:pPr lvl="2"/>
            <a:r>
              <a:rPr lang="en-US" b="0" dirty="0" smtClean="0"/>
              <a:t>What </a:t>
            </a:r>
            <a:r>
              <a:rPr lang="en-US" b="0" dirty="0"/>
              <a:t>customer-visible data objects </a:t>
            </a:r>
            <a:r>
              <a:rPr lang="en-US" b="0" dirty="0" smtClean="0"/>
              <a:t>are </a:t>
            </a:r>
            <a:r>
              <a:rPr lang="en-US" b="0" dirty="0"/>
              <a:t>produced as output from the software? What data objects are required for input</a:t>
            </a:r>
            <a:r>
              <a:rPr lang="en-US" b="0" dirty="0" smtClean="0"/>
              <a:t>?</a:t>
            </a:r>
          </a:p>
          <a:p>
            <a:pPr lvl="1"/>
            <a:r>
              <a:rPr lang="en-US" b="0" dirty="0" smtClean="0"/>
              <a:t> </a:t>
            </a:r>
            <a:r>
              <a:rPr lang="en-US" b="0" dirty="0"/>
              <a:t>Function and performance. </a:t>
            </a:r>
            <a:endParaRPr lang="en-US" b="0" dirty="0" smtClean="0"/>
          </a:p>
          <a:p>
            <a:pPr lvl="2"/>
            <a:r>
              <a:rPr lang="en-US" b="0" dirty="0" smtClean="0"/>
              <a:t>What </a:t>
            </a:r>
            <a:r>
              <a:rPr lang="en-US" b="0" dirty="0"/>
              <a:t>function does the software perform to transform input data into output? Are any special performance characteristics to be addressed</a:t>
            </a:r>
            <a:r>
              <a:rPr lang="en-US" b="0" dirty="0" smtClean="0"/>
              <a:t>?</a:t>
            </a:r>
          </a:p>
          <a:p>
            <a:r>
              <a:rPr lang="en-US" b="0" dirty="0"/>
              <a:t>Problem decomposition, </a:t>
            </a:r>
            <a:r>
              <a:rPr lang="en-US" b="0" dirty="0" smtClean="0"/>
              <a:t>is </a:t>
            </a:r>
            <a:r>
              <a:rPr lang="en-US" b="0" dirty="0"/>
              <a:t>an activity that sits at the core of software requirements analysis </a:t>
            </a:r>
          </a:p>
          <a:p>
            <a:endParaRPr lang="en-US" dirty="0"/>
          </a:p>
          <a:p>
            <a:endParaRPr lang="en-US" dirty="0"/>
          </a:p>
        </p:txBody>
      </p:sp>
      <p:sp>
        <p:nvSpPr>
          <p:cNvPr id="4" name="Slide Number Placeholder 3"/>
          <p:cNvSpPr>
            <a:spLocks noGrp="1"/>
          </p:cNvSpPr>
          <p:nvPr>
            <p:ph type="sldNum" sz="quarter" idx="11"/>
          </p:nvPr>
        </p:nvSpPr>
        <p:spPr/>
        <p:txBody>
          <a:bodyPr/>
          <a:lstStyle/>
          <a:p>
            <a:fld id="{B6F15528-21DE-4FAA-801E-634DDDAF4B2B}" type="slidenum">
              <a:rPr lang="en-US" smtClean="0"/>
              <a:pPr/>
              <a:t>10</a:t>
            </a:fld>
            <a:endParaRPr lang="en-US" dirty="0"/>
          </a:p>
        </p:txBody>
      </p:sp>
    </p:spTree>
    <p:extLst>
      <p:ext uri="{BB962C8B-B14F-4D97-AF65-F5344CB8AC3E}">
        <p14:creationId xmlns:p14="http://schemas.microsoft.com/office/powerpoint/2010/main" val="19828910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6086914" cy="822305"/>
          </a:xfrm>
        </p:spPr>
        <p:txBody>
          <a:bodyPr/>
          <a:lstStyle/>
          <a:p>
            <a:r>
              <a:rPr lang="fr-FR" dirty="0" smtClean="0"/>
              <a:t>Key concepts - </a:t>
            </a:r>
            <a:r>
              <a:rPr lang="fr-FR" dirty="0" err="1" smtClean="0"/>
              <a:t>Process</a:t>
            </a:r>
            <a:endParaRPr lang="fr-FR" dirty="0"/>
          </a:p>
        </p:txBody>
      </p:sp>
      <p:sp>
        <p:nvSpPr>
          <p:cNvPr id="18" name="Content Placeholder 17"/>
          <p:cNvSpPr>
            <a:spLocks noGrp="1"/>
          </p:cNvSpPr>
          <p:nvPr>
            <p:ph idx="1"/>
          </p:nvPr>
        </p:nvSpPr>
        <p:spPr>
          <a:xfrm>
            <a:off x="304800" y="914400"/>
            <a:ext cx="8402086" cy="5340749"/>
          </a:xfrm>
        </p:spPr>
        <p:txBody>
          <a:bodyPr/>
          <a:lstStyle/>
          <a:p>
            <a:r>
              <a:rPr lang="en-US" sz="2800" b="0" dirty="0" smtClean="0"/>
              <a:t>the linear sequential model</a:t>
            </a:r>
          </a:p>
          <a:p>
            <a:r>
              <a:rPr lang="en-US" sz="2800" b="0" dirty="0" smtClean="0"/>
              <a:t>the prototyping model</a:t>
            </a:r>
          </a:p>
          <a:p>
            <a:r>
              <a:rPr lang="en-US" sz="2800" b="0" dirty="0" smtClean="0"/>
              <a:t>the incremental model</a:t>
            </a:r>
          </a:p>
          <a:p>
            <a:r>
              <a:rPr lang="en-US" sz="2800" b="0" dirty="0" smtClean="0"/>
              <a:t>the Spiral model</a:t>
            </a:r>
          </a:p>
          <a:p>
            <a:r>
              <a:rPr lang="en-US" sz="2800" b="0" dirty="0" smtClean="0"/>
              <a:t>the component-based development model</a:t>
            </a:r>
          </a:p>
          <a:p>
            <a:r>
              <a:rPr lang="en-US" sz="2800" b="0" dirty="0" smtClean="0"/>
              <a:t>the fourth generation techniques model</a:t>
            </a:r>
            <a:endParaRPr lang="en-US" sz="2800" dirty="0" smtClean="0">
              <a:latin typeface="+mj-lt"/>
            </a:endParaRPr>
          </a:p>
          <a:p>
            <a:pPr lvl="1" defTabSz="457200">
              <a:lnSpc>
                <a:spcPct val="90000"/>
              </a:lnSpc>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800" dirty="0" smtClean="0">
              <a:latin typeface="+mj-lt"/>
            </a:endParaRPr>
          </a:p>
          <a:p>
            <a:pPr marL="0" indent="0">
              <a:buNone/>
            </a:pPr>
            <a:endParaRPr lang="en-US" sz="2800" dirty="0">
              <a:latin typeface="+mj-lt"/>
            </a:endParaRPr>
          </a:p>
        </p:txBody>
      </p:sp>
      <p:sp>
        <p:nvSpPr>
          <p:cNvPr id="3" name="Slide Number Placeholder 2"/>
          <p:cNvSpPr>
            <a:spLocks noGrp="1"/>
          </p:cNvSpPr>
          <p:nvPr>
            <p:ph type="sldNum" sz="quarter" idx="11"/>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36663293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7862846" cy="822305"/>
          </a:xfrm>
        </p:spPr>
        <p:txBody>
          <a:bodyPr/>
          <a:lstStyle/>
          <a:p>
            <a:r>
              <a:rPr lang="fr-FR" dirty="0" smtClean="0"/>
              <a:t> </a:t>
            </a:r>
            <a:r>
              <a:rPr lang="fr-FR" dirty="0" err="1" smtClean="0"/>
              <a:t>Process</a:t>
            </a:r>
            <a:r>
              <a:rPr lang="fr-FR" dirty="0" smtClean="0"/>
              <a:t> - Framework </a:t>
            </a:r>
            <a:r>
              <a:rPr lang="fr-FR" dirty="0" err="1" smtClean="0"/>
              <a:t>activities</a:t>
            </a:r>
            <a:endParaRPr lang="fr-FR" dirty="0"/>
          </a:p>
        </p:txBody>
      </p:sp>
      <p:sp>
        <p:nvSpPr>
          <p:cNvPr id="18" name="Content Placeholder 17"/>
          <p:cNvSpPr>
            <a:spLocks noGrp="1"/>
          </p:cNvSpPr>
          <p:nvPr>
            <p:ph idx="1"/>
          </p:nvPr>
        </p:nvSpPr>
        <p:spPr>
          <a:xfrm>
            <a:off x="304800" y="838200"/>
            <a:ext cx="8686800" cy="5077703"/>
          </a:xfrm>
        </p:spPr>
        <p:txBody>
          <a:bodyPr/>
          <a:lstStyle/>
          <a:p>
            <a:r>
              <a:rPr lang="en-US" sz="2300" b="0" i="1" dirty="0"/>
              <a:t>Customer communication</a:t>
            </a:r>
            <a:r>
              <a:rPr lang="en-US" sz="2300" b="0" dirty="0"/>
              <a:t>—tasks required to establish effective </a:t>
            </a:r>
            <a:r>
              <a:rPr lang="en-US" sz="2300" b="0" dirty="0" smtClean="0"/>
              <a:t>requirements elicitation </a:t>
            </a:r>
            <a:r>
              <a:rPr lang="en-US" sz="2300" b="0" dirty="0"/>
              <a:t>between developer and customer.</a:t>
            </a:r>
          </a:p>
          <a:p>
            <a:r>
              <a:rPr lang="en-US" sz="2300" b="0" i="1" dirty="0" smtClean="0"/>
              <a:t>Planning</a:t>
            </a:r>
            <a:r>
              <a:rPr lang="en-US" sz="2300" b="0" dirty="0" smtClean="0"/>
              <a:t>—tasks </a:t>
            </a:r>
            <a:r>
              <a:rPr lang="en-US" sz="2300" b="0" dirty="0"/>
              <a:t>required to define resources, timelines, and other </a:t>
            </a:r>
            <a:r>
              <a:rPr lang="en-US" sz="2300" b="0" dirty="0" smtClean="0"/>
              <a:t>project related information</a:t>
            </a:r>
            <a:r>
              <a:rPr lang="en-US" sz="2300" b="0" dirty="0"/>
              <a:t>.</a:t>
            </a:r>
          </a:p>
          <a:p>
            <a:r>
              <a:rPr lang="en-US" sz="2300" b="0" i="1" dirty="0" smtClean="0"/>
              <a:t>Risk </a:t>
            </a:r>
            <a:r>
              <a:rPr lang="en-US" sz="2300" b="0" i="1" dirty="0"/>
              <a:t>analysis</a:t>
            </a:r>
            <a:r>
              <a:rPr lang="en-US" sz="2300" b="0" dirty="0"/>
              <a:t>—tasks required to assess both technical and management risks.</a:t>
            </a:r>
          </a:p>
          <a:p>
            <a:r>
              <a:rPr lang="en-US" sz="2300" b="0" i="1" dirty="0" smtClean="0"/>
              <a:t>Engineering</a:t>
            </a:r>
            <a:r>
              <a:rPr lang="en-US" sz="2300" b="0" dirty="0" smtClean="0"/>
              <a:t>—tasks </a:t>
            </a:r>
            <a:r>
              <a:rPr lang="en-US" sz="2300" b="0" dirty="0"/>
              <a:t>required to build one or more representations of </a:t>
            </a:r>
            <a:r>
              <a:rPr lang="en-US" sz="2300" b="0" dirty="0" smtClean="0"/>
              <a:t>the application</a:t>
            </a:r>
            <a:r>
              <a:rPr lang="en-US" sz="2300" b="0" dirty="0"/>
              <a:t>.</a:t>
            </a:r>
          </a:p>
          <a:p>
            <a:r>
              <a:rPr lang="en-US" sz="2300" b="0" i="1" dirty="0" smtClean="0"/>
              <a:t>Construction </a:t>
            </a:r>
            <a:r>
              <a:rPr lang="en-US" sz="2300" b="0" i="1" dirty="0"/>
              <a:t>and release</a:t>
            </a:r>
            <a:r>
              <a:rPr lang="en-US" sz="2300" b="0" dirty="0"/>
              <a:t>—tasks required to construct, test, install, and </a:t>
            </a:r>
            <a:r>
              <a:rPr lang="en-US" sz="2300" b="0" dirty="0" smtClean="0"/>
              <a:t>provide user </a:t>
            </a:r>
            <a:r>
              <a:rPr lang="en-US" sz="2300" b="0" dirty="0"/>
              <a:t>support (e.g., documentation and training).</a:t>
            </a:r>
          </a:p>
          <a:p>
            <a:r>
              <a:rPr lang="en-US" sz="2300" b="0" i="1" dirty="0" smtClean="0"/>
              <a:t>Customer </a:t>
            </a:r>
            <a:r>
              <a:rPr lang="en-US" sz="2300" b="0" i="1" dirty="0"/>
              <a:t>evaluation</a:t>
            </a:r>
            <a:r>
              <a:rPr lang="en-US" sz="2300" b="0" dirty="0"/>
              <a:t>—tasks required to obtain customer feedback based </a:t>
            </a:r>
            <a:r>
              <a:rPr lang="en-US" sz="2300" b="0" dirty="0" smtClean="0"/>
              <a:t>on evaluation </a:t>
            </a:r>
            <a:r>
              <a:rPr lang="en-US" sz="2300" b="0" dirty="0"/>
              <a:t>of the software representations created during the </a:t>
            </a:r>
            <a:r>
              <a:rPr lang="en-US" sz="2300" b="0" dirty="0" smtClean="0"/>
              <a:t>engineering activity </a:t>
            </a:r>
            <a:r>
              <a:rPr lang="en-US" sz="2300" b="0" dirty="0"/>
              <a:t>and implemented during the construction activity.</a:t>
            </a:r>
            <a:endParaRPr lang="en-US" sz="2300" dirty="0" smtClean="0"/>
          </a:p>
          <a:p>
            <a:pPr marL="442912" lvl="1" indent="0"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300" dirty="0"/>
          </a:p>
          <a:p>
            <a:pPr marL="442912" lvl="1" indent="0"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300" dirty="0"/>
          </a:p>
          <a:p>
            <a:pPr marL="0" indent="0">
              <a:buNone/>
            </a:pPr>
            <a:endParaRPr lang="en-US" sz="2300"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13262511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688" y="130784"/>
            <a:ext cx="6943912" cy="875691"/>
          </a:xfrm>
        </p:spPr>
        <p:txBody>
          <a:bodyPr/>
          <a:lstStyle/>
          <a:p>
            <a:r>
              <a:rPr lang="en-US" sz="2800" smtClean="0"/>
              <a:t/>
            </a:r>
            <a:br>
              <a:rPr lang="en-US" sz="2800" smtClean="0"/>
            </a:br>
            <a:r>
              <a:rPr lang="en-US" sz="2800" smtClean="0"/>
              <a:t>Melding </a:t>
            </a:r>
            <a:r>
              <a:rPr lang="en-US" sz="2800" dirty="0"/>
              <a:t>the Product and the Process </a:t>
            </a:r>
            <a:r>
              <a:rPr lang="en-US" dirty="0"/>
              <a:t/>
            </a:r>
            <a:br>
              <a:rPr lang="en-US" dirty="0"/>
            </a:br>
            <a:endParaRPr lang="en-US" dirty="0"/>
          </a:p>
        </p:txBody>
      </p:sp>
      <p:sp>
        <p:nvSpPr>
          <p:cNvPr id="3" name="Content Placeholder 2"/>
          <p:cNvSpPr>
            <a:spLocks noGrp="1"/>
          </p:cNvSpPr>
          <p:nvPr>
            <p:ph idx="1"/>
          </p:nvPr>
        </p:nvSpPr>
        <p:spPr/>
        <p:txBody>
          <a:bodyPr/>
          <a:lstStyle/>
          <a:p>
            <a:endParaRPr lang="en-US" dirty="0"/>
          </a:p>
          <a:p>
            <a:endParaRPr lang="en-US" dirty="0"/>
          </a:p>
        </p:txBody>
      </p:sp>
      <p:sp>
        <p:nvSpPr>
          <p:cNvPr id="4" name="Slide Number Placeholder 3"/>
          <p:cNvSpPr>
            <a:spLocks noGrp="1"/>
          </p:cNvSpPr>
          <p:nvPr>
            <p:ph type="sldNum" sz="quarter" idx="11"/>
          </p:nvPr>
        </p:nvSpPr>
        <p:spPr/>
        <p:txBody>
          <a:bodyPr/>
          <a:lstStyle/>
          <a:p>
            <a:fld id="{B6F15528-21DE-4FAA-801E-634DDDAF4B2B}" type="slidenum">
              <a:rPr lang="en-US" smtClean="0"/>
              <a:pPr/>
              <a:t>13</a:t>
            </a:fld>
            <a:endParaRPr lang="en-US" dirty="0"/>
          </a:p>
        </p:txBody>
      </p:sp>
      <p:pic>
        <p:nvPicPr>
          <p:cNvPr id="6" name="Picture 5"/>
          <p:cNvPicPr>
            <a:picLocks noChangeAspect="1"/>
          </p:cNvPicPr>
          <p:nvPr/>
        </p:nvPicPr>
        <p:blipFill>
          <a:blip r:embed="rId2"/>
          <a:stretch>
            <a:fillRect/>
          </a:stretch>
        </p:blipFill>
        <p:spPr>
          <a:xfrm>
            <a:off x="165100" y="1066800"/>
            <a:ext cx="8813800" cy="5403850"/>
          </a:xfrm>
          <a:prstGeom prst="rect">
            <a:avLst/>
          </a:prstGeom>
        </p:spPr>
      </p:pic>
    </p:spTree>
    <p:extLst>
      <p:ext uri="{BB962C8B-B14F-4D97-AF65-F5344CB8AC3E}">
        <p14:creationId xmlns:p14="http://schemas.microsoft.com/office/powerpoint/2010/main" val="347959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63" y="188129"/>
            <a:ext cx="6283386" cy="822305"/>
          </a:xfrm>
        </p:spPr>
        <p:txBody>
          <a:bodyPr/>
          <a:lstStyle/>
          <a:p>
            <a:r>
              <a:rPr lang="en-US" dirty="0"/>
              <a:t>Process Decomposition </a:t>
            </a:r>
          </a:p>
        </p:txBody>
      </p:sp>
      <p:sp>
        <p:nvSpPr>
          <p:cNvPr id="3" name="Content Placeholder 2"/>
          <p:cNvSpPr>
            <a:spLocks noGrp="1"/>
          </p:cNvSpPr>
          <p:nvPr>
            <p:ph idx="1"/>
          </p:nvPr>
        </p:nvSpPr>
        <p:spPr/>
        <p:txBody>
          <a:bodyPr/>
          <a:lstStyle/>
          <a:p>
            <a:r>
              <a:rPr lang="en-US" sz="2400" b="0" dirty="0"/>
              <a:t>C</a:t>
            </a:r>
            <a:r>
              <a:rPr lang="en-US" sz="2400" b="0" dirty="0" smtClean="0"/>
              <a:t>ommon </a:t>
            </a:r>
            <a:r>
              <a:rPr lang="en-US" sz="2400" b="0" dirty="0"/>
              <a:t>P</a:t>
            </a:r>
            <a:r>
              <a:rPr lang="en-US" sz="2400" b="0" dirty="0" smtClean="0"/>
              <a:t>rocess </a:t>
            </a:r>
            <a:r>
              <a:rPr lang="en-US" sz="2400" b="0" dirty="0"/>
              <a:t>F</a:t>
            </a:r>
            <a:r>
              <a:rPr lang="en-US" sz="2400" b="0" dirty="0" smtClean="0"/>
              <a:t>ramework </a:t>
            </a:r>
            <a:r>
              <a:rPr lang="en-US" sz="2400" b="0" dirty="0"/>
              <a:t>(CPF</a:t>
            </a:r>
            <a:r>
              <a:rPr lang="en-US" sz="2400" b="0" dirty="0" smtClean="0"/>
              <a:t>)</a:t>
            </a:r>
          </a:p>
          <a:p>
            <a:r>
              <a:rPr lang="en-US" sz="2400" b="0" dirty="0"/>
              <a:t>Process decomposition </a:t>
            </a:r>
            <a:endParaRPr lang="en-US" sz="2400" b="0" dirty="0" smtClean="0"/>
          </a:p>
          <a:p>
            <a:pPr lvl="1"/>
            <a:r>
              <a:rPr lang="en-US" sz="2400" b="0" i="1" dirty="0" smtClean="0"/>
              <a:t>customer communication </a:t>
            </a:r>
            <a:r>
              <a:rPr lang="en-US" sz="2400" b="0" dirty="0" smtClean="0"/>
              <a:t>activity (48h – small project)</a:t>
            </a:r>
            <a:endParaRPr lang="en-US" sz="2400" b="0" dirty="0"/>
          </a:p>
          <a:p>
            <a:pPr marL="1265238" lvl="2" indent="-457200">
              <a:buFont typeface="+mj-lt"/>
              <a:buAutoNum type="arabicPeriod"/>
            </a:pPr>
            <a:r>
              <a:rPr lang="en-US" sz="2400" b="0" dirty="0"/>
              <a:t>Develop list of clarification issues. </a:t>
            </a:r>
          </a:p>
          <a:p>
            <a:pPr marL="1265238" lvl="2" indent="-457200">
              <a:buFont typeface="+mj-lt"/>
              <a:buAutoNum type="arabicPeriod"/>
            </a:pPr>
            <a:r>
              <a:rPr lang="en-US" sz="2400" b="0" dirty="0"/>
              <a:t>Meet with customer to address clarification issues. </a:t>
            </a:r>
          </a:p>
          <a:p>
            <a:pPr marL="1265238" lvl="2" indent="-457200">
              <a:buFont typeface="+mj-lt"/>
              <a:buAutoNum type="arabicPeriod"/>
            </a:pPr>
            <a:r>
              <a:rPr lang="en-US" sz="2400" b="0" dirty="0"/>
              <a:t>Jointly develop a statement of scope. </a:t>
            </a:r>
          </a:p>
          <a:p>
            <a:pPr marL="1265238" lvl="2" indent="-457200">
              <a:buFont typeface="+mj-lt"/>
              <a:buAutoNum type="arabicPeriod"/>
            </a:pPr>
            <a:r>
              <a:rPr lang="en-US" sz="2400" b="0" dirty="0"/>
              <a:t>Review the statement of scope with all concerned. </a:t>
            </a:r>
          </a:p>
          <a:p>
            <a:pPr marL="1265238" lvl="2" indent="-457200">
              <a:buFont typeface="+mj-lt"/>
              <a:buAutoNum type="arabicPeriod"/>
            </a:pPr>
            <a:r>
              <a:rPr lang="en-US" sz="2400" b="0" dirty="0"/>
              <a:t>Modify the statement of scope as required. </a:t>
            </a:r>
            <a:endParaRPr lang="en-US" sz="2400" b="0" dirty="0" smtClean="0"/>
          </a:p>
          <a:p>
            <a:endParaRPr lang="en-US" dirty="0"/>
          </a:p>
        </p:txBody>
      </p:sp>
      <p:sp>
        <p:nvSpPr>
          <p:cNvPr id="4" name="Slide Number Placeholder 3"/>
          <p:cNvSpPr>
            <a:spLocks noGrp="1"/>
          </p:cNvSpPr>
          <p:nvPr>
            <p:ph type="sldNum" sz="quarter" idx="11"/>
          </p:nvPr>
        </p:nvSpPr>
        <p:spPr/>
        <p:txBody>
          <a:bodyPr/>
          <a:lstStyle/>
          <a:p>
            <a:fld id="{B6F15528-21DE-4FAA-801E-634DDDAF4B2B}" type="slidenum">
              <a:rPr lang="en-US" smtClean="0"/>
              <a:pPr/>
              <a:t>14</a:t>
            </a:fld>
            <a:endParaRPr lang="en-US" dirty="0"/>
          </a:p>
        </p:txBody>
      </p:sp>
    </p:spTree>
    <p:extLst>
      <p:ext uri="{BB962C8B-B14F-4D97-AF65-F5344CB8AC3E}">
        <p14:creationId xmlns:p14="http://schemas.microsoft.com/office/powerpoint/2010/main" val="20518456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63" y="188129"/>
            <a:ext cx="6283386" cy="822305"/>
          </a:xfrm>
        </p:spPr>
        <p:txBody>
          <a:bodyPr/>
          <a:lstStyle/>
          <a:p>
            <a:r>
              <a:rPr lang="en-US" dirty="0"/>
              <a:t>Process Decomposition </a:t>
            </a:r>
          </a:p>
        </p:txBody>
      </p:sp>
      <p:sp>
        <p:nvSpPr>
          <p:cNvPr id="3" name="Content Placeholder 2"/>
          <p:cNvSpPr>
            <a:spLocks noGrp="1"/>
          </p:cNvSpPr>
          <p:nvPr>
            <p:ph idx="1"/>
          </p:nvPr>
        </p:nvSpPr>
        <p:spPr/>
        <p:txBody>
          <a:bodyPr/>
          <a:lstStyle/>
          <a:p>
            <a:r>
              <a:rPr lang="en-US" sz="1800" b="0" dirty="0"/>
              <a:t>C</a:t>
            </a:r>
            <a:r>
              <a:rPr lang="en-US" sz="1800" b="0" dirty="0" smtClean="0"/>
              <a:t>ommon </a:t>
            </a:r>
            <a:r>
              <a:rPr lang="en-US" sz="1800" b="0" dirty="0"/>
              <a:t>P</a:t>
            </a:r>
            <a:r>
              <a:rPr lang="en-US" sz="1800" b="0" dirty="0" smtClean="0"/>
              <a:t>rocess </a:t>
            </a:r>
            <a:r>
              <a:rPr lang="en-US" sz="1800" b="0" dirty="0"/>
              <a:t>F</a:t>
            </a:r>
            <a:r>
              <a:rPr lang="en-US" sz="1800" b="0" dirty="0" smtClean="0"/>
              <a:t>ramework </a:t>
            </a:r>
            <a:r>
              <a:rPr lang="en-US" sz="1800" b="0" dirty="0"/>
              <a:t>(CPF</a:t>
            </a:r>
            <a:r>
              <a:rPr lang="en-US" sz="1800" b="0" dirty="0" smtClean="0"/>
              <a:t>)</a:t>
            </a:r>
          </a:p>
          <a:p>
            <a:r>
              <a:rPr lang="en-US" sz="1800" b="0" dirty="0"/>
              <a:t>Process decomposition </a:t>
            </a:r>
            <a:endParaRPr lang="en-US" sz="1800" b="0" dirty="0" smtClean="0"/>
          </a:p>
          <a:p>
            <a:pPr lvl="1"/>
            <a:r>
              <a:rPr lang="en-US" sz="1800" b="0" i="1" dirty="0" smtClean="0"/>
              <a:t>customer communication </a:t>
            </a:r>
            <a:r>
              <a:rPr lang="en-US" sz="1800" b="0" dirty="0" smtClean="0"/>
              <a:t>activity</a:t>
            </a:r>
            <a:endParaRPr lang="en-US" sz="1800" b="0" dirty="0"/>
          </a:p>
          <a:p>
            <a:pPr lvl="2">
              <a:buFont typeface="+mj-lt"/>
              <a:buAutoNum type="arabicPeriod"/>
            </a:pPr>
            <a:r>
              <a:rPr lang="en-US" sz="1800" b="0" dirty="0" smtClean="0"/>
              <a:t>Review </a:t>
            </a:r>
            <a:r>
              <a:rPr lang="en-US" sz="1800" b="0" dirty="0"/>
              <a:t>the customer request. </a:t>
            </a:r>
          </a:p>
          <a:p>
            <a:pPr lvl="2">
              <a:buFont typeface="+mj-lt"/>
              <a:buAutoNum type="arabicPeriod"/>
            </a:pPr>
            <a:r>
              <a:rPr lang="en-US" sz="1800" b="0" dirty="0"/>
              <a:t>Plan and schedule a formal, facilitated meeting with the customer. </a:t>
            </a:r>
          </a:p>
          <a:p>
            <a:pPr lvl="2">
              <a:buFont typeface="+mj-lt"/>
              <a:buAutoNum type="arabicPeriod"/>
            </a:pPr>
            <a:r>
              <a:rPr lang="en-US" sz="1800" b="0" dirty="0"/>
              <a:t>Conduct research to specify the proposed solution and existing approaches. </a:t>
            </a:r>
          </a:p>
          <a:p>
            <a:pPr lvl="2">
              <a:buFont typeface="+mj-lt"/>
              <a:buAutoNum type="arabicPeriod"/>
            </a:pPr>
            <a:r>
              <a:rPr lang="en-US" sz="1800" b="0" dirty="0"/>
              <a:t>Prepare a “working document” and an agenda for the formal meeting. </a:t>
            </a:r>
          </a:p>
          <a:p>
            <a:pPr lvl="2">
              <a:buFont typeface="+mj-lt"/>
              <a:buAutoNum type="arabicPeriod"/>
            </a:pPr>
            <a:r>
              <a:rPr lang="en-US" sz="1800" b="0" dirty="0"/>
              <a:t>Conduct the meeting. </a:t>
            </a:r>
          </a:p>
          <a:p>
            <a:pPr lvl="2">
              <a:buFont typeface="+mj-lt"/>
              <a:buAutoNum type="arabicPeriod"/>
            </a:pPr>
            <a:r>
              <a:rPr lang="en-US" sz="1800" b="0" dirty="0"/>
              <a:t>Jointly develop mini-specs that reflect data, function, and behavioral features of the software. </a:t>
            </a:r>
          </a:p>
          <a:p>
            <a:pPr lvl="2">
              <a:buFont typeface="+mj-lt"/>
              <a:buAutoNum type="arabicPeriod"/>
            </a:pPr>
            <a:r>
              <a:rPr lang="en-US" sz="1800" b="0" dirty="0"/>
              <a:t>Review each mini-spec for correctness, consistency, and lack of ambiguity. </a:t>
            </a:r>
          </a:p>
          <a:p>
            <a:pPr lvl="2">
              <a:buFont typeface="+mj-lt"/>
              <a:buAutoNum type="arabicPeriod"/>
            </a:pPr>
            <a:r>
              <a:rPr lang="en-US" sz="1800" b="0" dirty="0"/>
              <a:t>Assemble the mini-specs into a scoping document. </a:t>
            </a:r>
          </a:p>
          <a:p>
            <a:pPr lvl="2">
              <a:buFont typeface="+mj-lt"/>
              <a:buAutoNum type="arabicPeriod"/>
            </a:pPr>
            <a:r>
              <a:rPr lang="en-US" sz="1800" b="0" dirty="0"/>
              <a:t>Review the scoping document with all concerned. </a:t>
            </a:r>
          </a:p>
          <a:p>
            <a:pPr lvl="2">
              <a:buFont typeface="+mj-lt"/>
              <a:buAutoNum type="arabicPeriod"/>
            </a:pPr>
            <a:r>
              <a:rPr lang="en-US" sz="1800" b="0" dirty="0"/>
              <a:t>Modify the scoping document as required. </a:t>
            </a:r>
          </a:p>
        </p:txBody>
      </p:sp>
      <p:sp>
        <p:nvSpPr>
          <p:cNvPr id="4" name="Slide Number Placeholder 3"/>
          <p:cNvSpPr>
            <a:spLocks noGrp="1"/>
          </p:cNvSpPr>
          <p:nvPr>
            <p:ph type="sldNum" sz="quarter" idx="11"/>
          </p:nvPr>
        </p:nvSpPr>
        <p:spPr/>
        <p:txBody>
          <a:bodyPr/>
          <a:lstStyle/>
          <a:p>
            <a:fld id="{B6F15528-21DE-4FAA-801E-634DDDAF4B2B}" type="slidenum">
              <a:rPr lang="en-US" smtClean="0"/>
              <a:pPr/>
              <a:t>15</a:t>
            </a:fld>
            <a:endParaRPr lang="en-US" dirty="0"/>
          </a:p>
        </p:txBody>
      </p:sp>
    </p:spTree>
    <p:extLst>
      <p:ext uri="{BB962C8B-B14F-4D97-AF65-F5344CB8AC3E}">
        <p14:creationId xmlns:p14="http://schemas.microsoft.com/office/powerpoint/2010/main" val="719745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67194"/>
            <a:ext cx="8723600" cy="692468"/>
          </a:xfrm>
        </p:spPr>
        <p:txBody>
          <a:bodyPr/>
          <a:lstStyle/>
          <a:p>
            <a:r>
              <a:rPr lang="fr-FR" sz="3200" dirty="0" smtClean="0"/>
              <a:t> Project - </a:t>
            </a:r>
            <a:r>
              <a:rPr lang="fr-FR" sz="3200" dirty="0" err="1" smtClean="0"/>
              <a:t>What</a:t>
            </a:r>
            <a:r>
              <a:rPr lang="fr-FR" sz="3200" dirty="0" smtClean="0"/>
              <a:t> </a:t>
            </a:r>
            <a:r>
              <a:rPr lang="fr-FR" sz="3200" dirty="0" err="1" smtClean="0"/>
              <a:t>can</a:t>
            </a:r>
            <a:r>
              <a:rPr lang="fr-FR" sz="3200" dirty="0" smtClean="0"/>
              <a:t> go </a:t>
            </a:r>
            <a:r>
              <a:rPr lang="fr-FR" sz="3200" dirty="0" err="1" smtClean="0"/>
              <a:t>wrong</a:t>
            </a:r>
            <a:r>
              <a:rPr lang="fr-FR" sz="3200" dirty="0" smtClean="0"/>
              <a:t> in a </a:t>
            </a:r>
            <a:r>
              <a:rPr lang="fr-FR" sz="3200" dirty="0" err="1" smtClean="0"/>
              <a:t>project</a:t>
            </a:r>
            <a:r>
              <a:rPr lang="fr-FR" sz="3200" dirty="0" smtClean="0"/>
              <a:t>?</a:t>
            </a:r>
            <a:endParaRPr lang="fr-FR" sz="3200" dirty="0"/>
          </a:p>
        </p:txBody>
      </p:sp>
      <p:sp>
        <p:nvSpPr>
          <p:cNvPr id="18" name="Content Placeholder 17"/>
          <p:cNvSpPr>
            <a:spLocks noGrp="1"/>
          </p:cNvSpPr>
          <p:nvPr>
            <p:ph idx="1"/>
          </p:nvPr>
        </p:nvSpPr>
        <p:spPr>
          <a:xfrm>
            <a:off x="284714" y="1143000"/>
            <a:ext cx="8402086" cy="5264549"/>
          </a:xfrm>
        </p:spPr>
        <p:txBody>
          <a:bodyPr/>
          <a:lstStyle/>
          <a:p>
            <a:pPr marL="0" indent="0">
              <a:buNone/>
            </a:pPr>
            <a:r>
              <a:rPr lang="en-US" sz="2400" dirty="0"/>
              <a:t>1. </a:t>
            </a:r>
            <a:r>
              <a:rPr lang="en-US" sz="2400" b="0" dirty="0"/>
              <a:t>Software people don’t understand their customer’s needs.</a:t>
            </a:r>
          </a:p>
          <a:p>
            <a:pPr marL="0" indent="0">
              <a:buNone/>
            </a:pPr>
            <a:r>
              <a:rPr lang="en-US" sz="2400" dirty="0"/>
              <a:t>2. </a:t>
            </a:r>
            <a:r>
              <a:rPr lang="en-US" sz="2400" b="0" dirty="0"/>
              <a:t>The product scope is poorly defined.</a:t>
            </a:r>
          </a:p>
          <a:p>
            <a:pPr marL="0" indent="0">
              <a:buNone/>
            </a:pPr>
            <a:r>
              <a:rPr lang="en-US" sz="2400" dirty="0"/>
              <a:t>3. </a:t>
            </a:r>
            <a:r>
              <a:rPr lang="en-US" sz="2400" b="0" dirty="0"/>
              <a:t>Changes are managed poorly</a:t>
            </a:r>
            <a:r>
              <a:rPr lang="en-US" sz="2400" b="0" dirty="0" smtClean="0"/>
              <a:t>.</a:t>
            </a:r>
          </a:p>
          <a:p>
            <a:pPr marL="0" indent="0">
              <a:buNone/>
            </a:pPr>
            <a:r>
              <a:rPr lang="en-US" sz="2400" dirty="0"/>
              <a:t>4. </a:t>
            </a:r>
            <a:r>
              <a:rPr lang="en-US" sz="2400" b="0" dirty="0"/>
              <a:t>The chosen technology changes.</a:t>
            </a:r>
          </a:p>
          <a:p>
            <a:pPr marL="0" indent="0">
              <a:buNone/>
            </a:pPr>
            <a:r>
              <a:rPr lang="en-US" sz="2400" dirty="0"/>
              <a:t>5. </a:t>
            </a:r>
            <a:r>
              <a:rPr lang="en-US" sz="2400" b="0" dirty="0"/>
              <a:t>Business needs change [or are ill-defined].</a:t>
            </a:r>
          </a:p>
          <a:p>
            <a:pPr marL="0" indent="0">
              <a:buNone/>
            </a:pPr>
            <a:r>
              <a:rPr lang="en-US" sz="2400" dirty="0"/>
              <a:t>6. </a:t>
            </a:r>
            <a:r>
              <a:rPr lang="en-US" sz="2400" b="0" dirty="0"/>
              <a:t>Deadlines are unrealistic.</a:t>
            </a:r>
          </a:p>
          <a:p>
            <a:pPr marL="0" indent="0">
              <a:buNone/>
            </a:pPr>
            <a:r>
              <a:rPr lang="en-US" sz="2400" dirty="0"/>
              <a:t>7. </a:t>
            </a:r>
            <a:r>
              <a:rPr lang="en-US" sz="2400" b="0" dirty="0"/>
              <a:t>Users are resistant.</a:t>
            </a:r>
          </a:p>
          <a:p>
            <a:pPr marL="0" indent="0">
              <a:buNone/>
            </a:pPr>
            <a:r>
              <a:rPr lang="en-US" sz="2400" dirty="0"/>
              <a:t>8. </a:t>
            </a:r>
            <a:r>
              <a:rPr lang="en-US" sz="2400" b="0" dirty="0"/>
              <a:t>Sponsorship is lost [or was never properly obtained].</a:t>
            </a:r>
          </a:p>
          <a:p>
            <a:pPr marL="0" indent="0">
              <a:buNone/>
            </a:pPr>
            <a:r>
              <a:rPr lang="en-US" sz="2400" dirty="0"/>
              <a:t>9. </a:t>
            </a:r>
            <a:r>
              <a:rPr lang="en-US" sz="2400" b="0" dirty="0"/>
              <a:t>The project team lacks people with appropriate skills.</a:t>
            </a:r>
          </a:p>
          <a:p>
            <a:pPr marL="0" indent="0">
              <a:buNone/>
            </a:pPr>
            <a:r>
              <a:rPr lang="en-US" sz="2400" dirty="0"/>
              <a:t>10. </a:t>
            </a:r>
            <a:r>
              <a:rPr lang="en-US" sz="2400" b="0" dirty="0"/>
              <a:t>Managers [and practitioners] avoid best practices and lessons learned</a:t>
            </a:r>
            <a:r>
              <a:rPr lang="en-US" sz="2400" b="0" dirty="0" smtClean="0"/>
              <a:t>.</a:t>
            </a:r>
          </a:p>
          <a:p>
            <a:pPr marL="0" indent="0" algn="ctr">
              <a:buNone/>
            </a:pPr>
            <a:r>
              <a:rPr lang="en-US" sz="2400" dirty="0"/>
              <a:t>John Reel </a:t>
            </a:r>
          </a:p>
          <a:p>
            <a:pPr marL="0" indent="0">
              <a:buNone/>
            </a:pPr>
            <a:endParaRPr lang="en-US" sz="2400" dirty="0" smtClean="0"/>
          </a:p>
          <a:p>
            <a:pPr marL="0" indent="0"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400" dirty="0" smtClean="0"/>
          </a:p>
          <a:p>
            <a:pPr marL="0" indent="0"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400" dirty="0"/>
          </a:p>
          <a:p>
            <a:pPr marL="442912" lvl="1" indent="0"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400" dirty="0"/>
          </a:p>
          <a:p>
            <a:pPr marL="442912" lvl="1" indent="0"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400" dirty="0"/>
          </a:p>
          <a:p>
            <a:pPr marL="0" indent="0">
              <a:buNone/>
            </a:pPr>
            <a:endParaRPr lang="en-US" sz="2400"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9042215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63" y="188129"/>
            <a:ext cx="5550779" cy="822305"/>
          </a:xfrm>
        </p:spPr>
        <p:txBody>
          <a:bodyPr/>
          <a:lstStyle/>
          <a:p>
            <a:r>
              <a:rPr lang="en-US" dirty="0" smtClean="0"/>
              <a:t>Key concept - Project</a:t>
            </a:r>
            <a:endParaRPr lang="en-US" dirty="0"/>
          </a:p>
        </p:txBody>
      </p:sp>
      <p:sp>
        <p:nvSpPr>
          <p:cNvPr id="3" name="Content Placeholder 2"/>
          <p:cNvSpPr>
            <a:spLocks noGrp="1"/>
          </p:cNvSpPr>
          <p:nvPr>
            <p:ph idx="1"/>
          </p:nvPr>
        </p:nvSpPr>
        <p:spPr/>
        <p:txBody>
          <a:bodyPr/>
          <a:lstStyle/>
          <a:p>
            <a:r>
              <a:rPr lang="en-US" b="0" dirty="0"/>
              <a:t>Start on the right foot. </a:t>
            </a:r>
            <a:endParaRPr lang="en-US" b="0" dirty="0" smtClean="0"/>
          </a:p>
          <a:p>
            <a:pPr marL="442912" lvl="1" indent="0">
              <a:buNone/>
            </a:pPr>
            <a:r>
              <a:rPr lang="en-US" b="0" dirty="0" smtClean="0"/>
              <a:t>This </a:t>
            </a:r>
            <a:r>
              <a:rPr lang="en-US" b="0" dirty="0"/>
              <a:t>is accomplished by working hard (very hard) to understand the problem that is to be solved and then setting realistic objects and expectations for everyone who will be involved in the project. </a:t>
            </a:r>
            <a:endParaRPr lang="en-US" b="0" dirty="0" smtClean="0"/>
          </a:p>
          <a:p>
            <a:r>
              <a:rPr lang="en-US" b="0" dirty="0" smtClean="0"/>
              <a:t>Maintain </a:t>
            </a:r>
            <a:r>
              <a:rPr lang="en-US" b="0" dirty="0"/>
              <a:t>momentum. </a:t>
            </a:r>
            <a:endParaRPr lang="en-US" b="0" dirty="0" smtClean="0"/>
          </a:p>
          <a:p>
            <a:pPr marL="442912" lvl="1" indent="0">
              <a:buNone/>
            </a:pPr>
            <a:r>
              <a:rPr lang="en-US" b="0" dirty="0" smtClean="0"/>
              <a:t>To </a:t>
            </a:r>
            <a:r>
              <a:rPr lang="en-US" b="0" dirty="0"/>
              <a:t>maintain momentum, the project manager must </a:t>
            </a:r>
            <a:r>
              <a:rPr lang="en-US" b="0" dirty="0" smtClean="0"/>
              <a:t>provide </a:t>
            </a:r>
            <a:r>
              <a:rPr lang="en-US" b="0" dirty="0"/>
              <a:t>incentives to keep turnover of personnel to an absolute minimum, the team should emphasize quality in every task it performs, and senior </a:t>
            </a:r>
            <a:r>
              <a:rPr lang="en-US" b="0" dirty="0" smtClean="0"/>
              <a:t>management </a:t>
            </a:r>
            <a:r>
              <a:rPr lang="en-US" b="0" dirty="0"/>
              <a:t>should do everything possible to stay out of the team’s </a:t>
            </a:r>
            <a:r>
              <a:rPr lang="en-US" b="0" dirty="0" smtClean="0"/>
              <a:t>way. </a:t>
            </a:r>
            <a:endParaRPr lang="en-US" b="0" dirty="0"/>
          </a:p>
        </p:txBody>
      </p:sp>
      <p:sp>
        <p:nvSpPr>
          <p:cNvPr id="4" name="Slide Number Placeholder 3"/>
          <p:cNvSpPr>
            <a:spLocks noGrp="1"/>
          </p:cNvSpPr>
          <p:nvPr>
            <p:ph type="sldNum" sz="quarter" idx="11"/>
          </p:nvPr>
        </p:nvSpPr>
        <p:spPr/>
        <p:txBody>
          <a:bodyPr/>
          <a:lstStyle/>
          <a:p>
            <a:fld id="{B6F15528-21DE-4FAA-801E-634DDDAF4B2B}" type="slidenum">
              <a:rPr lang="en-US" smtClean="0"/>
              <a:pPr/>
              <a:t>17</a:t>
            </a:fld>
            <a:endParaRPr lang="en-US" dirty="0"/>
          </a:p>
        </p:txBody>
      </p:sp>
    </p:spTree>
    <p:extLst>
      <p:ext uri="{BB962C8B-B14F-4D97-AF65-F5344CB8AC3E}">
        <p14:creationId xmlns:p14="http://schemas.microsoft.com/office/powerpoint/2010/main" val="20616343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63" y="188129"/>
            <a:ext cx="5550779" cy="822305"/>
          </a:xfrm>
        </p:spPr>
        <p:txBody>
          <a:bodyPr/>
          <a:lstStyle/>
          <a:p>
            <a:r>
              <a:rPr lang="en-US" dirty="0" smtClean="0"/>
              <a:t>Key concept - Project</a:t>
            </a:r>
            <a:endParaRPr lang="en-US" dirty="0"/>
          </a:p>
        </p:txBody>
      </p:sp>
      <p:sp>
        <p:nvSpPr>
          <p:cNvPr id="3" name="Content Placeholder 2"/>
          <p:cNvSpPr>
            <a:spLocks noGrp="1"/>
          </p:cNvSpPr>
          <p:nvPr>
            <p:ph idx="1"/>
          </p:nvPr>
        </p:nvSpPr>
        <p:spPr/>
        <p:txBody>
          <a:bodyPr/>
          <a:lstStyle/>
          <a:p>
            <a:r>
              <a:rPr lang="en-US" sz="2400" b="0" dirty="0"/>
              <a:t>Track progress. </a:t>
            </a:r>
            <a:endParaRPr lang="en-US" sz="2400" b="0" dirty="0" smtClean="0"/>
          </a:p>
          <a:p>
            <a:pPr marL="442912" lvl="1" indent="0">
              <a:buNone/>
            </a:pPr>
            <a:r>
              <a:rPr lang="en-US" sz="2400" b="0" dirty="0" smtClean="0"/>
              <a:t>For </a:t>
            </a:r>
            <a:r>
              <a:rPr lang="en-US" sz="2400" b="0" dirty="0"/>
              <a:t>a software project, progress is tracked as work </a:t>
            </a:r>
            <a:r>
              <a:rPr lang="en-US" sz="2400" b="0" dirty="0" smtClean="0"/>
              <a:t>products; software </a:t>
            </a:r>
            <a:r>
              <a:rPr lang="en-US" sz="2400" b="0" dirty="0"/>
              <a:t>process and project measures </a:t>
            </a:r>
            <a:r>
              <a:rPr lang="en-US" sz="2400" b="0" dirty="0" smtClean="0"/>
              <a:t>can </a:t>
            </a:r>
            <a:r>
              <a:rPr lang="en-US" sz="2400" b="0" dirty="0"/>
              <a:t>be collected and used to assess progress </a:t>
            </a:r>
            <a:endParaRPr lang="en-US" sz="2400" b="0" dirty="0" smtClean="0"/>
          </a:p>
          <a:p>
            <a:r>
              <a:rPr lang="en-US" sz="2400" b="0" dirty="0" smtClean="0"/>
              <a:t>Make </a:t>
            </a:r>
            <a:r>
              <a:rPr lang="en-US" sz="2400" b="0" dirty="0"/>
              <a:t>smart decisions. </a:t>
            </a:r>
            <a:endParaRPr lang="en-US" sz="2400" b="0" dirty="0" smtClean="0"/>
          </a:p>
          <a:p>
            <a:pPr marL="442912" lvl="1" indent="0">
              <a:buNone/>
            </a:pPr>
            <a:r>
              <a:rPr lang="en-US" sz="2400" b="0" dirty="0" smtClean="0"/>
              <a:t>In </a:t>
            </a:r>
            <a:r>
              <a:rPr lang="en-US" sz="2400" b="0" dirty="0"/>
              <a:t>essence, the decisions of the project manager and the software team should be to “keep it simple.” </a:t>
            </a:r>
            <a:endParaRPr lang="en-US" sz="2400" b="0" dirty="0" smtClean="0"/>
          </a:p>
          <a:p>
            <a:r>
              <a:rPr lang="en-US" sz="2400" b="0" dirty="0" smtClean="0"/>
              <a:t>Conduct </a:t>
            </a:r>
            <a:r>
              <a:rPr lang="en-US" sz="2400" b="0" dirty="0"/>
              <a:t>a postmortem analysis. </a:t>
            </a:r>
            <a:endParaRPr lang="en-US" sz="2400" b="0" dirty="0" smtClean="0"/>
          </a:p>
          <a:p>
            <a:pPr marL="442912" lvl="1" indent="0">
              <a:buNone/>
            </a:pPr>
            <a:r>
              <a:rPr lang="en-US" sz="2400" b="0" dirty="0" smtClean="0"/>
              <a:t>Establish </a:t>
            </a:r>
            <a:r>
              <a:rPr lang="en-US" sz="2400" b="0" dirty="0"/>
              <a:t>a consistent mechanism for extracting lessons learned for each project. Evaluate the planned and actual schedules, collect and analyze software project metrics, get feedback from team members and customers, and record findings in written form. </a:t>
            </a:r>
          </a:p>
          <a:p>
            <a:pPr marL="442912" lvl="1" indent="0">
              <a:buNone/>
            </a:pPr>
            <a:endParaRPr lang="en-US" dirty="0"/>
          </a:p>
        </p:txBody>
      </p:sp>
      <p:sp>
        <p:nvSpPr>
          <p:cNvPr id="4" name="Slide Number Placeholder 3"/>
          <p:cNvSpPr>
            <a:spLocks noGrp="1"/>
          </p:cNvSpPr>
          <p:nvPr>
            <p:ph type="sldNum" sz="quarter" idx="11"/>
          </p:nvPr>
        </p:nvSpPr>
        <p:spPr/>
        <p:txBody>
          <a:bodyPr/>
          <a:lstStyle/>
          <a:p>
            <a:fld id="{B6F15528-21DE-4FAA-801E-634DDDAF4B2B}" type="slidenum">
              <a:rPr lang="en-US" smtClean="0"/>
              <a:pPr/>
              <a:t>18</a:t>
            </a:fld>
            <a:endParaRPr lang="en-US" dirty="0"/>
          </a:p>
        </p:txBody>
      </p:sp>
    </p:spTree>
    <p:extLst>
      <p:ext uri="{BB962C8B-B14F-4D97-AF65-F5344CB8AC3E}">
        <p14:creationId xmlns:p14="http://schemas.microsoft.com/office/powerpoint/2010/main" val="4641904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4241360" cy="822305"/>
          </a:xfrm>
        </p:spPr>
        <p:txBody>
          <a:bodyPr/>
          <a:lstStyle/>
          <a:p>
            <a:r>
              <a:rPr lang="fr-FR" dirty="0" smtClean="0"/>
              <a:t> W</a:t>
            </a:r>
            <a:r>
              <a:rPr lang="fr-FR" baseline="30000" dirty="0" smtClean="0"/>
              <a:t>5</a:t>
            </a:r>
            <a:r>
              <a:rPr lang="fr-FR" dirty="0" smtClean="0"/>
              <a:t>HH </a:t>
            </a:r>
            <a:r>
              <a:rPr lang="fr-FR" dirty="0" err="1" smtClean="0"/>
              <a:t>principle</a:t>
            </a:r>
            <a:endParaRPr lang="fr-FR" dirty="0"/>
          </a:p>
        </p:txBody>
      </p:sp>
      <p:sp>
        <p:nvSpPr>
          <p:cNvPr id="18" name="Content Placeholder 17"/>
          <p:cNvSpPr>
            <a:spLocks noGrp="1"/>
          </p:cNvSpPr>
          <p:nvPr>
            <p:ph idx="1"/>
          </p:nvPr>
        </p:nvSpPr>
        <p:spPr>
          <a:xfrm>
            <a:off x="304800" y="838200"/>
            <a:ext cx="8686800" cy="5077703"/>
          </a:xfrm>
        </p:spPr>
        <p:txBody>
          <a:bodyPr/>
          <a:lstStyle/>
          <a:p>
            <a:pPr>
              <a:lnSpc>
                <a:spcPct val="150000"/>
              </a:lnSpc>
            </a:pPr>
            <a:r>
              <a:rPr lang="en-US" sz="3200" b="0" dirty="0"/>
              <a:t>W</a:t>
            </a:r>
            <a:r>
              <a:rPr lang="en-US" sz="2400" b="0" dirty="0"/>
              <a:t>hy is the system being developed? </a:t>
            </a:r>
            <a:endParaRPr lang="en-US" sz="2400" b="0" dirty="0" smtClean="0"/>
          </a:p>
          <a:p>
            <a:pPr>
              <a:lnSpc>
                <a:spcPct val="150000"/>
              </a:lnSpc>
            </a:pPr>
            <a:r>
              <a:rPr lang="en-US" sz="3200" b="0" dirty="0" smtClean="0"/>
              <a:t>W</a:t>
            </a:r>
            <a:r>
              <a:rPr lang="en-US" sz="2400" b="0" dirty="0" smtClean="0"/>
              <a:t>hat </a:t>
            </a:r>
            <a:r>
              <a:rPr lang="en-US" sz="2400" b="0" dirty="0"/>
              <a:t>will be done, by </a:t>
            </a:r>
            <a:r>
              <a:rPr lang="en-US" sz="3200" b="0" dirty="0" smtClean="0"/>
              <a:t>W</a:t>
            </a:r>
            <a:r>
              <a:rPr lang="en-US" sz="2400" b="0" dirty="0" smtClean="0"/>
              <a:t>hen</a:t>
            </a:r>
            <a:r>
              <a:rPr lang="en-US" sz="2400" b="0" dirty="0"/>
              <a:t>? </a:t>
            </a:r>
            <a:endParaRPr lang="en-US" sz="2400" b="0" dirty="0" smtClean="0"/>
          </a:p>
          <a:p>
            <a:pPr>
              <a:lnSpc>
                <a:spcPct val="150000"/>
              </a:lnSpc>
            </a:pPr>
            <a:r>
              <a:rPr lang="en-US" sz="3200" b="0" dirty="0" smtClean="0"/>
              <a:t>W</a:t>
            </a:r>
            <a:r>
              <a:rPr lang="en-US" sz="2400" b="0" dirty="0" smtClean="0"/>
              <a:t>ho </a:t>
            </a:r>
            <a:r>
              <a:rPr lang="en-US" sz="2400" b="0" dirty="0"/>
              <a:t>is responsible for a function? </a:t>
            </a:r>
            <a:endParaRPr lang="en-US" sz="2400" b="0" dirty="0" smtClean="0"/>
          </a:p>
          <a:p>
            <a:pPr>
              <a:lnSpc>
                <a:spcPct val="150000"/>
              </a:lnSpc>
            </a:pPr>
            <a:r>
              <a:rPr lang="en-US" sz="3200" b="0" dirty="0" smtClean="0"/>
              <a:t>W</a:t>
            </a:r>
            <a:r>
              <a:rPr lang="en-US" sz="2400" b="0" dirty="0" smtClean="0"/>
              <a:t>here </a:t>
            </a:r>
            <a:r>
              <a:rPr lang="en-US" sz="2400" b="0" dirty="0"/>
              <a:t>are they organizationally located? </a:t>
            </a:r>
            <a:endParaRPr lang="en-US" sz="2400" b="0" dirty="0" smtClean="0"/>
          </a:p>
          <a:p>
            <a:pPr>
              <a:lnSpc>
                <a:spcPct val="150000"/>
              </a:lnSpc>
            </a:pPr>
            <a:r>
              <a:rPr lang="en-US" sz="3200" b="0" dirty="0" smtClean="0"/>
              <a:t>H</a:t>
            </a:r>
            <a:r>
              <a:rPr lang="en-US" sz="2400" b="0" dirty="0" smtClean="0"/>
              <a:t>ow </a:t>
            </a:r>
            <a:r>
              <a:rPr lang="en-US" sz="2400" b="0" dirty="0"/>
              <a:t>will the job be done technically and managerially? </a:t>
            </a:r>
            <a:endParaRPr lang="en-US" sz="2400" b="0" dirty="0" smtClean="0"/>
          </a:p>
          <a:p>
            <a:pPr>
              <a:lnSpc>
                <a:spcPct val="150000"/>
              </a:lnSpc>
            </a:pPr>
            <a:r>
              <a:rPr lang="en-US" sz="3200" b="0" dirty="0" smtClean="0"/>
              <a:t>H</a:t>
            </a:r>
            <a:r>
              <a:rPr lang="en-US" sz="2400" b="0" dirty="0" smtClean="0"/>
              <a:t>ow </a:t>
            </a:r>
            <a:r>
              <a:rPr lang="en-US" sz="2400" b="0" dirty="0"/>
              <a:t>much of each resource is needed</a:t>
            </a:r>
            <a:r>
              <a:rPr lang="en-US" sz="2400" b="0" dirty="0" smtClean="0"/>
              <a:t>?</a:t>
            </a:r>
          </a:p>
          <a:p>
            <a:pPr marL="0" indent="0" algn="ctr">
              <a:lnSpc>
                <a:spcPct val="150000"/>
              </a:lnSpc>
              <a:buNone/>
            </a:pPr>
            <a:r>
              <a:rPr lang="fr-FR" sz="2400" dirty="0"/>
              <a:t>Barry Boehm </a:t>
            </a:r>
            <a:endParaRPr lang="en-US" sz="2300" b="0" dirty="0"/>
          </a:p>
          <a:p>
            <a:pPr marL="0" indent="0">
              <a:buNone/>
            </a:pPr>
            <a:endParaRPr lang="en-US" sz="2300"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348598789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63" y="188129"/>
            <a:ext cx="7722638" cy="822305"/>
          </a:xfrm>
        </p:spPr>
        <p:txBody>
          <a:bodyPr/>
          <a:lstStyle/>
          <a:p>
            <a:r>
              <a:rPr lang="en-US" dirty="0" smtClean="0"/>
              <a:t>State of Art – Project definition</a:t>
            </a:r>
            <a:endParaRPr lang="en-US" dirty="0"/>
          </a:p>
        </p:txBody>
      </p:sp>
      <p:sp>
        <p:nvSpPr>
          <p:cNvPr id="3" name="Content Placeholder 2"/>
          <p:cNvSpPr>
            <a:spLocks noGrp="1"/>
          </p:cNvSpPr>
          <p:nvPr>
            <p:ph idx="1"/>
          </p:nvPr>
        </p:nvSpPr>
        <p:spPr>
          <a:xfrm>
            <a:off x="284714" y="1066801"/>
            <a:ext cx="8554486" cy="3276599"/>
          </a:xfrm>
        </p:spPr>
        <p:txBody>
          <a:bodyPr/>
          <a:lstStyle/>
          <a:p>
            <a:r>
              <a:rPr lang="en-US" sz="1900" b="0" dirty="0"/>
              <a:t>A </a:t>
            </a:r>
            <a:r>
              <a:rPr lang="en-US" sz="1900" dirty="0"/>
              <a:t>project</a:t>
            </a:r>
            <a:r>
              <a:rPr lang="en-US" sz="1900" b="0" dirty="0"/>
              <a:t> is well-defined task, which is a collection of several operations done in order to achieve a goal (for example, software development and delivery). A Project can be characterized as:</a:t>
            </a:r>
          </a:p>
          <a:p>
            <a:pPr lvl="1"/>
            <a:r>
              <a:rPr lang="en-US" sz="1900" b="0" dirty="0"/>
              <a:t>Every project may has a unique and distinct goal.</a:t>
            </a:r>
          </a:p>
          <a:p>
            <a:pPr lvl="1"/>
            <a:r>
              <a:rPr lang="en-US" sz="1900" b="0" dirty="0"/>
              <a:t>Project is not routine activity or day-to-day operations.</a:t>
            </a:r>
          </a:p>
          <a:p>
            <a:pPr lvl="1"/>
            <a:r>
              <a:rPr lang="en-US" sz="1900" b="0" dirty="0"/>
              <a:t>Project comes with a start time and end time.</a:t>
            </a:r>
          </a:p>
          <a:p>
            <a:pPr lvl="1"/>
            <a:r>
              <a:rPr lang="en-US" sz="1900" b="0" dirty="0"/>
              <a:t>Project ends when its goal is achieved hence it is a temporary phase in the lifetime of an organization.</a:t>
            </a:r>
          </a:p>
          <a:p>
            <a:pPr lvl="1"/>
            <a:r>
              <a:rPr lang="en-US" sz="1900" b="0" dirty="0"/>
              <a:t>Project needs adequate resources in terms of time, manpower, finance, material and knowledge-bank</a:t>
            </a:r>
            <a:r>
              <a:rPr lang="en-US" sz="1900" b="0" dirty="0" smtClean="0"/>
              <a:t>.</a:t>
            </a:r>
          </a:p>
        </p:txBody>
      </p:sp>
      <p:sp>
        <p:nvSpPr>
          <p:cNvPr id="4" name="Slide Number Placeholder 3"/>
          <p:cNvSpPr>
            <a:spLocks noGrp="1"/>
          </p:cNvSpPr>
          <p:nvPr>
            <p:ph type="sldNum" sz="quarter" idx="11"/>
          </p:nvPr>
        </p:nvSpPr>
        <p:spPr/>
        <p:txBody>
          <a:bodyPr/>
          <a:lstStyle/>
          <a:p>
            <a:fld id="{B6F15528-21DE-4FAA-801E-634DDDAF4B2B}" type="slidenum">
              <a:rPr lang="en-US" smtClean="0"/>
              <a:pPr/>
              <a:t>20</a:t>
            </a:fld>
            <a:endParaRPr lang="en-US" dirty="0"/>
          </a:p>
        </p:txBody>
      </p:sp>
      <p:pic>
        <p:nvPicPr>
          <p:cNvPr id="5" name="Picture 4" descr="ime_Cost_Quality"/>
          <p:cNvPicPr/>
          <p:nvPr/>
        </p:nvPicPr>
        <p:blipFill>
          <a:blip r:embed="rId2">
            <a:extLst>
              <a:ext uri="{28A0092B-C50C-407E-A947-70E740481C1C}">
                <a14:useLocalDpi xmlns:a14="http://schemas.microsoft.com/office/drawing/2010/main" val="0"/>
              </a:ext>
            </a:extLst>
          </a:blip>
          <a:srcRect/>
          <a:stretch>
            <a:fillRect/>
          </a:stretch>
        </p:blipFill>
        <p:spPr bwMode="auto">
          <a:xfrm>
            <a:off x="6781800" y="4470400"/>
            <a:ext cx="2057400" cy="1778000"/>
          </a:xfrm>
          <a:prstGeom prst="rect">
            <a:avLst/>
          </a:prstGeom>
          <a:noFill/>
          <a:ln>
            <a:noFill/>
          </a:ln>
        </p:spPr>
      </p:pic>
      <p:sp>
        <p:nvSpPr>
          <p:cNvPr id="6" name="Content Placeholder 2"/>
          <p:cNvSpPr txBox="1">
            <a:spLocks/>
          </p:cNvSpPr>
          <p:nvPr/>
        </p:nvSpPr>
        <p:spPr bwMode="auto">
          <a:xfrm>
            <a:off x="169864" y="4343400"/>
            <a:ext cx="6307136" cy="21875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just" rtl="0" eaLnBrk="1" fontAlgn="base" hangingPunct="1">
              <a:spcBef>
                <a:spcPct val="20000"/>
              </a:spcBef>
              <a:spcAft>
                <a:spcPct val="0"/>
              </a:spcAft>
              <a:buClr>
                <a:srgbClr val="C00000"/>
              </a:buClr>
              <a:buSzPct val="150000"/>
              <a:buFont typeface="Arial" pitchFamily="34" charset="0"/>
              <a:buChar char="●"/>
              <a:defRPr sz="2500" b="1">
                <a:solidFill>
                  <a:srgbClr val="1E4C7C"/>
                </a:solidFill>
                <a:latin typeface="+mn-lt"/>
                <a:ea typeface="+mn-ea"/>
                <a:cs typeface="+mn-cs"/>
              </a:defRPr>
            </a:lvl1pPr>
            <a:lvl2pPr marL="785812" indent="-342900" algn="just" rtl="0" eaLnBrk="1" fontAlgn="base" hangingPunct="1">
              <a:spcBef>
                <a:spcPct val="20000"/>
              </a:spcBef>
              <a:spcAft>
                <a:spcPct val="0"/>
              </a:spcAft>
              <a:buClr>
                <a:schemeClr val="accent2">
                  <a:lumMod val="75000"/>
                </a:schemeClr>
              </a:buClr>
              <a:buSzPct val="140000"/>
              <a:buFont typeface="Arial" pitchFamily="34" charset="0"/>
              <a:buChar char="●"/>
              <a:defRPr sz="2100" b="1">
                <a:solidFill>
                  <a:srgbClr val="1E4C7C"/>
                </a:solidFill>
                <a:latin typeface="+mn-lt"/>
              </a:defRPr>
            </a:lvl2pPr>
            <a:lvl3pPr marL="1150938" indent="-342900" algn="just" rtl="0" eaLnBrk="1" fontAlgn="base" hangingPunct="1">
              <a:spcBef>
                <a:spcPct val="20000"/>
              </a:spcBef>
              <a:spcAft>
                <a:spcPct val="0"/>
              </a:spcAft>
              <a:buClr>
                <a:schemeClr val="accent2">
                  <a:lumMod val="60000"/>
                  <a:lumOff val="40000"/>
                </a:schemeClr>
              </a:buClr>
              <a:buSzPct val="110000"/>
              <a:buFont typeface="Arial" pitchFamily="34" charset="0"/>
              <a:buChar char="●"/>
              <a:defRPr sz="1900" b="1">
                <a:solidFill>
                  <a:srgbClr val="1E4C7C"/>
                </a:solidFill>
                <a:latin typeface="+mn-lt"/>
              </a:defRPr>
            </a:lvl3pPr>
            <a:lvl4pPr marL="1349375" indent="-187325" algn="just" rtl="0" eaLnBrk="1" fontAlgn="base" hangingPunct="1">
              <a:spcBef>
                <a:spcPct val="20000"/>
              </a:spcBef>
              <a:spcAft>
                <a:spcPct val="0"/>
              </a:spcAft>
              <a:buClr>
                <a:srgbClr val="3D445B"/>
              </a:buClr>
              <a:buSzPct val="80000"/>
              <a:buFont typeface="Wingdings 2" pitchFamily="18" charset="2"/>
              <a:buBlip>
                <a:blip r:embed="rId3"/>
              </a:buBlip>
              <a:defRPr sz="1900" i="1">
                <a:solidFill>
                  <a:srgbClr val="1E4C7C"/>
                </a:solidFill>
                <a:latin typeface="+mn-lt"/>
              </a:defRPr>
            </a:lvl4pPr>
            <a:lvl5pPr marL="1703388" indent="-174625" algn="just" rtl="0" eaLnBrk="1" fontAlgn="base" hangingPunct="1">
              <a:spcBef>
                <a:spcPct val="20000"/>
              </a:spcBef>
              <a:spcAft>
                <a:spcPct val="0"/>
              </a:spcAft>
              <a:buSzPct val="75000"/>
              <a:buBlip>
                <a:blip r:embed="rId4"/>
              </a:buBlip>
              <a:defRPr sz="1600">
                <a:solidFill>
                  <a:srgbClr val="1E4C7C"/>
                </a:solidFill>
                <a:latin typeface="+mn-lt"/>
              </a:defRPr>
            </a:lvl5pPr>
            <a:lvl6pPr marL="2160588" indent="-174625" algn="just" rtl="0" eaLnBrk="1" fontAlgn="base" hangingPunct="1">
              <a:spcBef>
                <a:spcPct val="20000"/>
              </a:spcBef>
              <a:spcAft>
                <a:spcPct val="0"/>
              </a:spcAft>
              <a:buSzPct val="75000"/>
              <a:buBlip>
                <a:blip r:embed="rId4"/>
              </a:buBlip>
              <a:defRPr sz="1600">
                <a:solidFill>
                  <a:srgbClr val="1E4C7C"/>
                </a:solidFill>
                <a:latin typeface="+mn-lt"/>
              </a:defRPr>
            </a:lvl6pPr>
            <a:lvl7pPr marL="2617788" indent="-174625" algn="just" rtl="0" eaLnBrk="1" fontAlgn="base" hangingPunct="1">
              <a:spcBef>
                <a:spcPct val="20000"/>
              </a:spcBef>
              <a:spcAft>
                <a:spcPct val="0"/>
              </a:spcAft>
              <a:buSzPct val="75000"/>
              <a:buBlip>
                <a:blip r:embed="rId4"/>
              </a:buBlip>
              <a:defRPr sz="1600">
                <a:solidFill>
                  <a:srgbClr val="1E4C7C"/>
                </a:solidFill>
                <a:latin typeface="+mn-lt"/>
              </a:defRPr>
            </a:lvl7pPr>
            <a:lvl8pPr marL="3074988" indent="-174625" algn="just" rtl="0" eaLnBrk="1" fontAlgn="base" hangingPunct="1">
              <a:spcBef>
                <a:spcPct val="20000"/>
              </a:spcBef>
              <a:spcAft>
                <a:spcPct val="0"/>
              </a:spcAft>
              <a:buSzPct val="75000"/>
              <a:buBlip>
                <a:blip r:embed="rId4"/>
              </a:buBlip>
              <a:defRPr sz="1600">
                <a:solidFill>
                  <a:srgbClr val="1E4C7C"/>
                </a:solidFill>
                <a:latin typeface="+mn-lt"/>
              </a:defRPr>
            </a:lvl8pPr>
            <a:lvl9pPr marL="3532188" indent="-174625" algn="just" rtl="0" eaLnBrk="1" fontAlgn="base" hangingPunct="1">
              <a:spcBef>
                <a:spcPct val="20000"/>
              </a:spcBef>
              <a:spcAft>
                <a:spcPct val="0"/>
              </a:spcAft>
              <a:buSzPct val="75000"/>
              <a:buBlip>
                <a:blip r:embed="rId4"/>
              </a:buBlip>
              <a:defRPr sz="1600">
                <a:solidFill>
                  <a:srgbClr val="1E4C7C"/>
                </a:solidFill>
                <a:latin typeface="+mn-lt"/>
              </a:defRPr>
            </a:lvl9pPr>
          </a:lstStyle>
          <a:p>
            <a:r>
              <a:rPr lang="en-US" sz="1900" b="0" kern="0" dirty="0" smtClean="0"/>
              <a:t>Software Project</a:t>
            </a:r>
          </a:p>
          <a:p>
            <a:pPr lvl="1"/>
            <a:r>
              <a:rPr lang="en-US" sz="1900" b="0" kern="0" dirty="0" smtClean="0"/>
              <a:t>A </a:t>
            </a:r>
            <a:r>
              <a:rPr lang="en-US" sz="1900" kern="0" dirty="0" smtClean="0"/>
              <a:t>Software Project </a:t>
            </a:r>
            <a:r>
              <a:rPr lang="en-US" sz="1900" b="0" kern="0" dirty="0" smtClean="0"/>
              <a:t>is the complete procedure of software development from requirement gathering to testing and maintenance, carried out according to the execution methodologies, in a specified period of time to achieve intended software product.</a:t>
            </a:r>
          </a:p>
          <a:p>
            <a:pPr lvl="1"/>
            <a:endParaRPr lang="en-US" sz="1900" b="0" kern="0" dirty="0"/>
          </a:p>
        </p:txBody>
      </p:sp>
    </p:spTree>
    <p:extLst>
      <p:ext uri="{BB962C8B-B14F-4D97-AF65-F5344CB8AC3E}">
        <p14:creationId xmlns:p14="http://schemas.microsoft.com/office/powerpoint/2010/main" val="1697216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63" y="188129"/>
            <a:ext cx="6581176" cy="822305"/>
          </a:xfrm>
        </p:spPr>
        <p:txBody>
          <a:bodyPr/>
          <a:lstStyle/>
          <a:p>
            <a:r>
              <a:rPr lang="en-US" dirty="0" smtClean="0"/>
              <a:t>Project - Critical Practices</a:t>
            </a:r>
            <a:endParaRPr lang="en-US" dirty="0"/>
          </a:p>
        </p:txBody>
      </p:sp>
      <p:sp>
        <p:nvSpPr>
          <p:cNvPr id="3" name="Content Placeholder 2"/>
          <p:cNvSpPr>
            <a:spLocks noGrp="1"/>
          </p:cNvSpPr>
          <p:nvPr>
            <p:ph idx="1"/>
          </p:nvPr>
        </p:nvSpPr>
        <p:spPr/>
        <p:txBody>
          <a:bodyPr/>
          <a:lstStyle/>
          <a:p>
            <a:r>
              <a:rPr lang="en-US" sz="2400" dirty="0" smtClean="0"/>
              <a:t>Formal </a:t>
            </a:r>
            <a:r>
              <a:rPr lang="en-US" sz="2400" dirty="0"/>
              <a:t>risk </a:t>
            </a:r>
            <a:r>
              <a:rPr lang="en-US" sz="2400" dirty="0" smtClean="0"/>
              <a:t>management: </a:t>
            </a:r>
            <a:r>
              <a:rPr lang="en-US" sz="2400" b="0" dirty="0"/>
              <a:t>top ten risks for this </a:t>
            </a:r>
            <a:r>
              <a:rPr lang="en-US" sz="2400" b="0" dirty="0" smtClean="0"/>
              <a:t>project, the </a:t>
            </a:r>
            <a:r>
              <a:rPr lang="en-US" sz="2400" b="0" dirty="0"/>
              <a:t>chance that the risk will </a:t>
            </a:r>
            <a:r>
              <a:rPr lang="en-US" sz="2400" b="0" dirty="0" smtClean="0"/>
              <a:t>become, the </a:t>
            </a:r>
            <a:r>
              <a:rPr lang="en-US" sz="2400" b="0" dirty="0"/>
              <a:t>impact if it </a:t>
            </a:r>
            <a:r>
              <a:rPr lang="en-US" sz="2400" b="0" dirty="0" smtClean="0"/>
              <a:t>does</a:t>
            </a:r>
          </a:p>
          <a:p>
            <a:r>
              <a:rPr lang="en-US" sz="2400" dirty="0"/>
              <a:t>Empirical cost and schedule </a:t>
            </a:r>
            <a:r>
              <a:rPr lang="en-US" sz="2400" dirty="0" smtClean="0"/>
              <a:t>estimation</a:t>
            </a:r>
            <a:r>
              <a:rPr lang="en-US" sz="2400" dirty="0"/>
              <a:t>:</a:t>
            </a:r>
            <a:r>
              <a:rPr lang="en-US" sz="2400" dirty="0" smtClean="0"/>
              <a:t> </a:t>
            </a:r>
            <a:r>
              <a:rPr lang="en-US" sz="2400" b="0" dirty="0"/>
              <a:t>the current estimated size of the application software </a:t>
            </a:r>
            <a:endParaRPr lang="en-US" sz="2400" b="0" dirty="0" smtClean="0"/>
          </a:p>
          <a:p>
            <a:r>
              <a:rPr lang="en-US" sz="2400" dirty="0" smtClean="0"/>
              <a:t>Metric-based </a:t>
            </a:r>
            <a:r>
              <a:rPr lang="en-US" sz="2400" dirty="0"/>
              <a:t>project </a:t>
            </a:r>
            <a:r>
              <a:rPr lang="en-US" sz="2400" dirty="0" smtClean="0"/>
              <a:t>management: </a:t>
            </a:r>
            <a:r>
              <a:rPr lang="en-US" sz="2400" b="0" dirty="0"/>
              <a:t>a metrics </a:t>
            </a:r>
            <a:r>
              <a:rPr lang="en-US" sz="2400" b="0" dirty="0" smtClean="0"/>
              <a:t>program </a:t>
            </a:r>
            <a:r>
              <a:rPr lang="en-US" sz="2400" b="0" dirty="0"/>
              <a:t>to give an early indication of evolving problems </a:t>
            </a:r>
            <a:endParaRPr lang="en-US" sz="2400" b="0" dirty="0" smtClean="0"/>
          </a:p>
          <a:p>
            <a:r>
              <a:rPr lang="en-US" sz="2400" dirty="0"/>
              <a:t>Earned value </a:t>
            </a:r>
            <a:r>
              <a:rPr lang="en-US" sz="2400" dirty="0" smtClean="0"/>
              <a:t>tracking: </a:t>
            </a:r>
            <a:r>
              <a:rPr lang="en-US" sz="2400" b="0" dirty="0" smtClean="0"/>
              <a:t>monthly </a:t>
            </a:r>
            <a:r>
              <a:rPr lang="en-US" sz="2400" b="0" dirty="0"/>
              <a:t>earned value metrics? </a:t>
            </a:r>
            <a:endParaRPr lang="en-US" sz="2400" b="0" dirty="0" smtClean="0"/>
          </a:p>
          <a:p>
            <a:r>
              <a:rPr lang="en-US" sz="2400" dirty="0" smtClean="0"/>
              <a:t>Defect </a:t>
            </a:r>
            <a:r>
              <a:rPr lang="en-US" sz="2400" dirty="0"/>
              <a:t>tracking against quality </a:t>
            </a:r>
            <a:r>
              <a:rPr lang="en-US" sz="2400" dirty="0" smtClean="0"/>
              <a:t>targets: </a:t>
            </a:r>
            <a:r>
              <a:rPr lang="en-US" sz="2400" b="0" dirty="0"/>
              <a:t>track and </a:t>
            </a:r>
            <a:r>
              <a:rPr lang="en-US" sz="2400" b="0" dirty="0" smtClean="0"/>
              <a:t>report </a:t>
            </a:r>
            <a:r>
              <a:rPr lang="en-US" sz="2400" b="0" dirty="0"/>
              <a:t>the number of defects </a:t>
            </a:r>
            <a:r>
              <a:rPr lang="en-US" sz="2400" b="0" dirty="0" smtClean="0"/>
              <a:t>found, </a:t>
            </a:r>
            <a:r>
              <a:rPr lang="en-US" sz="2400" b="0" dirty="0"/>
              <a:t>execution test from program </a:t>
            </a:r>
            <a:r>
              <a:rPr lang="en-US" sz="2400" b="0" dirty="0" smtClean="0"/>
              <a:t>inception, the </a:t>
            </a:r>
            <a:r>
              <a:rPr lang="en-US" sz="2400" b="0" dirty="0"/>
              <a:t>number of defects currently closed /</a:t>
            </a:r>
            <a:r>
              <a:rPr lang="en-US" sz="2400" b="0" dirty="0" smtClean="0"/>
              <a:t> </a:t>
            </a:r>
            <a:r>
              <a:rPr lang="en-US" sz="2400" b="0" dirty="0"/>
              <a:t>open? </a:t>
            </a:r>
            <a:endParaRPr lang="en-US" sz="2400" dirty="0" smtClean="0"/>
          </a:p>
          <a:p>
            <a:r>
              <a:rPr lang="en-US" sz="2400" dirty="0" smtClean="0"/>
              <a:t>People-aware </a:t>
            </a:r>
            <a:r>
              <a:rPr lang="en-US" sz="2400" dirty="0"/>
              <a:t>program </a:t>
            </a:r>
            <a:r>
              <a:rPr lang="en-US" sz="2400" dirty="0" smtClean="0"/>
              <a:t>management: </a:t>
            </a:r>
            <a:r>
              <a:rPr lang="en-US" sz="2400" b="0" dirty="0" smtClean="0"/>
              <a:t>the </a:t>
            </a:r>
            <a:r>
              <a:rPr lang="en-US" sz="2400" b="0" dirty="0"/>
              <a:t>average staff turnover for the past three months for each of the suppliers/developers </a:t>
            </a:r>
            <a:r>
              <a:rPr lang="en-US" sz="2400" b="0" dirty="0" smtClean="0"/>
              <a:t>involved</a:t>
            </a:r>
            <a:endParaRPr lang="en-US" sz="2400" dirty="0"/>
          </a:p>
        </p:txBody>
      </p:sp>
      <p:sp>
        <p:nvSpPr>
          <p:cNvPr id="4" name="Slide Number Placeholder 3"/>
          <p:cNvSpPr>
            <a:spLocks noGrp="1"/>
          </p:cNvSpPr>
          <p:nvPr>
            <p:ph type="sldNum" sz="quarter" idx="11"/>
          </p:nvPr>
        </p:nvSpPr>
        <p:spPr/>
        <p:txBody>
          <a:bodyPr/>
          <a:lstStyle/>
          <a:p>
            <a:fld id="{B6F15528-21DE-4FAA-801E-634DDDAF4B2B}" type="slidenum">
              <a:rPr lang="en-US" smtClean="0"/>
              <a:pPr/>
              <a:t>21</a:t>
            </a:fld>
            <a:endParaRPr lang="en-US" dirty="0"/>
          </a:p>
        </p:txBody>
      </p:sp>
    </p:spTree>
    <p:extLst>
      <p:ext uri="{BB962C8B-B14F-4D97-AF65-F5344CB8AC3E}">
        <p14:creationId xmlns:p14="http://schemas.microsoft.com/office/powerpoint/2010/main" val="16802327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62" y="166490"/>
            <a:ext cx="8502856" cy="931266"/>
          </a:xfrm>
        </p:spPr>
        <p:txBody>
          <a:bodyPr/>
          <a:lstStyle/>
          <a:p>
            <a:r>
              <a:rPr lang="en-US" sz="2000" dirty="0" smtClean="0"/>
              <a:t>Determinants </a:t>
            </a:r>
            <a:r>
              <a:rPr lang="en-US" sz="2000" dirty="0"/>
              <a:t>for software quality </a:t>
            </a:r>
            <a:r>
              <a:rPr lang="en-US" sz="2000" dirty="0" smtClean="0"/>
              <a:t>&amp; organizational effectiveness </a:t>
            </a:r>
            <a:r>
              <a:rPr lang="en-US" sz="2000" dirty="0"/>
              <a:t/>
            </a:r>
            <a:br>
              <a:rPr lang="en-US" sz="2000" dirty="0"/>
            </a:br>
            <a:endParaRPr lang="en-US" sz="20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9031" y="1097756"/>
            <a:ext cx="6692900" cy="5016500"/>
          </a:xfrm>
        </p:spPr>
      </p:pic>
      <p:sp>
        <p:nvSpPr>
          <p:cNvPr id="4" name="Slide Number Placeholder 3"/>
          <p:cNvSpPr>
            <a:spLocks noGrp="1"/>
          </p:cNvSpPr>
          <p:nvPr>
            <p:ph type="sldNum" sz="quarter" idx="11"/>
          </p:nvPr>
        </p:nvSpPr>
        <p:spPr/>
        <p:txBody>
          <a:bodyPr/>
          <a:lstStyle/>
          <a:p>
            <a:fld id="{B6F15528-21DE-4FAA-801E-634DDDAF4B2B}" type="slidenum">
              <a:rPr lang="en-US" smtClean="0"/>
              <a:pPr/>
              <a:t>22</a:t>
            </a:fld>
            <a:endParaRPr lang="en-US" dirty="0"/>
          </a:p>
        </p:txBody>
      </p:sp>
    </p:spTree>
    <p:extLst>
      <p:ext uri="{BB962C8B-B14F-4D97-AF65-F5344CB8AC3E}">
        <p14:creationId xmlns:p14="http://schemas.microsoft.com/office/powerpoint/2010/main" val="1150918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2566326" cy="822305"/>
          </a:xfrm>
        </p:spPr>
        <p:txBody>
          <a:bodyPr/>
          <a:lstStyle/>
          <a:p>
            <a:r>
              <a:rPr lang="fr-FR" dirty="0" smtClean="0"/>
              <a:t> Content</a:t>
            </a:r>
            <a:endParaRPr lang="fr-FR" dirty="0"/>
          </a:p>
        </p:txBody>
      </p:sp>
      <p:sp>
        <p:nvSpPr>
          <p:cNvPr id="18" name="Content Placeholder 17"/>
          <p:cNvSpPr>
            <a:spLocks noGrp="1"/>
          </p:cNvSpPr>
          <p:nvPr>
            <p:ph idx="1"/>
          </p:nvPr>
        </p:nvSpPr>
        <p:spPr>
          <a:xfrm>
            <a:off x="304800" y="1295400"/>
            <a:ext cx="8686800" cy="5077703"/>
          </a:xfrm>
        </p:spPr>
        <p:txBody>
          <a:bodyPr/>
          <a:lstStyle/>
          <a:p>
            <a:pPr marL="0" indent="0" algn="ctr">
              <a:buNone/>
            </a:pPr>
            <a:r>
              <a:rPr lang="en-US" sz="8800" dirty="0" smtClean="0"/>
              <a:t>Part II</a:t>
            </a:r>
          </a:p>
          <a:p>
            <a:pPr marL="0" indent="0" algn="ctr">
              <a:buNone/>
            </a:pPr>
            <a:r>
              <a:rPr lang="en-US" sz="4800" dirty="0" smtClean="0"/>
              <a:t>Project Metrics and Software Measurement</a:t>
            </a:r>
          </a:p>
          <a:p>
            <a:pPr marL="0" indent="0" algn="ctr">
              <a:buNone/>
            </a:pPr>
            <a:endParaRPr lang="it-IT" dirty="0" smtClean="0"/>
          </a:p>
          <a:p>
            <a:pPr marL="0" indent="0" algn="ctr"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900" dirty="0" smtClean="0">
              <a:ea typeface="+mn-ea"/>
              <a:cs typeface="+mn-cs"/>
            </a:endParaRPr>
          </a:p>
          <a:p>
            <a:pPr marL="0" indent="0" algn="ctr"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smtClean="0"/>
          </a:p>
          <a:p>
            <a:pPr marL="0" indent="0" algn="ctr"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lvl="1" algn="ctr" defTabSz="457200">
              <a:lnSpc>
                <a:spcPct val="90000"/>
              </a:lnSpc>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lvl="1" algn="ctr" defTabSz="457200">
              <a:lnSpc>
                <a:spcPct val="90000"/>
              </a:lnSpc>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marL="0" indent="0" algn="ctr">
              <a:buNone/>
            </a:pPr>
            <a:endParaRPr lang="en-US"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140107237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4380726" cy="822305"/>
          </a:xfrm>
        </p:spPr>
        <p:txBody>
          <a:bodyPr/>
          <a:lstStyle/>
          <a:p>
            <a:r>
              <a:rPr lang="fr-FR" dirty="0" smtClean="0"/>
              <a:t> </a:t>
            </a:r>
            <a:r>
              <a:rPr lang="fr-FR" dirty="0" err="1" smtClean="0"/>
              <a:t>Sate</a:t>
            </a:r>
            <a:r>
              <a:rPr lang="fr-FR" dirty="0" smtClean="0"/>
              <a:t> of </a:t>
            </a:r>
            <a:r>
              <a:rPr lang="fr-FR" dirty="0" err="1" smtClean="0"/>
              <a:t>problem</a:t>
            </a:r>
            <a:endParaRPr lang="fr-FR" dirty="0"/>
          </a:p>
        </p:txBody>
      </p:sp>
      <p:sp>
        <p:nvSpPr>
          <p:cNvPr id="18" name="Content Placeholder 17"/>
          <p:cNvSpPr>
            <a:spLocks noGrp="1"/>
          </p:cNvSpPr>
          <p:nvPr>
            <p:ph idx="1"/>
          </p:nvPr>
        </p:nvSpPr>
        <p:spPr>
          <a:xfrm>
            <a:off x="304800" y="838200"/>
            <a:ext cx="8686800" cy="5077703"/>
          </a:xfrm>
        </p:spPr>
        <p:txBody>
          <a:bodyPr/>
          <a:lstStyle/>
          <a:p>
            <a:pPr marL="0" indent="0">
              <a:buNone/>
            </a:pPr>
            <a:endParaRPr lang="en-US" sz="2300" dirty="0" smtClean="0"/>
          </a:p>
          <a:p>
            <a:pPr marL="0" indent="0">
              <a:buNone/>
            </a:pPr>
            <a:r>
              <a:rPr lang="en-US" sz="2400" b="0" dirty="0" smtClean="0"/>
              <a:t>“</a:t>
            </a:r>
            <a:r>
              <a:rPr lang="en-US" sz="2400" b="0" i="1" dirty="0" smtClean="0"/>
              <a:t>When </a:t>
            </a:r>
            <a:r>
              <a:rPr lang="en-US" sz="2400" b="0" i="1" dirty="0"/>
              <a:t>you can measure what you are speaking about and express it in numbers, </a:t>
            </a:r>
            <a:r>
              <a:rPr lang="en-US" sz="2400" b="0" i="1" dirty="0" smtClean="0"/>
              <a:t>you know </a:t>
            </a:r>
            <a:r>
              <a:rPr lang="en-US" sz="2400" b="0" i="1" dirty="0"/>
              <a:t>something about it; but when you cannot measure, when you cannot </a:t>
            </a:r>
            <a:r>
              <a:rPr lang="en-US" sz="2400" b="0" i="1" dirty="0" smtClean="0"/>
              <a:t>express it </a:t>
            </a:r>
            <a:r>
              <a:rPr lang="en-US" sz="2400" b="0" i="1" dirty="0"/>
              <a:t>in numbers, your knowledge is of a meager and unsatisfactory kind: it may be </a:t>
            </a:r>
            <a:r>
              <a:rPr lang="en-US" sz="2400" b="0" i="1" dirty="0" smtClean="0"/>
              <a:t>the beginning </a:t>
            </a:r>
            <a:r>
              <a:rPr lang="en-US" sz="2400" b="0" i="1" dirty="0"/>
              <a:t>of knowledge, but you have scarcely, in your thoughts, advanced to </a:t>
            </a:r>
            <a:r>
              <a:rPr lang="en-US" sz="2400" b="0" i="1" dirty="0" smtClean="0"/>
              <a:t>the stage </a:t>
            </a:r>
            <a:r>
              <a:rPr lang="en-US" sz="2400" b="0" i="1" dirty="0"/>
              <a:t>of a science</a:t>
            </a:r>
            <a:r>
              <a:rPr lang="en-US" sz="2400" b="0" i="1" dirty="0" smtClean="0"/>
              <a:t>.”</a:t>
            </a:r>
          </a:p>
          <a:p>
            <a:pPr marL="0" indent="0">
              <a:buNone/>
            </a:pPr>
            <a:endParaRPr lang="en-US" sz="2400" b="0" i="1" dirty="0"/>
          </a:p>
          <a:p>
            <a:pPr marL="0" indent="0">
              <a:buNone/>
            </a:pPr>
            <a:r>
              <a:rPr lang="en-US" sz="2400" b="0" dirty="0" smtClean="0"/>
              <a:t>[Lord Kevin]</a:t>
            </a:r>
            <a:endParaRPr lang="en-US" sz="2300"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223714049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8113571" cy="822305"/>
          </a:xfrm>
        </p:spPr>
        <p:txBody>
          <a:bodyPr/>
          <a:lstStyle/>
          <a:p>
            <a:r>
              <a:rPr lang="fr-FR" dirty="0" smtClean="0"/>
              <a:t> Goals of software </a:t>
            </a:r>
            <a:r>
              <a:rPr lang="fr-FR" dirty="0" err="1" smtClean="0"/>
              <a:t>measurement</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400" b="0" dirty="0"/>
              <a:t>to assist in estimation, quality control, productivity </a:t>
            </a:r>
            <a:r>
              <a:rPr lang="en-US" sz="2400" b="0" dirty="0" smtClean="0"/>
              <a:t>assessment, and </a:t>
            </a:r>
            <a:r>
              <a:rPr lang="en-US" sz="2400" b="0" dirty="0"/>
              <a:t>project </a:t>
            </a:r>
            <a:r>
              <a:rPr lang="en-US" sz="2400" b="0" dirty="0" smtClean="0"/>
              <a:t>control</a:t>
            </a:r>
          </a:p>
          <a:p>
            <a:pPr marL="0" indent="0">
              <a:buNone/>
            </a:pPr>
            <a:endParaRPr lang="en-US" sz="2400" b="0" dirty="0" smtClean="0"/>
          </a:p>
          <a:p>
            <a:r>
              <a:rPr lang="en-US" sz="2400" b="0" dirty="0" smtClean="0"/>
              <a:t>can </a:t>
            </a:r>
            <a:r>
              <a:rPr lang="en-US" sz="2400" b="0" dirty="0"/>
              <a:t>be used by software </a:t>
            </a:r>
            <a:r>
              <a:rPr lang="en-US" sz="2400" b="0" dirty="0" smtClean="0"/>
              <a:t>engineers to </a:t>
            </a:r>
            <a:r>
              <a:rPr lang="en-US" sz="2400" b="0" dirty="0"/>
              <a:t>help assess the quality of technical work products and to assist </a:t>
            </a:r>
            <a:r>
              <a:rPr lang="en-US" sz="2400" b="0" dirty="0" smtClean="0"/>
              <a:t>in tactical </a:t>
            </a:r>
            <a:r>
              <a:rPr lang="en-US" sz="2400" b="0" dirty="0"/>
              <a:t>decision making as a project </a:t>
            </a:r>
            <a:r>
              <a:rPr lang="en-US" sz="2400" b="0" dirty="0" smtClean="0"/>
              <a:t>proceeds</a:t>
            </a:r>
            <a:endParaRPr lang="en-US" sz="230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363670953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63" y="188129"/>
            <a:ext cx="1919731" cy="822305"/>
          </a:xfrm>
        </p:spPr>
        <p:txBody>
          <a:bodyPr/>
          <a:lstStyle/>
          <a:p>
            <a:r>
              <a:rPr lang="en-US" dirty="0" smtClean="0"/>
              <a:t>Steps</a:t>
            </a:r>
            <a:endParaRPr lang="en-US" dirty="0"/>
          </a:p>
        </p:txBody>
      </p:sp>
      <p:sp>
        <p:nvSpPr>
          <p:cNvPr id="3" name="Content Placeholder 2"/>
          <p:cNvSpPr>
            <a:spLocks noGrp="1"/>
          </p:cNvSpPr>
          <p:nvPr>
            <p:ph idx="1"/>
          </p:nvPr>
        </p:nvSpPr>
        <p:spPr/>
        <p:txBody>
          <a:bodyPr/>
          <a:lstStyle/>
          <a:p>
            <a:r>
              <a:rPr lang="en-US" b="0" dirty="0"/>
              <a:t>D</a:t>
            </a:r>
            <a:r>
              <a:rPr lang="en-US" b="0" dirty="0" smtClean="0"/>
              <a:t>efining </a:t>
            </a:r>
            <a:r>
              <a:rPr lang="en-US" b="0" dirty="0"/>
              <a:t>a limited set of process, project, and product measures that are easy to collect </a:t>
            </a:r>
            <a:r>
              <a:rPr lang="en-US" b="0" dirty="0" smtClean="0"/>
              <a:t>(</a:t>
            </a:r>
            <a:r>
              <a:rPr lang="en-US" b="0" dirty="0"/>
              <a:t>often </a:t>
            </a:r>
            <a:r>
              <a:rPr lang="en-US" b="0" dirty="0" smtClean="0"/>
              <a:t>normalized </a:t>
            </a:r>
            <a:r>
              <a:rPr lang="en-US" b="0" dirty="0"/>
              <a:t>using either </a:t>
            </a:r>
            <a:r>
              <a:rPr lang="en-US" b="0" dirty="0" smtClean="0"/>
              <a:t>size-oriented </a:t>
            </a:r>
            <a:r>
              <a:rPr lang="en-US" b="0" dirty="0"/>
              <a:t>or function-oriented </a:t>
            </a:r>
            <a:r>
              <a:rPr lang="en-US" b="0" dirty="0" smtClean="0"/>
              <a:t>metrics</a:t>
            </a:r>
            <a:r>
              <a:rPr lang="en-US" b="0" dirty="0"/>
              <a:t>)</a:t>
            </a:r>
          </a:p>
          <a:p>
            <a:r>
              <a:rPr lang="en-US" b="0" dirty="0" smtClean="0"/>
              <a:t>The </a:t>
            </a:r>
            <a:r>
              <a:rPr lang="en-US" b="0" dirty="0"/>
              <a:t>result is analyzed and compared to past averages for similar projects performed </a:t>
            </a:r>
            <a:endParaRPr lang="en-US" b="0" dirty="0" smtClean="0"/>
          </a:p>
          <a:p>
            <a:r>
              <a:rPr lang="en-US" b="0" dirty="0"/>
              <a:t>Trends are assessed and conclusions are generated. </a:t>
            </a:r>
          </a:p>
        </p:txBody>
      </p:sp>
      <p:sp>
        <p:nvSpPr>
          <p:cNvPr id="4" name="Slide Number Placeholder 3"/>
          <p:cNvSpPr>
            <a:spLocks noGrp="1"/>
          </p:cNvSpPr>
          <p:nvPr>
            <p:ph type="sldNum" sz="quarter" idx="11"/>
          </p:nvPr>
        </p:nvSpPr>
        <p:spPr/>
        <p:txBody>
          <a:bodyPr/>
          <a:lstStyle/>
          <a:p>
            <a:fld id="{B6F15528-21DE-4FAA-801E-634DDDAF4B2B}" type="slidenum">
              <a:rPr lang="en-US" smtClean="0"/>
              <a:pPr/>
              <a:t>26</a:t>
            </a:fld>
            <a:endParaRPr lang="en-US" dirty="0"/>
          </a:p>
        </p:txBody>
      </p:sp>
    </p:spTree>
    <p:extLst>
      <p:ext uri="{BB962C8B-B14F-4D97-AF65-F5344CB8AC3E}">
        <p14:creationId xmlns:p14="http://schemas.microsoft.com/office/powerpoint/2010/main" val="35857113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2956674" cy="822305"/>
          </a:xfrm>
        </p:spPr>
        <p:txBody>
          <a:bodyPr/>
          <a:lstStyle/>
          <a:p>
            <a:r>
              <a:rPr lang="fr-FR" dirty="0" smtClean="0"/>
              <a:t> Concepts</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400" b="0" dirty="0"/>
              <a:t>A</a:t>
            </a:r>
            <a:r>
              <a:rPr lang="en-US" sz="2400" b="0" dirty="0" smtClean="0"/>
              <a:t> </a:t>
            </a:r>
            <a:r>
              <a:rPr lang="en-US" sz="2400" b="0" i="1" dirty="0"/>
              <a:t>measure</a:t>
            </a:r>
            <a:r>
              <a:rPr lang="en-US" sz="2400" b="0" dirty="0"/>
              <a:t> provides a quantitative </a:t>
            </a:r>
            <a:r>
              <a:rPr lang="en-US" sz="2400" b="0" dirty="0" smtClean="0"/>
              <a:t>indication of </a:t>
            </a:r>
            <a:r>
              <a:rPr lang="en-US" sz="2400" b="0" dirty="0"/>
              <a:t>the extent, amount, dimension, capacity, or size of some attribute of a </a:t>
            </a:r>
            <a:r>
              <a:rPr lang="en-US" sz="2400" b="0" dirty="0" smtClean="0"/>
              <a:t>product or process</a:t>
            </a:r>
          </a:p>
          <a:p>
            <a:r>
              <a:rPr lang="en-US" sz="2400" b="0" i="1" dirty="0" smtClean="0"/>
              <a:t>Measurement</a:t>
            </a:r>
            <a:r>
              <a:rPr lang="en-US" sz="2400" b="0" dirty="0" smtClean="0"/>
              <a:t> is the act of determining a measure </a:t>
            </a:r>
          </a:p>
          <a:p>
            <a:r>
              <a:rPr lang="en-US" sz="2400" b="0" i="1" dirty="0" smtClean="0"/>
              <a:t>Metric</a:t>
            </a:r>
            <a:r>
              <a:rPr lang="en-US" sz="2400" b="0" dirty="0" smtClean="0"/>
              <a:t> is a </a:t>
            </a:r>
            <a:r>
              <a:rPr lang="en-US" sz="2400" b="0" dirty="0"/>
              <a:t>quantitative </a:t>
            </a:r>
            <a:r>
              <a:rPr lang="en-US" sz="2400" b="0" dirty="0" smtClean="0"/>
              <a:t>measure of </a:t>
            </a:r>
            <a:r>
              <a:rPr lang="en-US" sz="2400" b="0" dirty="0"/>
              <a:t>the degree to which a system, component, or process possesses a </a:t>
            </a:r>
            <a:r>
              <a:rPr lang="en-US" sz="2400" b="0" dirty="0" smtClean="0"/>
              <a:t>given attribute [IEEE93,</a:t>
            </a:r>
            <a:r>
              <a:rPr lang="en-US" sz="2400" b="0" i="1" dirty="0" smtClean="0"/>
              <a:t> Standard Glossary </a:t>
            </a:r>
            <a:r>
              <a:rPr lang="en-US" sz="2400" b="0" i="1" dirty="0"/>
              <a:t>of Software Engineering </a:t>
            </a:r>
            <a:r>
              <a:rPr lang="en-US" sz="2400" b="0" i="1" dirty="0" smtClean="0"/>
              <a:t>Terms</a:t>
            </a:r>
            <a:r>
              <a:rPr lang="en-US" sz="2400" b="0" dirty="0" smtClean="0"/>
              <a:t>]</a:t>
            </a:r>
          </a:p>
          <a:p>
            <a:r>
              <a:rPr lang="en-US" sz="2400" b="0" dirty="0" smtClean="0"/>
              <a:t>A </a:t>
            </a:r>
            <a:r>
              <a:rPr lang="en-US" sz="2400" b="0" dirty="0"/>
              <a:t>software </a:t>
            </a:r>
            <a:r>
              <a:rPr lang="en-US" sz="2400" b="0" i="1" dirty="0"/>
              <a:t>metric</a:t>
            </a:r>
            <a:r>
              <a:rPr lang="en-US" sz="2400" b="0" dirty="0"/>
              <a:t> relates the individual measures in some way </a:t>
            </a:r>
            <a:r>
              <a:rPr lang="en-US" sz="2400" b="0" dirty="0" smtClean="0"/>
              <a:t>(</a:t>
            </a:r>
            <a:r>
              <a:rPr lang="en-US" sz="2400" b="0" dirty="0"/>
              <a:t>process, </a:t>
            </a:r>
            <a:r>
              <a:rPr lang="en-US" sz="2400" b="0" dirty="0" smtClean="0"/>
              <a:t>project, and </a:t>
            </a:r>
            <a:r>
              <a:rPr lang="en-US" sz="2400" b="0" dirty="0"/>
              <a:t>product metrics</a:t>
            </a:r>
            <a:r>
              <a:rPr lang="en-US" sz="2400" b="0" dirty="0" smtClean="0"/>
              <a:t>)</a:t>
            </a:r>
          </a:p>
          <a:p>
            <a:r>
              <a:rPr lang="en-US" sz="2400" b="0" dirty="0"/>
              <a:t>An </a:t>
            </a:r>
            <a:r>
              <a:rPr lang="en-US" sz="2400" b="0" i="1" dirty="0"/>
              <a:t>indicator </a:t>
            </a:r>
            <a:r>
              <a:rPr lang="en-US" sz="2400" b="0" dirty="0"/>
              <a:t>is a metric or combination of metrics that provide </a:t>
            </a:r>
            <a:r>
              <a:rPr lang="en-US" sz="2400" b="0" dirty="0" smtClean="0"/>
              <a:t>insight into </a:t>
            </a:r>
            <a:r>
              <a:rPr lang="en-US" sz="2400" b="0" dirty="0"/>
              <a:t>the software process, a software project, or the product </a:t>
            </a:r>
            <a:r>
              <a:rPr lang="en-US" sz="2400" b="0" dirty="0" smtClean="0"/>
              <a:t>itself</a:t>
            </a:r>
          </a:p>
          <a:p>
            <a:endParaRPr lang="en-US" sz="230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356200372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63" y="188129"/>
            <a:ext cx="4834465" cy="822305"/>
          </a:xfrm>
        </p:spPr>
        <p:txBody>
          <a:bodyPr/>
          <a:lstStyle/>
          <a:p>
            <a:r>
              <a:rPr lang="en-US" dirty="0"/>
              <a:t>Project indicators </a:t>
            </a:r>
          </a:p>
        </p:txBody>
      </p:sp>
      <p:sp>
        <p:nvSpPr>
          <p:cNvPr id="3" name="Content Placeholder 2"/>
          <p:cNvSpPr>
            <a:spLocks noGrp="1"/>
          </p:cNvSpPr>
          <p:nvPr>
            <p:ph idx="1"/>
          </p:nvPr>
        </p:nvSpPr>
        <p:spPr/>
        <p:txBody>
          <a:bodyPr/>
          <a:lstStyle/>
          <a:p>
            <a:pPr marL="0" indent="0">
              <a:buNone/>
            </a:pPr>
            <a:r>
              <a:rPr lang="en-US" i="1" dirty="0"/>
              <a:t>Project indicators </a:t>
            </a:r>
            <a:r>
              <a:rPr lang="en-US" b="0" dirty="0" smtClean="0"/>
              <a:t>enable </a:t>
            </a:r>
            <a:r>
              <a:rPr lang="en-US" b="0" dirty="0"/>
              <a:t>a software project manager to </a:t>
            </a:r>
            <a:endParaRPr lang="en-US" b="0" dirty="0" smtClean="0"/>
          </a:p>
          <a:p>
            <a:pPr marL="0" indent="0">
              <a:buNone/>
            </a:pPr>
            <a:r>
              <a:rPr lang="en-US" b="0" dirty="0" smtClean="0"/>
              <a:t>(</a:t>
            </a:r>
            <a:r>
              <a:rPr lang="en-US" b="0" dirty="0"/>
              <a:t>1) assess the status of an ongoing project, </a:t>
            </a:r>
            <a:endParaRPr lang="en-US" b="0" dirty="0" smtClean="0"/>
          </a:p>
          <a:p>
            <a:pPr marL="0" indent="0">
              <a:buNone/>
            </a:pPr>
            <a:r>
              <a:rPr lang="en-US" b="0" dirty="0" smtClean="0"/>
              <a:t>(</a:t>
            </a:r>
            <a:r>
              <a:rPr lang="en-US" b="0" dirty="0"/>
              <a:t>2) track potential risks, </a:t>
            </a:r>
            <a:endParaRPr lang="en-US" b="0" dirty="0" smtClean="0"/>
          </a:p>
          <a:p>
            <a:pPr marL="0" indent="0">
              <a:buNone/>
            </a:pPr>
            <a:r>
              <a:rPr lang="en-US" b="0" dirty="0" smtClean="0"/>
              <a:t>(</a:t>
            </a:r>
            <a:r>
              <a:rPr lang="en-US" b="0" dirty="0"/>
              <a:t>3) uncover problem areas before they go “critical,” </a:t>
            </a:r>
            <a:endParaRPr lang="en-US" b="0" dirty="0" smtClean="0"/>
          </a:p>
          <a:p>
            <a:pPr marL="0" indent="0">
              <a:buNone/>
            </a:pPr>
            <a:r>
              <a:rPr lang="en-US" b="0" dirty="0" smtClean="0"/>
              <a:t>(</a:t>
            </a:r>
            <a:r>
              <a:rPr lang="en-US" b="0" dirty="0"/>
              <a:t>4) adjust work flow or tasks, </a:t>
            </a:r>
            <a:endParaRPr lang="en-US" b="0" dirty="0" smtClean="0"/>
          </a:p>
          <a:p>
            <a:pPr marL="0" indent="0">
              <a:buNone/>
            </a:pPr>
            <a:r>
              <a:rPr lang="en-US" b="0" smtClean="0"/>
              <a:t>(5</a:t>
            </a:r>
            <a:r>
              <a:rPr lang="en-US" b="0" dirty="0"/>
              <a:t>) evaluate the project team’s ability to control quality of software work products. </a:t>
            </a:r>
          </a:p>
          <a:p>
            <a:endParaRPr lang="en-US" b="0" dirty="0"/>
          </a:p>
        </p:txBody>
      </p:sp>
      <p:sp>
        <p:nvSpPr>
          <p:cNvPr id="4" name="Slide Number Placeholder 3"/>
          <p:cNvSpPr>
            <a:spLocks noGrp="1"/>
          </p:cNvSpPr>
          <p:nvPr>
            <p:ph type="sldNum" sz="quarter" idx="11"/>
          </p:nvPr>
        </p:nvSpPr>
        <p:spPr/>
        <p:txBody>
          <a:bodyPr/>
          <a:lstStyle/>
          <a:p>
            <a:fld id="{B6F15528-21DE-4FAA-801E-634DDDAF4B2B}" type="slidenum">
              <a:rPr lang="en-US" smtClean="0"/>
              <a:pPr/>
              <a:t>28</a:t>
            </a:fld>
            <a:endParaRPr lang="en-US" dirty="0"/>
          </a:p>
        </p:txBody>
      </p:sp>
    </p:spTree>
    <p:extLst>
      <p:ext uri="{BB962C8B-B14F-4D97-AF65-F5344CB8AC3E}">
        <p14:creationId xmlns:p14="http://schemas.microsoft.com/office/powerpoint/2010/main" val="55050330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5997003" cy="822305"/>
          </a:xfrm>
        </p:spPr>
        <p:txBody>
          <a:bodyPr/>
          <a:lstStyle/>
          <a:p>
            <a:r>
              <a:rPr lang="fr-FR" dirty="0" smtClean="0"/>
              <a:t> </a:t>
            </a:r>
            <a:r>
              <a:rPr lang="fr-FR" dirty="0" err="1" smtClean="0"/>
              <a:t>Sized-Oriented</a:t>
            </a:r>
            <a:r>
              <a:rPr lang="fr-FR" dirty="0" smtClean="0"/>
              <a:t> </a:t>
            </a:r>
            <a:r>
              <a:rPr lang="fr-FR" dirty="0" err="1" smtClean="0"/>
              <a:t>Metrics</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800" b="0" dirty="0"/>
              <a:t>Size-oriented software metrics are </a:t>
            </a:r>
            <a:r>
              <a:rPr lang="en-US" sz="2800" b="0" dirty="0" smtClean="0"/>
              <a:t>derived </a:t>
            </a:r>
            <a:r>
              <a:rPr lang="en-US" sz="2800" b="0" dirty="0"/>
              <a:t>by considering the </a:t>
            </a:r>
            <a:r>
              <a:rPr lang="en-US" sz="2800" b="0" i="1" dirty="0">
                <a:solidFill>
                  <a:srgbClr val="FF0000"/>
                </a:solidFill>
              </a:rPr>
              <a:t>size</a:t>
            </a:r>
            <a:r>
              <a:rPr lang="en-US" sz="2800" b="0" i="1" dirty="0"/>
              <a:t> </a:t>
            </a:r>
            <a:r>
              <a:rPr lang="en-US" sz="2800" b="0" dirty="0"/>
              <a:t>of the software that has been </a:t>
            </a:r>
            <a:r>
              <a:rPr lang="en-US" sz="2800" b="0" dirty="0" smtClean="0"/>
              <a:t>produced</a:t>
            </a:r>
          </a:p>
          <a:p>
            <a:endParaRPr lang="en-US" sz="2400" b="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29</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219" y="2438401"/>
            <a:ext cx="775335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404489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5997003" cy="822305"/>
          </a:xfrm>
        </p:spPr>
        <p:txBody>
          <a:bodyPr/>
          <a:lstStyle/>
          <a:p>
            <a:r>
              <a:rPr lang="fr-FR" dirty="0" smtClean="0"/>
              <a:t> </a:t>
            </a:r>
            <a:r>
              <a:rPr lang="fr-FR" dirty="0" err="1" smtClean="0"/>
              <a:t>Sized-Oriented</a:t>
            </a:r>
            <a:r>
              <a:rPr lang="fr-FR" dirty="0" smtClean="0"/>
              <a:t> </a:t>
            </a:r>
            <a:r>
              <a:rPr lang="fr-FR" dirty="0" err="1" smtClean="0"/>
              <a:t>Metrics</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800" b="0" dirty="0"/>
              <a:t>Errors per KLOC (thousand lines of code).</a:t>
            </a:r>
          </a:p>
          <a:p>
            <a:r>
              <a:rPr lang="en-US" sz="2800" b="0" dirty="0" smtClean="0"/>
              <a:t>Defects </a:t>
            </a:r>
            <a:r>
              <a:rPr lang="en-US" sz="2800" b="0" dirty="0"/>
              <a:t>per KLOC.</a:t>
            </a:r>
          </a:p>
          <a:p>
            <a:r>
              <a:rPr lang="en-US" sz="2800" b="0" dirty="0" smtClean="0"/>
              <a:t>$ </a:t>
            </a:r>
            <a:r>
              <a:rPr lang="en-US" sz="2800" b="0" dirty="0"/>
              <a:t>per LOC.</a:t>
            </a:r>
          </a:p>
          <a:p>
            <a:r>
              <a:rPr lang="en-US" sz="2800" b="0" dirty="0" smtClean="0"/>
              <a:t>Page </a:t>
            </a:r>
            <a:r>
              <a:rPr lang="en-US" sz="2800" b="0" dirty="0"/>
              <a:t>of documentation per KLOC.</a:t>
            </a:r>
          </a:p>
          <a:p>
            <a:r>
              <a:rPr lang="en-US" sz="2800" b="0" dirty="0" smtClean="0"/>
              <a:t>Efforts </a:t>
            </a:r>
            <a:r>
              <a:rPr lang="en-US" sz="2800" b="0" dirty="0"/>
              <a:t>per person-month.</a:t>
            </a:r>
          </a:p>
          <a:p>
            <a:r>
              <a:rPr lang="en-US" sz="2800" b="0" dirty="0" smtClean="0"/>
              <a:t>LOC </a:t>
            </a:r>
            <a:r>
              <a:rPr lang="en-US" sz="2800" b="0" dirty="0"/>
              <a:t>per person-month.</a:t>
            </a:r>
          </a:p>
          <a:p>
            <a:r>
              <a:rPr lang="en-US" sz="2800" b="0" dirty="0" smtClean="0"/>
              <a:t>$ </a:t>
            </a:r>
            <a:r>
              <a:rPr lang="en-US" sz="2800" b="0" dirty="0"/>
              <a:t>per page of documentation.</a:t>
            </a:r>
            <a:endParaRPr lang="en-US" sz="2400" b="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219188258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6916026" cy="822305"/>
          </a:xfrm>
        </p:spPr>
        <p:txBody>
          <a:bodyPr/>
          <a:lstStyle/>
          <a:p>
            <a:r>
              <a:rPr lang="fr-FR" dirty="0" smtClean="0"/>
              <a:t> </a:t>
            </a:r>
            <a:r>
              <a:rPr lang="fr-FR" dirty="0" err="1" smtClean="0"/>
              <a:t>Function-Oriented</a:t>
            </a:r>
            <a:r>
              <a:rPr lang="fr-FR" dirty="0" smtClean="0"/>
              <a:t> </a:t>
            </a:r>
            <a:r>
              <a:rPr lang="fr-FR" dirty="0" err="1" smtClean="0"/>
              <a:t>Metrics</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800" b="0" dirty="0"/>
              <a:t>Function-oriented software metrics use a measure of the functionality delivered </a:t>
            </a:r>
            <a:r>
              <a:rPr lang="en-US" sz="2800" b="0" dirty="0" smtClean="0"/>
              <a:t>by the </a:t>
            </a:r>
            <a:r>
              <a:rPr lang="en-US" sz="2800" b="0" dirty="0"/>
              <a:t>application as a normalization </a:t>
            </a:r>
            <a:r>
              <a:rPr lang="en-US" sz="2800" b="0" dirty="0" smtClean="0"/>
              <a:t>value</a:t>
            </a:r>
          </a:p>
          <a:p>
            <a:r>
              <a:rPr lang="en-US" sz="2800" b="0" dirty="0"/>
              <a:t>‘functionality’ cannot be </a:t>
            </a:r>
            <a:r>
              <a:rPr lang="en-US" sz="2800" b="0" dirty="0" smtClean="0"/>
              <a:t>measured directly</a:t>
            </a:r>
            <a:r>
              <a:rPr lang="en-US" sz="2800" b="0" dirty="0"/>
              <a:t>, it must be derived indirectly using other direct </a:t>
            </a:r>
            <a:r>
              <a:rPr lang="en-US" sz="2800" b="0" dirty="0" smtClean="0"/>
              <a:t>measures</a:t>
            </a:r>
          </a:p>
          <a:p>
            <a:r>
              <a:rPr lang="en-US" sz="2800" b="0" dirty="0" smtClean="0"/>
              <a:t>A measure </a:t>
            </a:r>
            <a:r>
              <a:rPr lang="en-US" sz="2800" b="0" dirty="0"/>
              <a:t>called </a:t>
            </a:r>
            <a:r>
              <a:rPr lang="en-US" sz="2800" b="0" dirty="0" smtClean="0"/>
              <a:t>the </a:t>
            </a:r>
            <a:r>
              <a:rPr lang="en-US" sz="2800" i="1" dirty="0" smtClean="0"/>
              <a:t>function point </a:t>
            </a:r>
            <a:r>
              <a:rPr lang="en-US" sz="2800" b="0" dirty="0" smtClean="0"/>
              <a:t>is suggested</a:t>
            </a:r>
            <a:r>
              <a:rPr lang="en-US" sz="2800" b="0" i="1" dirty="0" smtClean="0"/>
              <a:t>. </a:t>
            </a:r>
            <a:r>
              <a:rPr lang="en-US" sz="2800" b="0" dirty="0"/>
              <a:t>Function points are </a:t>
            </a:r>
            <a:r>
              <a:rPr lang="en-US" sz="2800" b="0" dirty="0" smtClean="0"/>
              <a:t>based on countable </a:t>
            </a:r>
            <a:r>
              <a:rPr lang="en-US" sz="2800" b="0" dirty="0"/>
              <a:t>(direct) measures of software's information domain and assessments </a:t>
            </a:r>
            <a:r>
              <a:rPr lang="en-US" sz="2800" b="0" dirty="0" smtClean="0"/>
              <a:t>of software complexity</a:t>
            </a:r>
          </a:p>
        </p:txBody>
      </p:sp>
      <p:sp>
        <p:nvSpPr>
          <p:cNvPr id="3" name="Slide Number Placeholder 2"/>
          <p:cNvSpPr>
            <a:spLocks noGrp="1"/>
          </p:cNvSpPr>
          <p:nvPr>
            <p:ph type="sldNum" sz="quarter" idx="11"/>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217588832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6916026" cy="822305"/>
          </a:xfrm>
        </p:spPr>
        <p:txBody>
          <a:bodyPr/>
          <a:lstStyle/>
          <a:p>
            <a:r>
              <a:rPr lang="fr-FR" dirty="0" smtClean="0"/>
              <a:t> </a:t>
            </a:r>
            <a:r>
              <a:rPr lang="fr-FR" dirty="0" err="1" smtClean="0"/>
              <a:t>Function-Oriented</a:t>
            </a:r>
            <a:r>
              <a:rPr lang="fr-FR" dirty="0" smtClean="0"/>
              <a:t> </a:t>
            </a:r>
            <a:r>
              <a:rPr lang="fr-FR" dirty="0" err="1" smtClean="0"/>
              <a:t>Metrics</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400" b="0" dirty="0"/>
              <a:t>Function points are </a:t>
            </a:r>
            <a:r>
              <a:rPr lang="en-US" sz="2400" b="0" dirty="0" smtClean="0"/>
              <a:t>computed </a:t>
            </a:r>
            <a:r>
              <a:rPr lang="en-US" sz="2400" b="0" dirty="0"/>
              <a:t>by </a:t>
            </a:r>
            <a:r>
              <a:rPr lang="en-US" sz="2400" b="0" dirty="0" smtClean="0"/>
              <a:t>completing table following</a:t>
            </a:r>
          </a:p>
        </p:txBody>
      </p:sp>
      <p:sp>
        <p:nvSpPr>
          <p:cNvPr id="3" name="Slide Number Placeholder 2"/>
          <p:cNvSpPr>
            <a:spLocks noGrp="1"/>
          </p:cNvSpPr>
          <p:nvPr>
            <p:ph type="sldNum" sz="quarter" idx="11"/>
          </p:nvPr>
        </p:nvSpPr>
        <p:spPr/>
        <p:txBody>
          <a:bodyPr/>
          <a:lstStyle/>
          <a:p>
            <a:fld id="{B6F15528-21DE-4FAA-801E-634DDDAF4B2B}" type="slidenum">
              <a:rPr lang="en-US" smtClean="0"/>
              <a:pPr/>
              <a:t>32</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212" y="1752600"/>
            <a:ext cx="8839200" cy="4491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251327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6916026" cy="822305"/>
          </a:xfrm>
        </p:spPr>
        <p:txBody>
          <a:bodyPr/>
          <a:lstStyle/>
          <a:p>
            <a:r>
              <a:rPr lang="fr-FR" dirty="0" smtClean="0"/>
              <a:t> </a:t>
            </a:r>
            <a:r>
              <a:rPr lang="fr-FR" dirty="0" err="1" smtClean="0"/>
              <a:t>Function-Oriented</a:t>
            </a:r>
            <a:r>
              <a:rPr lang="fr-FR" dirty="0" smtClean="0"/>
              <a:t> </a:t>
            </a:r>
            <a:r>
              <a:rPr lang="fr-FR" dirty="0" err="1" smtClean="0"/>
              <a:t>Metrics</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800" b="0" dirty="0"/>
              <a:t>Five information domain characteristics are determined and counts are provided </a:t>
            </a:r>
            <a:r>
              <a:rPr lang="en-US" sz="2800" b="0" dirty="0" smtClean="0"/>
              <a:t>in </a:t>
            </a:r>
            <a:r>
              <a:rPr lang="en-US" sz="2800" b="0" dirty="0"/>
              <a:t>the appropriate table location. Information domain values are defined in the </a:t>
            </a:r>
            <a:r>
              <a:rPr lang="en-US" sz="2800" b="0" dirty="0" smtClean="0"/>
              <a:t>following manner:</a:t>
            </a:r>
            <a:endParaRPr lang="en-US" sz="2800" b="0" dirty="0"/>
          </a:p>
          <a:p>
            <a:pPr lvl="1"/>
            <a:r>
              <a:rPr lang="en-US" sz="2800" dirty="0"/>
              <a:t>Number of user </a:t>
            </a:r>
            <a:r>
              <a:rPr lang="en-US" sz="2800" dirty="0" smtClean="0"/>
              <a:t>inputs</a:t>
            </a:r>
            <a:endParaRPr lang="en-US" sz="3200" b="0" dirty="0" smtClean="0"/>
          </a:p>
          <a:p>
            <a:pPr lvl="1"/>
            <a:r>
              <a:rPr lang="en-US" sz="2800" dirty="0" smtClean="0"/>
              <a:t>Number of user outputs</a:t>
            </a:r>
            <a:endParaRPr lang="en-US" sz="3200" b="0" dirty="0"/>
          </a:p>
          <a:p>
            <a:pPr lvl="1"/>
            <a:r>
              <a:rPr lang="en-US" sz="2800" dirty="0"/>
              <a:t>Number of user </a:t>
            </a:r>
            <a:r>
              <a:rPr lang="en-US" sz="2800" dirty="0" smtClean="0"/>
              <a:t>inquiries</a:t>
            </a:r>
            <a:endParaRPr lang="en-US" sz="3200" b="0" dirty="0" smtClean="0"/>
          </a:p>
          <a:p>
            <a:pPr lvl="1"/>
            <a:r>
              <a:rPr lang="en-US" sz="2800" dirty="0" smtClean="0"/>
              <a:t>Number of files</a:t>
            </a:r>
            <a:endParaRPr lang="en-US" sz="3200" b="0" dirty="0" smtClean="0"/>
          </a:p>
          <a:p>
            <a:pPr lvl="1"/>
            <a:r>
              <a:rPr lang="en-US" sz="2800" dirty="0" smtClean="0"/>
              <a:t>Number of external interfaces</a:t>
            </a:r>
            <a:endParaRPr lang="en-US" sz="3200" b="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112959542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6916026" cy="822305"/>
          </a:xfrm>
        </p:spPr>
        <p:txBody>
          <a:bodyPr/>
          <a:lstStyle/>
          <a:p>
            <a:r>
              <a:rPr lang="fr-FR" dirty="0" smtClean="0"/>
              <a:t> </a:t>
            </a:r>
            <a:r>
              <a:rPr lang="fr-FR" dirty="0" err="1" smtClean="0"/>
              <a:t>Function-Oriented</a:t>
            </a:r>
            <a:r>
              <a:rPr lang="fr-FR" dirty="0" smtClean="0"/>
              <a:t> </a:t>
            </a:r>
            <a:r>
              <a:rPr lang="fr-FR" dirty="0" err="1" smtClean="0"/>
              <a:t>Metrics</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800" dirty="0"/>
              <a:t>Number of user inputs. </a:t>
            </a:r>
            <a:r>
              <a:rPr lang="en-US" sz="2800" b="0" dirty="0"/>
              <a:t>Each user input that provides distinct </a:t>
            </a:r>
            <a:r>
              <a:rPr lang="en-US" sz="2800" b="0" dirty="0" smtClean="0"/>
              <a:t>application oriented data </a:t>
            </a:r>
            <a:r>
              <a:rPr lang="en-US" sz="2800" b="0" dirty="0"/>
              <a:t>to the software is counted. Inputs should be distinguished </a:t>
            </a:r>
            <a:r>
              <a:rPr lang="en-US" sz="2800" b="0" dirty="0" smtClean="0"/>
              <a:t>from inquiries</a:t>
            </a:r>
            <a:r>
              <a:rPr lang="en-US" sz="2800" b="0" dirty="0"/>
              <a:t>, which are counted </a:t>
            </a:r>
            <a:r>
              <a:rPr lang="en-US" sz="2800" b="0" dirty="0" smtClean="0"/>
              <a:t>separately</a:t>
            </a:r>
            <a:endParaRPr lang="en-US" sz="2800" b="0" dirty="0"/>
          </a:p>
          <a:p>
            <a:r>
              <a:rPr lang="en-US" sz="2800" dirty="0"/>
              <a:t>Number of user outputs. </a:t>
            </a:r>
            <a:r>
              <a:rPr lang="en-US" sz="2800" b="0" dirty="0"/>
              <a:t>Each user output that provides </a:t>
            </a:r>
            <a:r>
              <a:rPr lang="en-US" sz="2800" b="0" dirty="0" smtClean="0"/>
              <a:t>application oriented</a:t>
            </a:r>
            <a:r>
              <a:rPr lang="en-US" sz="2800" b="0" dirty="0"/>
              <a:t> </a:t>
            </a:r>
            <a:r>
              <a:rPr lang="en-US" sz="2800" b="0" dirty="0" smtClean="0"/>
              <a:t>information </a:t>
            </a:r>
            <a:r>
              <a:rPr lang="en-US" sz="2800" b="0" dirty="0"/>
              <a:t>to the user is counted. In this context output refers </a:t>
            </a:r>
            <a:r>
              <a:rPr lang="en-US" sz="2800" b="0" dirty="0" smtClean="0"/>
              <a:t>to reports</a:t>
            </a:r>
            <a:r>
              <a:rPr lang="en-US" sz="2800" b="0" dirty="0"/>
              <a:t>, screens, error messages, etc. Individual data items within a </a:t>
            </a:r>
            <a:r>
              <a:rPr lang="en-US" sz="2800" b="0" dirty="0" smtClean="0"/>
              <a:t>report are </a:t>
            </a:r>
            <a:r>
              <a:rPr lang="en-US" sz="2800" b="0" dirty="0"/>
              <a:t>not counted </a:t>
            </a:r>
            <a:r>
              <a:rPr lang="en-US" sz="2800" b="0" dirty="0" smtClean="0"/>
              <a:t>separately</a:t>
            </a:r>
            <a:endParaRPr lang="en-US" sz="2800" b="0"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184845509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6916026" cy="822305"/>
          </a:xfrm>
        </p:spPr>
        <p:txBody>
          <a:bodyPr/>
          <a:lstStyle/>
          <a:p>
            <a:r>
              <a:rPr lang="fr-FR" dirty="0" smtClean="0"/>
              <a:t> </a:t>
            </a:r>
            <a:r>
              <a:rPr lang="fr-FR" dirty="0" err="1" smtClean="0"/>
              <a:t>Function-Oriented</a:t>
            </a:r>
            <a:r>
              <a:rPr lang="fr-FR" dirty="0" smtClean="0"/>
              <a:t> </a:t>
            </a:r>
            <a:r>
              <a:rPr lang="fr-FR" dirty="0" err="1" smtClean="0"/>
              <a:t>Metrics</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800" dirty="0"/>
              <a:t>Number of user inquiries. </a:t>
            </a:r>
            <a:r>
              <a:rPr lang="en-US" sz="2800" b="0" dirty="0"/>
              <a:t>An inquiry is defined as an on-line input </a:t>
            </a:r>
            <a:r>
              <a:rPr lang="en-US" sz="2800" b="0" dirty="0" smtClean="0"/>
              <a:t>that results </a:t>
            </a:r>
            <a:r>
              <a:rPr lang="en-US" sz="2800" b="0" dirty="0"/>
              <a:t>in the generation of some immediate software response in the form </a:t>
            </a:r>
            <a:r>
              <a:rPr lang="en-US" sz="2800" b="0" dirty="0" smtClean="0"/>
              <a:t>of an </a:t>
            </a:r>
            <a:r>
              <a:rPr lang="en-US" sz="2800" b="0" dirty="0"/>
              <a:t>on-line output. Each distinct inquiry is </a:t>
            </a:r>
            <a:r>
              <a:rPr lang="en-US" sz="2800" b="0" dirty="0" smtClean="0"/>
              <a:t>counted</a:t>
            </a:r>
          </a:p>
          <a:p>
            <a:r>
              <a:rPr lang="en-US" sz="2800" dirty="0" smtClean="0"/>
              <a:t>Number </a:t>
            </a:r>
            <a:r>
              <a:rPr lang="en-US" sz="2800" dirty="0"/>
              <a:t>of files. </a:t>
            </a:r>
            <a:r>
              <a:rPr lang="en-US" sz="2800" b="0" dirty="0"/>
              <a:t>Each logical master file (i.e., a logical grouping of data </a:t>
            </a:r>
            <a:r>
              <a:rPr lang="en-US" sz="2800" b="0" dirty="0" smtClean="0"/>
              <a:t>that may </a:t>
            </a:r>
            <a:r>
              <a:rPr lang="en-US" sz="2800" b="0" dirty="0"/>
              <a:t>be one part of a large database or a separate file) is </a:t>
            </a:r>
            <a:r>
              <a:rPr lang="en-US" sz="2800" b="0" dirty="0" smtClean="0"/>
              <a:t>counted</a:t>
            </a:r>
          </a:p>
          <a:p>
            <a:r>
              <a:rPr lang="en-US" sz="2800" dirty="0" smtClean="0"/>
              <a:t>Number of external interfaces. </a:t>
            </a:r>
            <a:r>
              <a:rPr lang="en-US" sz="2800" b="0" dirty="0" smtClean="0"/>
              <a:t>All machine readable interfaces (e.g., data files on storage media) that are used to transmit information to another system are counted</a:t>
            </a:r>
            <a:endParaRPr lang="en-US" sz="3200" b="0"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109660707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6916026" cy="822305"/>
          </a:xfrm>
        </p:spPr>
        <p:txBody>
          <a:bodyPr/>
          <a:lstStyle/>
          <a:p>
            <a:r>
              <a:rPr lang="fr-FR" dirty="0" smtClean="0"/>
              <a:t> </a:t>
            </a:r>
            <a:r>
              <a:rPr lang="fr-FR" dirty="0" err="1" smtClean="0"/>
              <a:t>Function-Oriented</a:t>
            </a:r>
            <a:r>
              <a:rPr lang="fr-FR" dirty="0" smtClean="0"/>
              <a:t> </a:t>
            </a:r>
            <a:r>
              <a:rPr lang="fr-FR" dirty="0" err="1" smtClean="0"/>
              <a:t>Metrics</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800" b="0" dirty="0"/>
              <a:t>To compute function points (FP), the following relationship is used:</a:t>
            </a:r>
          </a:p>
          <a:p>
            <a:pPr marL="0" indent="0">
              <a:buNone/>
            </a:pPr>
            <a:r>
              <a:rPr lang="en-US" sz="2800" b="0" dirty="0" smtClean="0"/>
              <a:t>	</a:t>
            </a:r>
          </a:p>
          <a:p>
            <a:pPr marL="0" indent="0">
              <a:buNone/>
            </a:pPr>
            <a:r>
              <a:rPr lang="en-US" sz="2800" b="0" dirty="0"/>
              <a:t>	</a:t>
            </a:r>
            <a:r>
              <a:rPr lang="en-US" sz="2800" dirty="0" smtClean="0"/>
              <a:t>	FP </a:t>
            </a:r>
            <a:r>
              <a:rPr lang="en-US" sz="2800" dirty="0"/>
              <a:t>= count total  [0.65 + 0.01  Σ(</a:t>
            </a:r>
            <a:r>
              <a:rPr lang="en-US" sz="2800" i="1" dirty="0"/>
              <a:t>Fi</a:t>
            </a:r>
            <a:r>
              <a:rPr lang="en-US" sz="2800" dirty="0" smtClean="0"/>
              <a:t>)]</a:t>
            </a:r>
          </a:p>
          <a:p>
            <a:pPr marL="1162050" lvl="3" indent="0">
              <a:buNone/>
            </a:pPr>
            <a:endParaRPr lang="en-US" sz="2600" b="0" i="1" dirty="0" smtClean="0"/>
          </a:p>
          <a:p>
            <a:pPr marL="1162050" lvl="3" indent="0">
              <a:buNone/>
            </a:pPr>
            <a:r>
              <a:rPr lang="en-US" sz="2600" b="0" i="1" dirty="0" smtClean="0"/>
              <a:t>Fi </a:t>
            </a:r>
            <a:r>
              <a:rPr lang="en-US" sz="2600" b="0" dirty="0"/>
              <a:t>(</a:t>
            </a:r>
            <a:r>
              <a:rPr lang="en-US" sz="2600" b="0" i="1" dirty="0"/>
              <a:t>i </a:t>
            </a:r>
            <a:r>
              <a:rPr lang="en-US" sz="2600" b="0" dirty="0"/>
              <a:t>= 1 to 14) are "complexity adjustment values</a:t>
            </a:r>
            <a:r>
              <a:rPr lang="en-US" sz="2600" b="0" dirty="0" smtClean="0"/>
              <a:t>"</a:t>
            </a:r>
            <a:endParaRPr lang="en-US" sz="2600" b="0"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351426773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6916026" cy="822305"/>
          </a:xfrm>
        </p:spPr>
        <p:txBody>
          <a:bodyPr/>
          <a:lstStyle/>
          <a:p>
            <a:r>
              <a:rPr lang="fr-FR" dirty="0" smtClean="0"/>
              <a:t> </a:t>
            </a:r>
            <a:r>
              <a:rPr lang="fr-FR" dirty="0" err="1" smtClean="0"/>
              <a:t>Function-Oriented</a:t>
            </a:r>
            <a:r>
              <a:rPr lang="fr-FR" dirty="0" smtClean="0"/>
              <a:t> </a:t>
            </a:r>
            <a:r>
              <a:rPr lang="fr-FR" dirty="0" err="1" smtClean="0"/>
              <a:t>Metrics</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800" b="0" i="1" dirty="0" smtClean="0"/>
              <a:t>Fi</a:t>
            </a:r>
            <a:r>
              <a:rPr lang="en-US" sz="2800" b="0" dirty="0" smtClean="0"/>
              <a:t> based </a:t>
            </a:r>
            <a:r>
              <a:rPr lang="en-US" sz="2800" b="0" dirty="0"/>
              <a:t>on responses to </a:t>
            </a:r>
            <a:r>
              <a:rPr lang="en-US" sz="2800" b="0" dirty="0" smtClean="0"/>
              <a:t>the following questions</a:t>
            </a:r>
            <a:endParaRPr lang="en-US" sz="2800" b="0" dirty="0"/>
          </a:p>
          <a:p>
            <a:pPr marL="442912" lvl="1" indent="0">
              <a:buNone/>
            </a:pPr>
            <a:endParaRPr lang="en-US" sz="2400" dirty="0" smtClean="0"/>
          </a:p>
          <a:p>
            <a:pPr marL="442912" lvl="1" indent="0">
              <a:buNone/>
            </a:pPr>
            <a:r>
              <a:rPr lang="en-US" sz="2800" dirty="0" smtClean="0"/>
              <a:t>1</a:t>
            </a:r>
            <a:r>
              <a:rPr lang="en-US" sz="2800" dirty="0"/>
              <a:t>. </a:t>
            </a:r>
            <a:r>
              <a:rPr lang="en-US" sz="2800" b="0" dirty="0"/>
              <a:t>Does the system require reliable backup and recovery?</a:t>
            </a:r>
          </a:p>
          <a:p>
            <a:pPr marL="442912" lvl="1" indent="0">
              <a:buNone/>
            </a:pPr>
            <a:r>
              <a:rPr lang="en-US" sz="2800" dirty="0"/>
              <a:t>2. </a:t>
            </a:r>
            <a:r>
              <a:rPr lang="en-US" sz="2800" b="0" dirty="0"/>
              <a:t>Are data communications required?</a:t>
            </a:r>
          </a:p>
          <a:p>
            <a:pPr marL="442912" lvl="1" indent="0">
              <a:buNone/>
            </a:pPr>
            <a:r>
              <a:rPr lang="en-US" sz="2800" dirty="0"/>
              <a:t>3. </a:t>
            </a:r>
            <a:r>
              <a:rPr lang="en-US" sz="2800" b="0" dirty="0"/>
              <a:t>Are there distributed processing functions?</a:t>
            </a:r>
          </a:p>
          <a:p>
            <a:pPr marL="442912" lvl="1" indent="0">
              <a:buNone/>
            </a:pPr>
            <a:r>
              <a:rPr lang="en-US" sz="2800" dirty="0"/>
              <a:t>4. </a:t>
            </a:r>
            <a:r>
              <a:rPr lang="en-US" sz="2800" b="0" dirty="0"/>
              <a:t>Is performance critical?</a:t>
            </a:r>
          </a:p>
          <a:p>
            <a:pPr marL="442912" lvl="1" indent="0">
              <a:buNone/>
            </a:pPr>
            <a:r>
              <a:rPr lang="en-US" sz="2800" dirty="0"/>
              <a:t>5. </a:t>
            </a:r>
            <a:r>
              <a:rPr lang="en-US" sz="2800" b="0" dirty="0"/>
              <a:t>Will the system run in an existing, heavily utilized operational environment?</a:t>
            </a:r>
          </a:p>
          <a:p>
            <a:pPr marL="442912" lvl="1" indent="0">
              <a:buNone/>
            </a:pPr>
            <a:r>
              <a:rPr lang="en-US" sz="2800" dirty="0"/>
              <a:t>6. </a:t>
            </a:r>
            <a:r>
              <a:rPr lang="en-US" sz="2800" b="0" dirty="0"/>
              <a:t>Does the system require on-line data entry</a:t>
            </a:r>
            <a:r>
              <a:rPr lang="en-US" sz="2800" b="0" dirty="0" smtClean="0"/>
              <a:t>?</a:t>
            </a:r>
            <a:endParaRPr lang="en-US" sz="2800" b="0"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41029031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6916026" cy="822305"/>
          </a:xfrm>
        </p:spPr>
        <p:txBody>
          <a:bodyPr/>
          <a:lstStyle/>
          <a:p>
            <a:r>
              <a:rPr lang="fr-FR" dirty="0" smtClean="0"/>
              <a:t> </a:t>
            </a:r>
            <a:r>
              <a:rPr lang="fr-FR" dirty="0" err="1" smtClean="0"/>
              <a:t>Function-Oriented</a:t>
            </a:r>
            <a:r>
              <a:rPr lang="fr-FR" dirty="0" smtClean="0"/>
              <a:t> </a:t>
            </a:r>
            <a:r>
              <a:rPr lang="fr-FR" dirty="0" err="1" smtClean="0"/>
              <a:t>Metrics</a:t>
            </a:r>
            <a:endParaRPr lang="fr-FR" dirty="0"/>
          </a:p>
        </p:txBody>
      </p:sp>
      <p:sp>
        <p:nvSpPr>
          <p:cNvPr id="18" name="Content Placeholder 17"/>
          <p:cNvSpPr>
            <a:spLocks noGrp="1"/>
          </p:cNvSpPr>
          <p:nvPr>
            <p:ph idx="1"/>
          </p:nvPr>
        </p:nvSpPr>
        <p:spPr>
          <a:xfrm>
            <a:off x="304800" y="1066800"/>
            <a:ext cx="8686800" cy="5105400"/>
          </a:xfrm>
        </p:spPr>
        <p:txBody>
          <a:bodyPr/>
          <a:lstStyle/>
          <a:p>
            <a:pPr marL="442912" lvl="1" indent="0">
              <a:buNone/>
            </a:pPr>
            <a:r>
              <a:rPr lang="en-US" sz="2400" dirty="0"/>
              <a:t>7. </a:t>
            </a:r>
            <a:r>
              <a:rPr lang="en-US" sz="2400" b="0" dirty="0"/>
              <a:t>Does the on-line data entry require the input transaction to be built over multiple screens or operations?</a:t>
            </a:r>
          </a:p>
          <a:p>
            <a:pPr marL="442912" lvl="1" indent="0">
              <a:buNone/>
            </a:pPr>
            <a:r>
              <a:rPr lang="en-US" sz="2400" dirty="0"/>
              <a:t>8. </a:t>
            </a:r>
            <a:r>
              <a:rPr lang="en-US" sz="2400" b="0" dirty="0"/>
              <a:t>Are the master files updated on-line?</a:t>
            </a:r>
          </a:p>
          <a:p>
            <a:pPr marL="442912" lvl="1" indent="0">
              <a:buNone/>
            </a:pPr>
            <a:r>
              <a:rPr lang="en-US" sz="2400" dirty="0"/>
              <a:t>9. </a:t>
            </a:r>
            <a:r>
              <a:rPr lang="en-US" sz="2400" b="0" dirty="0"/>
              <a:t>Are the inputs, outputs, files, or inquiries complex?</a:t>
            </a:r>
          </a:p>
          <a:p>
            <a:pPr marL="442912" lvl="1" indent="0">
              <a:buNone/>
            </a:pPr>
            <a:r>
              <a:rPr lang="en-US" sz="2400" dirty="0"/>
              <a:t>10. </a:t>
            </a:r>
            <a:r>
              <a:rPr lang="en-US" sz="2400" b="0" dirty="0"/>
              <a:t>Is the internal processing complex?</a:t>
            </a:r>
          </a:p>
          <a:p>
            <a:pPr marL="442912" lvl="1" indent="0">
              <a:buNone/>
            </a:pPr>
            <a:r>
              <a:rPr lang="en-US" sz="2400" dirty="0"/>
              <a:t>11. </a:t>
            </a:r>
            <a:r>
              <a:rPr lang="en-US" sz="2400" b="0" dirty="0"/>
              <a:t>Is the code designed to be reusable?</a:t>
            </a:r>
          </a:p>
          <a:p>
            <a:pPr marL="442912" lvl="1" indent="0">
              <a:buNone/>
            </a:pPr>
            <a:r>
              <a:rPr lang="en-US" sz="2400" dirty="0"/>
              <a:t>12. </a:t>
            </a:r>
            <a:r>
              <a:rPr lang="en-US" sz="2400" b="0" dirty="0"/>
              <a:t>Are conversion and installation included in the design?</a:t>
            </a:r>
          </a:p>
          <a:p>
            <a:pPr marL="442912" lvl="1" indent="0">
              <a:buNone/>
            </a:pPr>
            <a:r>
              <a:rPr lang="en-US" sz="2400" dirty="0"/>
              <a:t>13. </a:t>
            </a:r>
            <a:r>
              <a:rPr lang="en-US" sz="2400" b="0" dirty="0"/>
              <a:t>Is the system designed for multiple installations in different organizations?</a:t>
            </a:r>
          </a:p>
          <a:p>
            <a:pPr marL="442912" lvl="1" indent="0">
              <a:buNone/>
            </a:pPr>
            <a:r>
              <a:rPr lang="en-US" sz="2400" dirty="0"/>
              <a:t>14. </a:t>
            </a:r>
            <a:r>
              <a:rPr lang="en-US" sz="2400" b="0" dirty="0"/>
              <a:t>Is the application designed to facilitate change and ease of use by the user</a:t>
            </a:r>
            <a:r>
              <a:rPr lang="en-US" sz="2400" b="0" dirty="0" smtClean="0"/>
              <a:t>?</a:t>
            </a:r>
          </a:p>
          <a:p>
            <a:pPr marL="442912" lvl="1" indent="0">
              <a:buNone/>
            </a:pPr>
            <a:r>
              <a:rPr lang="en-US" sz="1600" b="0" i="1" dirty="0"/>
              <a:t>Each of these questions is answered using a scale that ranges from 0 (not important or applicable) to 5 (absolutely essential). </a:t>
            </a:r>
          </a:p>
          <a:p>
            <a:pPr marL="442912" lvl="1" indent="0">
              <a:buNone/>
            </a:pPr>
            <a:endParaRPr lang="en-US" sz="2400" b="0"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31839495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6916026" cy="822305"/>
          </a:xfrm>
        </p:spPr>
        <p:txBody>
          <a:bodyPr/>
          <a:lstStyle/>
          <a:p>
            <a:r>
              <a:rPr lang="fr-FR" dirty="0" smtClean="0"/>
              <a:t> </a:t>
            </a:r>
            <a:r>
              <a:rPr lang="fr-FR" dirty="0" err="1" smtClean="0"/>
              <a:t>Function-Oriented</a:t>
            </a:r>
            <a:r>
              <a:rPr lang="fr-FR" dirty="0" smtClean="0"/>
              <a:t> </a:t>
            </a:r>
            <a:r>
              <a:rPr lang="fr-FR" dirty="0" err="1" smtClean="0"/>
              <a:t>Metrics</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800" b="0" dirty="0" smtClean="0"/>
              <a:t>Once </a:t>
            </a:r>
            <a:r>
              <a:rPr lang="en-US" sz="2800" b="0" dirty="0"/>
              <a:t>function points have been calculated, they are used in a manner </a:t>
            </a:r>
            <a:r>
              <a:rPr lang="en-US" sz="2800" b="0" dirty="0" smtClean="0"/>
              <a:t>analogous to </a:t>
            </a:r>
            <a:r>
              <a:rPr lang="en-US" sz="2800" b="0" dirty="0"/>
              <a:t>LOC as a way to normalize measures for software productivity, quality, and </a:t>
            </a:r>
            <a:r>
              <a:rPr lang="en-US" sz="2800" b="0" dirty="0" smtClean="0"/>
              <a:t>other attributes</a:t>
            </a:r>
            <a:r>
              <a:rPr lang="en-US" sz="2800" b="0" dirty="0"/>
              <a:t>:</a:t>
            </a:r>
          </a:p>
          <a:p>
            <a:pPr lvl="1"/>
            <a:r>
              <a:rPr lang="en-US" sz="2400" b="0" dirty="0" smtClean="0"/>
              <a:t>Errors </a:t>
            </a:r>
            <a:r>
              <a:rPr lang="en-US" sz="2400" b="0" dirty="0"/>
              <a:t>per </a:t>
            </a:r>
            <a:r>
              <a:rPr lang="en-US" sz="2400" b="0" dirty="0" smtClean="0"/>
              <a:t>FP</a:t>
            </a:r>
            <a:endParaRPr lang="en-US" sz="2400" b="0" dirty="0"/>
          </a:p>
          <a:p>
            <a:pPr lvl="1"/>
            <a:r>
              <a:rPr lang="en-US" sz="2400" b="0" dirty="0" smtClean="0"/>
              <a:t>Defects </a:t>
            </a:r>
            <a:r>
              <a:rPr lang="en-US" sz="2400" b="0" dirty="0"/>
              <a:t>per </a:t>
            </a:r>
            <a:r>
              <a:rPr lang="en-US" sz="2400" b="0" dirty="0" smtClean="0"/>
              <a:t>FP</a:t>
            </a:r>
            <a:endParaRPr lang="en-US" sz="2400" b="0" dirty="0"/>
          </a:p>
          <a:p>
            <a:pPr lvl="1"/>
            <a:r>
              <a:rPr lang="en-US" sz="2400" b="0" dirty="0" smtClean="0"/>
              <a:t>$ </a:t>
            </a:r>
            <a:r>
              <a:rPr lang="en-US" sz="2400" b="0" dirty="0"/>
              <a:t>per </a:t>
            </a:r>
            <a:r>
              <a:rPr lang="en-US" sz="2400" b="0" dirty="0" smtClean="0"/>
              <a:t>FP</a:t>
            </a:r>
            <a:endParaRPr lang="en-US" sz="2400" b="0" dirty="0"/>
          </a:p>
          <a:p>
            <a:pPr lvl="1"/>
            <a:r>
              <a:rPr lang="fr-FR" sz="2400" b="0" dirty="0" smtClean="0"/>
              <a:t>Pages </a:t>
            </a:r>
            <a:r>
              <a:rPr lang="fr-FR" sz="2400" b="0" dirty="0"/>
              <a:t>of documentation per </a:t>
            </a:r>
            <a:r>
              <a:rPr lang="fr-FR" sz="2400" b="0" dirty="0" smtClean="0"/>
              <a:t>FP</a:t>
            </a:r>
            <a:endParaRPr lang="fr-FR" sz="2400" b="0" dirty="0"/>
          </a:p>
          <a:p>
            <a:pPr lvl="1"/>
            <a:r>
              <a:rPr lang="en-US" sz="2400" b="0" dirty="0" smtClean="0"/>
              <a:t>FP </a:t>
            </a:r>
            <a:r>
              <a:rPr lang="en-US" sz="2400" b="0" dirty="0"/>
              <a:t>per </a:t>
            </a:r>
            <a:r>
              <a:rPr lang="en-US" sz="2400" b="0" dirty="0" smtClean="0"/>
              <a:t>person-month</a:t>
            </a:r>
            <a:endParaRPr lang="en-US" sz="7600" b="0"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210360531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7163453" cy="822305"/>
          </a:xfrm>
        </p:spPr>
        <p:txBody>
          <a:bodyPr/>
          <a:lstStyle/>
          <a:p>
            <a:r>
              <a:rPr lang="fr-FR" dirty="0" smtClean="0"/>
              <a:t> </a:t>
            </a:r>
            <a:r>
              <a:rPr lang="fr-FR" dirty="0" err="1" smtClean="0"/>
              <a:t>Metrics</a:t>
            </a:r>
            <a:r>
              <a:rPr lang="fr-FR" dirty="0" smtClean="0"/>
              <a:t> for Software </a:t>
            </a:r>
            <a:r>
              <a:rPr lang="fr-FR" dirty="0" err="1" smtClean="0"/>
              <a:t>Quality</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800" b="0" dirty="0"/>
              <a:t>The quality of a </a:t>
            </a:r>
            <a:r>
              <a:rPr lang="en-US" sz="2800" b="0" dirty="0" smtClean="0"/>
              <a:t>system is </a:t>
            </a:r>
            <a:r>
              <a:rPr lang="en-US" sz="2800" b="0" dirty="0"/>
              <a:t>only as good as the </a:t>
            </a:r>
            <a:r>
              <a:rPr lang="en-US" sz="2800" b="0" dirty="0" smtClean="0"/>
              <a:t>requirements that </a:t>
            </a:r>
            <a:r>
              <a:rPr lang="en-US" sz="2800" b="0" dirty="0"/>
              <a:t>describe the </a:t>
            </a:r>
            <a:r>
              <a:rPr lang="en-US" sz="2800" b="0" dirty="0" smtClean="0"/>
              <a:t>problem (requirement specification), </a:t>
            </a:r>
            <a:r>
              <a:rPr lang="en-US" sz="2800" b="0" dirty="0"/>
              <a:t>the design that models the </a:t>
            </a:r>
            <a:r>
              <a:rPr lang="en-US" sz="2800" b="0" dirty="0" smtClean="0"/>
              <a:t>solution (design models), </a:t>
            </a:r>
            <a:r>
              <a:rPr lang="en-US" sz="2800" b="0" dirty="0"/>
              <a:t>the code that </a:t>
            </a:r>
            <a:r>
              <a:rPr lang="en-US" sz="2800" b="0" dirty="0" smtClean="0"/>
              <a:t>leads to </a:t>
            </a:r>
            <a:r>
              <a:rPr lang="en-US" sz="2800" b="0" dirty="0"/>
              <a:t>an executable </a:t>
            </a:r>
            <a:r>
              <a:rPr lang="en-US" sz="2800" b="0" dirty="0" smtClean="0"/>
              <a:t>program (source code), </a:t>
            </a:r>
            <a:r>
              <a:rPr lang="en-US" sz="2800" b="0" dirty="0"/>
              <a:t>and the tests that exercise the software to uncover </a:t>
            </a:r>
            <a:r>
              <a:rPr lang="en-US" sz="2800" b="0" dirty="0" smtClean="0"/>
              <a:t>errors (test case), and </a:t>
            </a:r>
            <a:r>
              <a:rPr lang="en-US" sz="2800" b="0" dirty="0"/>
              <a:t>also </a:t>
            </a:r>
            <a:r>
              <a:rPr lang="en-US" sz="2800" b="0" dirty="0" smtClean="0"/>
              <a:t>the </a:t>
            </a:r>
            <a:r>
              <a:rPr lang="en-US" sz="2800" b="0" dirty="0"/>
              <a:t>project progresses</a:t>
            </a:r>
            <a:r>
              <a:rPr lang="en-US" sz="2800" b="0" dirty="0" smtClean="0"/>
              <a:t> </a:t>
            </a:r>
            <a:endParaRPr lang="en-US" sz="7600" b="0"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125504441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7389436" cy="822305"/>
          </a:xfrm>
        </p:spPr>
        <p:txBody>
          <a:bodyPr/>
          <a:lstStyle/>
          <a:p>
            <a:r>
              <a:rPr lang="fr-FR" dirty="0" smtClean="0"/>
              <a:t> </a:t>
            </a:r>
            <a:r>
              <a:rPr lang="fr-FR" dirty="0" err="1" smtClean="0"/>
              <a:t>Measuring</a:t>
            </a:r>
            <a:r>
              <a:rPr lang="fr-FR" dirty="0" smtClean="0"/>
              <a:t> </a:t>
            </a:r>
            <a:r>
              <a:rPr lang="fr-FR" dirty="0" err="1" smtClean="0"/>
              <a:t>Quality</a:t>
            </a:r>
            <a:r>
              <a:rPr lang="fr-FR" dirty="0" smtClean="0"/>
              <a:t> </a:t>
            </a:r>
            <a:r>
              <a:rPr lang="fr-FR" dirty="0" err="1" smtClean="0"/>
              <a:t>Indicators</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400" b="0" dirty="0"/>
              <a:t>U</a:t>
            </a:r>
            <a:r>
              <a:rPr lang="en-US" sz="2400" b="0" dirty="0" smtClean="0"/>
              <a:t>seful indicators:</a:t>
            </a:r>
          </a:p>
          <a:p>
            <a:pPr lvl="1"/>
            <a:r>
              <a:rPr lang="en-US" sz="2400" dirty="0" smtClean="0"/>
              <a:t>Correctness</a:t>
            </a:r>
            <a:r>
              <a:rPr lang="en-US" sz="2400" dirty="0"/>
              <a:t>. </a:t>
            </a:r>
            <a:r>
              <a:rPr lang="en-US" sz="2400" b="0" dirty="0"/>
              <a:t>A program must operate correctly or it provides little value </a:t>
            </a:r>
            <a:r>
              <a:rPr lang="en-US" sz="2400" b="0" dirty="0" smtClean="0"/>
              <a:t>to its </a:t>
            </a:r>
            <a:r>
              <a:rPr lang="en-US" sz="2400" b="0" dirty="0"/>
              <a:t>users. Correctness is the degree to which the software performs </a:t>
            </a:r>
            <a:r>
              <a:rPr lang="en-US" sz="2400" b="0" dirty="0" smtClean="0"/>
              <a:t>its required function</a:t>
            </a:r>
            <a:r>
              <a:rPr lang="en-US" sz="2400" b="0" dirty="0"/>
              <a:t>;</a:t>
            </a:r>
            <a:r>
              <a:rPr lang="en-US" sz="2400" b="0" dirty="0" smtClean="0"/>
              <a:t> </a:t>
            </a:r>
            <a:r>
              <a:rPr lang="en-US" sz="2400" b="0" dirty="0"/>
              <a:t>defects </a:t>
            </a:r>
            <a:r>
              <a:rPr lang="en-US" sz="2400" b="0" dirty="0" smtClean="0"/>
              <a:t>per KLOC counted </a:t>
            </a:r>
            <a:r>
              <a:rPr lang="en-US" sz="2400" b="0" dirty="0"/>
              <a:t>over a standard period of time, typically one </a:t>
            </a:r>
            <a:r>
              <a:rPr lang="en-US" sz="2400" b="0" dirty="0" smtClean="0"/>
              <a:t>year.</a:t>
            </a:r>
          </a:p>
          <a:p>
            <a:pPr lvl="1"/>
            <a:r>
              <a:rPr lang="en-US" sz="2400" dirty="0" smtClean="0"/>
              <a:t>Maintainability</a:t>
            </a:r>
            <a:r>
              <a:rPr lang="en-US" sz="2400" dirty="0"/>
              <a:t>. </a:t>
            </a:r>
            <a:r>
              <a:rPr lang="en-US" sz="2400" b="0" dirty="0" smtClean="0"/>
              <a:t>Maintainability </a:t>
            </a:r>
            <a:r>
              <a:rPr lang="en-US" sz="2400" b="0" dirty="0"/>
              <a:t>is the ease with which </a:t>
            </a:r>
            <a:r>
              <a:rPr lang="en-US" sz="2400" b="0" dirty="0" smtClean="0"/>
              <a:t>a program </a:t>
            </a:r>
            <a:r>
              <a:rPr lang="en-US" sz="2400" b="0" dirty="0"/>
              <a:t>can be corrected if an error is encountered, adapted if its </a:t>
            </a:r>
            <a:r>
              <a:rPr lang="en-US" sz="2400" b="0" dirty="0" smtClean="0"/>
              <a:t>environment changes</a:t>
            </a:r>
            <a:r>
              <a:rPr lang="en-US" sz="2400" b="0" dirty="0"/>
              <a:t>, or enhanced if the customer desires a change in </a:t>
            </a:r>
            <a:r>
              <a:rPr lang="en-US" sz="2400" b="0" dirty="0" smtClean="0"/>
              <a:t>requirements; </a:t>
            </a:r>
            <a:r>
              <a:rPr lang="en-US" sz="2400" b="0" dirty="0"/>
              <a:t>a</a:t>
            </a:r>
            <a:r>
              <a:rPr lang="en-US" sz="2400" b="0" dirty="0" smtClean="0"/>
              <a:t> </a:t>
            </a:r>
            <a:r>
              <a:rPr lang="en-US" sz="2400" b="0" dirty="0"/>
              <a:t>simple time-oriented metric is </a:t>
            </a:r>
            <a:r>
              <a:rPr lang="en-US" sz="2400" b="0" i="1" dirty="0" smtClean="0"/>
              <a:t>mean-time-to change </a:t>
            </a:r>
            <a:r>
              <a:rPr lang="en-US" sz="2400" b="0" dirty="0" smtClean="0"/>
              <a:t>(MTTC</a:t>
            </a:r>
            <a:r>
              <a:rPr lang="en-US" sz="2400" b="0" dirty="0"/>
              <a:t>), the time it takes to analyze the change request, design </a:t>
            </a:r>
            <a:r>
              <a:rPr lang="en-US" sz="2400" b="0" dirty="0" smtClean="0"/>
              <a:t>an appropriate </a:t>
            </a:r>
            <a:r>
              <a:rPr lang="en-US" sz="2400" b="0" dirty="0"/>
              <a:t>modification, implement the change, test it, and distribute </a:t>
            </a:r>
            <a:r>
              <a:rPr lang="en-US" sz="2400" b="0" dirty="0" smtClean="0"/>
              <a:t>the change </a:t>
            </a:r>
            <a:r>
              <a:rPr lang="en-US" sz="2400" b="0" dirty="0"/>
              <a:t>to all </a:t>
            </a:r>
            <a:r>
              <a:rPr lang="en-US" sz="2400" b="0" dirty="0" smtClean="0"/>
              <a:t>users.</a:t>
            </a:r>
          </a:p>
          <a:p>
            <a:endParaRPr lang="en-US" sz="2400" b="0"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357358970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7389436" cy="822305"/>
          </a:xfrm>
        </p:spPr>
        <p:txBody>
          <a:bodyPr/>
          <a:lstStyle/>
          <a:p>
            <a:r>
              <a:rPr lang="fr-FR" dirty="0" smtClean="0"/>
              <a:t> </a:t>
            </a:r>
            <a:r>
              <a:rPr lang="fr-FR" dirty="0" err="1" smtClean="0"/>
              <a:t>Measuring</a:t>
            </a:r>
            <a:r>
              <a:rPr lang="fr-FR" dirty="0" smtClean="0"/>
              <a:t> </a:t>
            </a:r>
            <a:r>
              <a:rPr lang="fr-FR" dirty="0" err="1" smtClean="0"/>
              <a:t>Quality</a:t>
            </a:r>
            <a:r>
              <a:rPr lang="fr-FR" dirty="0" smtClean="0"/>
              <a:t> </a:t>
            </a:r>
            <a:r>
              <a:rPr lang="fr-FR" dirty="0" err="1" smtClean="0"/>
              <a:t>Indicators</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400" b="0" dirty="0"/>
              <a:t>U</a:t>
            </a:r>
            <a:r>
              <a:rPr lang="en-US" sz="2400" b="0" dirty="0" smtClean="0"/>
              <a:t>seful indicators:</a:t>
            </a:r>
          </a:p>
          <a:p>
            <a:pPr lvl="1"/>
            <a:r>
              <a:rPr lang="en-US" sz="2400" dirty="0"/>
              <a:t>Integrity. </a:t>
            </a:r>
            <a:r>
              <a:rPr lang="en-US" sz="2400" b="0" dirty="0" smtClean="0"/>
              <a:t>This </a:t>
            </a:r>
            <a:r>
              <a:rPr lang="en-US" sz="2400" b="0" dirty="0"/>
              <a:t>attribute measures a system's ability to </a:t>
            </a:r>
            <a:r>
              <a:rPr lang="en-US" sz="2400" b="0" dirty="0" smtClean="0"/>
              <a:t>withstand attacks </a:t>
            </a:r>
            <a:r>
              <a:rPr lang="en-US" sz="2400" b="0" dirty="0"/>
              <a:t>(both accidental and intentional) to its security. Attacks can </a:t>
            </a:r>
            <a:r>
              <a:rPr lang="en-US" sz="2400" b="0" dirty="0" smtClean="0"/>
              <a:t>be made </a:t>
            </a:r>
            <a:r>
              <a:rPr lang="en-US" sz="2400" b="0" dirty="0"/>
              <a:t>on all three components of software: programs, data, and documents</a:t>
            </a:r>
            <a:r>
              <a:rPr lang="en-US" sz="2400" b="0" dirty="0" smtClean="0"/>
              <a:t>.</a:t>
            </a:r>
          </a:p>
          <a:p>
            <a:pPr lvl="2"/>
            <a:r>
              <a:rPr lang="en-US" sz="2400" b="0" dirty="0" smtClean="0"/>
              <a:t>To </a:t>
            </a:r>
            <a:r>
              <a:rPr lang="en-US" sz="2400" b="0" dirty="0"/>
              <a:t>measure integrity, two additional attributes must be defined: threat </a:t>
            </a:r>
            <a:r>
              <a:rPr lang="en-US" sz="2400" b="0" dirty="0" smtClean="0"/>
              <a:t>and security</a:t>
            </a:r>
            <a:r>
              <a:rPr lang="en-US" sz="2400" b="0" dirty="0"/>
              <a:t>. </a:t>
            </a:r>
          </a:p>
        </p:txBody>
      </p:sp>
      <p:sp>
        <p:nvSpPr>
          <p:cNvPr id="3" name="Slide Number Placeholder 2"/>
          <p:cNvSpPr>
            <a:spLocks noGrp="1"/>
          </p:cNvSpPr>
          <p:nvPr>
            <p:ph type="sldNum" sz="quarter" idx="11"/>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94613979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7389436" cy="822305"/>
          </a:xfrm>
        </p:spPr>
        <p:txBody>
          <a:bodyPr/>
          <a:lstStyle/>
          <a:p>
            <a:r>
              <a:rPr lang="fr-FR" dirty="0" smtClean="0"/>
              <a:t> </a:t>
            </a:r>
            <a:r>
              <a:rPr lang="fr-FR" dirty="0" err="1" smtClean="0"/>
              <a:t>Measuring</a:t>
            </a:r>
            <a:r>
              <a:rPr lang="fr-FR" dirty="0" smtClean="0"/>
              <a:t> </a:t>
            </a:r>
            <a:r>
              <a:rPr lang="fr-FR" dirty="0" err="1" smtClean="0"/>
              <a:t>Quality</a:t>
            </a:r>
            <a:r>
              <a:rPr lang="fr-FR" dirty="0" smtClean="0"/>
              <a:t> </a:t>
            </a:r>
            <a:r>
              <a:rPr lang="fr-FR" dirty="0" err="1" smtClean="0"/>
              <a:t>Indicators</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400" b="0" dirty="0"/>
              <a:t>U</a:t>
            </a:r>
            <a:r>
              <a:rPr lang="en-US" sz="2400" b="0" dirty="0" smtClean="0"/>
              <a:t>seful indicators:</a:t>
            </a:r>
          </a:p>
          <a:p>
            <a:pPr lvl="2"/>
            <a:r>
              <a:rPr lang="en-US" sz="2400" dirty="0"/>
              <a:t>Integrity. </a:t>
            </a:r>
            <a:r>
              <a:rPr lang="en-US" sz="2400" b="0" dirty="0" smtClean="0"/>
              <a:t>The </a:t>
            </a:r>
            <a:r>
              <a:rPr lang="en-US" sz="2400" b="0" dirty="0"/>
              <a:t>integrity of a system can then be defined </a:t>
            </a:r>
            <a:r>
              <a:rPr lang="en-US" sz="2400" b="0" dirty="0" smtClean="0"/>
              <a:t>as</a:t>
            </a:r>
          </a:p>
          <a:p>
            <a:pPr lvl="2"/>
            <a:endParaRPr lang="en-US" sz="2400" b="0" dirty="0" smtClean="0"/>
          </a:p>
          <a:p>
            <a:pPr marL="442912" lvl="1" indent="0">
              <a:buNone/>
            </a:pPr>
            <a:r>
              <a:rPr lang="en-US" sz="2400" b="1" dirty="0" smtClean="0"/>
              <a:t>integrity </a:t>
            </a:r>
            <a:r>
              <a:rPr lang="en-US" sz="2400" b="1" dirty="0"/>
              <a:t>= summation [(1 – threat)  (1 – security</a:t>
            </a:r>
            <a:r>
              <a:rPr lang="en-US" sz="2400" b="1" dirty="0" smtClean="0"/>
              <a:t>)]</a:t>
            </a:r>
            <a:r>
              <a:rPr lang="en-US" sz="2400" b="1" i="1" dirty="0"/>
              <a:t> </a:t>
            </a:r>
            <a:endParaRPr lang="en-US" sz="2400" i="1" dirty="0"/>
          </a:p>
          <a:p>
            <a:pPr marL="1174750" lvl="3" indent="0">
              <a:buNone/>
            </a:pPr>
            <a:r>
              <a:rPr lang="en-US" sz="2400" i="0" dirty="0" smtClean="0"/>
              <a:t>where </a:t>
            </a:r>
            <a:r>
              <a:rPr lang="en-US" sz="2400" i="0" dirty="0"/>
              <a:t>threat and security are summed over each type of attack</a:t>
            </a:r>
            <a:r>
              <a:rPr lang="en-US" sz="2400" i="0" dirty="0" smtClean="0"/>
              <a:t>.</a:t>
            </a:r>
          </a:p>
          <a:p>
            <a:pPr marL="1174750" lvl="3" indent="0">
              <a:buNone/>
            </a:pPr>
            <a:r>
              <a:rPr lang="en-US" sz="2400" b="1" i="1" dirty="0" smtClean="0"/>
              <a:t>Threat</a:t>
            </a:r>
            <a:r>
              <a:rPr lang="en-US" sz="2400" i="1" dirty="0" smtClean="0"/>
              <a:t> </a:t>
            </a:r>
            <a:r>
              <a:rPr lang="en-US" sz="2400" dirty="0"/>
              <a:t>is the probability (which can be estimated or derived from empirical evidence) that an attack of a specific type will occur within a </a:t>
            </a:r>
            <a:r>
              <a:rPr lang="en-US" sz="2400" dirty="0" smtClean="0"/>
              <a:t>given time</a:t>
            </a:r>
            <a:r>
              <a:rPr lang="en-US" sz="2400" dirty="0"/>
              <a:t>. </a:t>
            </a:r>
            <a:endParaRPr lang="en-US" sz="2400" dirty="0" smtClean="0"/>
          </a:p>
          <a:p>
            <a:pPr marL="1174750" lvl="3" indent="0">
              <a:buNone/>
            </a:pPr>
            <a:r>
              <a:rPr lang="en-US" sz="2400" b="1" i="1" dirty="0" smtClean="0"/>
              <a:t>Security</a:t>
            </a:r>
            <a:r>
              <a:rPr lang="en-US" sz="2400" i="1" dirty="0" smtClean="0"/>
              <a:t> </a:t>
            </a:r>
            <a:r>
              <a:rPr lang="en-US" sz="2400" dirty="0"/>
              <a:t>is the probability (which can be estimated or derived from empirical evidence) that the attack of a specific type will be repelled. </a:t>
            </a:r>
          </a:p>
          <a:p>
            <a:pPr marL="1528763" lvl="4" indent="0">
              <a:buNone/>
            </a:pPr>
            <a:endParaRPr lang="en-US" sz="2400" b="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333439965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7389436" cy="822305"/>
          </a:xfrm>
        </p:spPr>
        <p:txBody>
          <a:bodyPr/>
          <a:lstStyle/>
          <a:p>
            <a:r>
              <a:rPr lang="fr-FR" dirty="0" smtClean="0"/>
              <a:t> </a:t>
            </a:r>
            <a:r>
              <a:rPr lang="fr-FR" dirty="0" err="1" smtClean="0"/>
              <a:t>Measuring</a:t>
            </a:r>
            <a:r>
              <a:rPr lang="fr-FR" dirty="0" smtClean="0"/>
              <a:t> </a:t>
            </a:r>
            <a:r>
              <a:rPr lang="fr-FR" dirty="0" err="1" smtClean="0"/>
              <a:t>Quality</a:t>
            </a:r>
            <a:r>
              <a:rPr lang="fr-FR" dirty="0" smtClean="0"/>
              <a:t> </a:t>
            </a:r>
            <a:r>
              <a:rPr lang="fr-FR" dirty="0" err="1" smtClean="0"/>
              <a:t>Indicators</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400" b="0" dirty="0"/>
              <a:t>U</a:t>
            </a:r>
            <a:r>
              <a:rPr lang="en-US" sz="2400" b="0" dirty="0" smtClean="0"/>
              <a:t>seful indicators:</a:t>
            </a:r>
          </a:p>
          <a:p>
            <a:pPr lvl="1"/>
            <a:r>
              <a:rPr lang="en-US" sz="2400" dirty="0"/>
              <a:t>Usability. </a:t>
            </a:r>
            <a:r>
              <a:rPr lang="en-US" sz="2400" b="0" dirty="0" smtClean="0"/>
              <a:t>If </a:t>
            </a:r>
            <a:r>
              <a:rPr lang="en-US" sz="2400" b="0" dirty="0"/>
              <a:t>a program is not user-friendly, it is </a:t>
            </a:r>
            <a:r>
              <a:rPr lang="en-US" sz="2400" b="0" dirty="0" smtClean="0"/>
              <a:t>often doomed </a:t>
            </a:r>
            <a:r>
              <a:rPr lang="en-US" sz="2400" b="0" dirty="0"/>
              <a:t>to failure, even if the functions that it performs are valuable. </a:t>
            </a:r>
            <a:r>
              <a:rPr lang="en-US" sz="2400" b="0" dirty="0" smtClean="0"/>
              <a:t>Usability is </a:t>
            </a:r>
            <a:r>
              <a:rPr lang="en-US" sz="2400" b="0" dirty="0"/>
              <a:t>an attempt to quantify </a:t>
            </a:r>
            <a:r>
              <a:rPr lang="en-US" sz="2400" b="0" dirty="0" smtClean="0"/>
              <a:t>user-friendliness; </a:t>
            </a:r>
          </a:p>
        </p:txBody>
      </p:sp>
      <p:sp>
        <p:nvSpPr>
          <p:cNvPr id="3" name="Slide Number Placeholder 2"/>
          <p:cNvSpPr>
            <a:spLocks noGrp="1"/>
          </p:cNvSpPr>
          <p:nvPr>
            <p:ph type="sldNum" sz="quarter" idx="11"/>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141029471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7389436" cy="822305"/>
          </a:xfrm>
        </p:spPr>
        <p:txBody>
          <a:bodyPr/>
          <a:lstStyle/>
          <a:p>
            <a:r>
              <a:rPr lang="fr-FR" dirty="0" smtClean="0"/>
              <a:t> </a:t>
            </a:r>
            <a:r>
              <a:rPr lang="fr-FR" dirty="0" err="1" smtClean="0"/>
              <a:t>Measuring</a:t>
            </a:r>
            <a:r>
              <a:rPr lang="fr-FR" dirty="0" smtClean="0"/>
              <a:t> </a:t>
            </a:r>
            <a:r>
              <a:rPr lang="fr-FR" dirty="0" err="1" smtClean="0"/>
              <a:t>Quality</a:t>
            </a:r>
            <a:r>
              <a:rPr lang="fr-FR" dirty="0" smtClean="0"/>
              <a:t> </a:t>
            </a:r>
            <a:r>
              <a:rPr lang="fr-FR" dirty="0" err="1" smtClean="0"/>
              <a:t>Indicators</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400" b="0" dirty="0"/>
              <a:t>U</a:t>
            </a:r>
            <a:r>
              <a:rPr lang="en-US" sz="2400" b="0" dirty="0" smtClean="0"/>
              <a:t>seful indicators:</a:t>
            </a:r>
          </a:p>
          <a:p>
            <a:pPr lvl="1"/>
            <a:r>
              <a:rPr lang="en-US" sz="2400" dirty="0" smtClean="0"/>
              <a:t>Usability </a:t>
            </a:r>
            <a:r>
              <a:rPr lang="en-US" sz="2400" b="0" dirty="0" smtClean="0"/>
              <a:t>can be</a:t>
            </a:r>
            <a:r>
              <a:rPr lang="en-US" sz="2400" dirty="0" smtClean="0"/>
              <a:t> </a:t>
            </a:r>
            <a:r>
              <a:rPr lang="en-US" sz="2400" b="0" dirty="0" smtClean="0"/>
              <a:t>measured </a:t>
            </a:r>
            <a:r>
              <a:rPr lang="en-US" sz="2400" b="0" dirty="0"/>
              <a:t>in terms of four characteristics: </a:t>
            </a:r>
          </a:p>
          <a:p>
            <a:pPr marL="0" indent="0">
              <a:buNone/>
            </a:pPr>
            <a:r>
              <a:rPr lang="en-US" sz="2400" b="0" dirty="0"/>
              <a:t>	(1) the physical and or intellectual skill required to learn the system, </a:t>
            </a:r>
          </a:p>
          <a:p>
            <a:pPr marL="0" indent="0">
              <a:buNone/>
            </a:pPr>
            <a:r>
              <a:rPr lang="en-US" sz="2400" b="0" dirty="0"/>
              <a:t>	(2) the time required to become moderately efficient in the use of the system, </a:t>
            </a:r>
          </a:p>
          <a:p>
            <a:pPr marL="0" indent="0">
              <a:buNone/>
            </a:pPr>
            <a:r>
              <a:rPr lang="en-US" sz="2400" b="0" dirty="0"/>
              <a:t>	(3) the net increase in productivity (over the approach that the system replaces) measured when the system is used by someone who is moderately efficient, </a:t>
            </a:r>
          </a:p>
          <a:p>
            <a:pPr marL="0" indent="0">
              <a:buNone/>
            </a:pPr>
            <a:r>
              <a:rPr lang="en-US" sz="2400" b="0" dirty="0"/>
              <a:t>	</a:t>
            </a:r>
            <a:r>
              <a:rPr lang="en-US" sz="2400" b="0" dirty="0" smtClean="0"/>
              <a:t>(4</a:t>
            </a:r>
            <a:r>
              <a:rPr lang="en-US" sz="2400" b="0" dirty="0"/>
              <a:t>) a subjective assessment (sometimes obtained through a questionnaire) of users attitudes toward the system.</a:t>
            </a:r>
          </a:p>
        </p:txBody>
      </p:sp>
      <p:sp>
        <p:nvSpPr>
          <p:cNvPr id="3" name="Slide Number Placeholder 2"/>
          <p:cNvSpPr>
            <a:spLocks noGrp="1"/>
          </p:cNvSpPr>
          <p:nvPr>
            <p:ph type="sldNum" sz="quarter" idx="11"/>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403185467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6779117" cy="822305"/>
          </a:xfrm>
        </p:spPr>
        <p:txBody>
          <a:bodyPr/>
          <a:lstStyle/>
          <a:p>
            <a:r>
              <a:rPr lang="fr-FR" dirty="0" smtClean="0"/>
              <a:t> </a:t>
            </a:r>
            <a:r>
              <a:rPr lang="fr-FR" dirty="0" err="1" smtClean="0"/>
              <a:t>Defect</a:t>
            </a:r>
            <a:r>
              <a:rPr lang="fr-FR" dirty="0" smtClean="0"/>
              <a:t> </a:t>
            </a:r>
            <a:r>
              <a:rPr lang="fr-FR" dirty="0" err="1" smtClean="0"/>
              <a:t>Removal</a:t>
            </a:r>
            <a:r>
              <a:rPr lang="fr-FR" dirty="0" smtClean="0"/>
              <a:t> </a:t>
            </a:r>
            <a:r>
              <a:rPr lang="fr-FR" dirty="0" err="1" smtClean="0"/>
              <a:t>Efficiency</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400" b="0" dirty="0"/>
              <a:t>A quality metric that provides benefit at both the project and process level is </a:t>
            </a:r>
            <a:r>
              <a:rPr lang="en-US" sz="2400" b="0" dirty="0" smtClean="0"/>
              <a:t>defect removal </a:t>
            </a:r>
            <a:r>
              <a:rPr lang="en-US" sz="2400" b="0" dirty="0"/>
              <a:t>efficiency (DRE</a:t>
            </a:r>
            <a:r>
              <a:rPr lang="en-US" sz="2400" b="0" dirty="0" smtClean="0"/>
              <a:t>).</a:t>
            </a:r>
          </a:p>
          <a:p>
            <a:r>
              <a:rPr lang="en-US" sz="2400" b="0" dirty="0" smtClean="0"/>
              <a:t>DRE </a:t>
            </a:r>
            <a:r>
              <a:rPr lang="en-US" sz="2400" b="0" dirty="0"/>
              <a:t>is a measure of the filtering ability of </a:t>
            </a:r>
            <a:r>
              <a:rPr lang="en-US" sz="2400" b="0" dirty="0" smtClean="0"/>
              <a:t>quality assurance </a:t>
            </a:r>
            <a:r>
              <a:rPr lang="en-US" sz="2400" b="0" dirty="0"/>
              <a:t>and control activities as they are applied throughout all process </a:t>
            </a:r>
            <a:r>
              <a:rPr lang="en-US" sz="2400" b="0" dirty="0" smtClean="0"/>
              <a:t>framework activities</a:t>
            </a:r>
            <a:r>
              <a:rPr lang="en-US" sz="2400" b="0" dirty="0"/>
              <a:t>.</a:t>
            </a:r>
          </a:p>
          <a:p>
            <a:r>
              <a:rPr lang="en-US" sz="2400" b="0" dirty="0" smtClean="0"/>
              <a:t>DRE </a:t>
            </a:r>
            <a:r>
              <a:rPr lang="en-US" sz="2400" b="0" dirty="0"/>
              <a:t>is defined in the </a:t>
            </a:r>
            <a:r>
              <a:rPr lang="en-US" sz="2400" b="0" dirty="0" smtClean="0"/>
              <a:t>following manner</a:t>
            </a:r>
            <a:r>
              <a:rPr lang="en-US" sz="2400" b="0" dirty="0"/>
              <a:t>:</a:t>
            </a:r>
          </a:p>
          <a:p>
            <a:pPr marL="0" indent="0">
              <a:buNone/>
            </a:pPr>
            <a:r>
              <a:rPr lang="en-US" sz="2400" b="0" dirty="0" smtClean="0"/>
              <a:t>		DRE </a:t>
            </a:r>
            <a:r>
              <a:rPr lang="en-US" sz="2400" b="0" dirty="0"/>
              <a:t>= </a:t>
            </a:r>
            <a:r>
              <a:rPr lang="en-US" sz="2400" b="0" i="1" dirty="0"/>
              <a:t>E</a:t>
            </a:r>
            <a:r>
              <a:rPr lang="en-US" sz="2400" b="0" dirty="0"/>
              <a:t>/(</a:t>
            </a:r>
            <a:r>
              <a:rPr lang="en-US" sz="2400" b="0" i="1" dirty="0"/>
              <a:t>E </a:t>
            </a:r>
            <a:r>
              <a:rPr lang="en-US" sz="2400" b="0" dirty="0"/>
              <a:t>+ </a:t>
            </a:r>
            <a:r>
              <a:rPr lang="en-US" sz="2400" b="0" i="1" dirty="0"/>
              <a:t>D</a:t>
            </a:r>
            <a:r>
              <a:rPr lang="en-US" sz="2400" b="0" dirty="0"/>
              <a:t>) </a:t>
            </a:r>
          </a:p>
          <a:p>
            <a:pPr marL="442912" lvl="1" indent="0">
              <a:buNone/>
            </a:pPr>
            <a:r>
              <a:rPr lang="en-US" sz="2400" b="0" dirty="0"/>
              <a:t>where </a:t>
            </a:r>
            <a:r>
              <a:rPr lang="en-US" sz="2400" b="0" i="1" dirty="0"/>
              <a:t>E </a:t>
            </a:r>
            <a:r>
              <a:rPr lang="en-US" sz="2400" b="0" dirty="0"/>
              <a:t>is the number of errors found before delivery of the software to the </a:t>
            </a:r>
            <a:r>
              <a:rPr lang="en-US" sz="2400" b="0" dirty="0" smtClean="0"/>
              <a:t>end-user and </a:t>
            </a:r>
            <a:r>
              <a:rPr lang="en-US" sz="2400" b="0" i="1" dirty="0"/>
              <a:t>D </a:t>
            </a:r>
            <a:r>
              <a:rPr lang="en-US" sz="2400" b="0" dirty="0"/>
              <a:t>is the number of defects found after delivery</a:t>
            </a:r>
            <a:r>
              <a:rPr lang="en-US" sz="2400" b="0" dirty="0" smtClean="0"/>
              <a:t>.</a:t>
            </a:r>
          </a:p>
          <a:p>
            <a:pPr marL="442912" lvl="1" indent="0">
              <a:buNone/>
            </a:pPr>
            <a:r>
              <a:rPr lang="en-US" sz="2400" b="0" dirty="0"/>
              <a:t>The ideal value for DRE is 1</a:t>
            </a:r>
          </a:p>
        </p:txBody>
      </p:sp>
      <p:sp>
        <p:nvSpPr>
          <p:cNvPr id="3" name="Slide Number Placeholder 2"/>
          <p:cNvSpPr>
            <a:spLocks noGrp="1"/>
          </p:cNvSpPr>
          <p:nvPr>
            <p:ph type="sldNum" sz="quarter" idx="11"/>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146215861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2566326" cy="822305"/>
          </a:xfrm>
        </p:spPr>
        <p:txBody>
          <a:bodyPr/>
          <a:lstStyle/>
          <a:p>
            <a:r>
              <a:rPr lang="fr-FR" dirty="0" smtClean="0"/>
              <a:t> Content</a:t>
            </a:r>
            <a:endParaRPr lang="fr-FR" dirty="0"/>
          </a:p>
        </p:txBody>
      </p:sp>
      <p:sp>
        <p:nvSpPr>
          <p:cNvPr id="18" name="Content Placeholder 17"/>
          <p:cNvSpPr>
            <a:spLocks noGrp="1"/>
          </p:cNvSpPr>
          <p:nvPr>
            <p:ph idx="1"/>
          </p:nvPr>
        </p:nvSpPr>
        <p:spPr>
          <a:xfrm>
            <a:off x="304800" y="1295400"/>
            <a:ext cx="8686800" cy="5077703"/>
          </a:xfrm>
        </p:spPr>
        <p:txBody>
          <a:bodyPr/>
          <a:lstStyle/>
          <a:p>
            <a:pPr marL="0" indent="0" algn="ctr">
              <a:buNone/>
            </a:pPr>
            <a:r>
              <a:rPr lang="en-US" sz="8800" dirty="0" smtClean="0"/>
              <a:t>Part III</a:t>
            </a:r>
            <a:endParaRPr lang="en-US" sz="7200" dirty="0" smtClean="0"/>
          </a:p>
          <a:p>
            <a:pPr marL="0" indent="0" algn="ctr">
              <a:buNone/>
            </a:pPr>
            <a:r>
              <a:rPr lang="en-US" sz="7200" dirty="0" smtClean="0"/>
              <a:t>Software Project Planning</a:t>
            </a:r>
            <a:endParaRPr lang="en-US" sz="7200" dirty="0"/>
          </a:p>
          <a:p>
            <a:pPr marL="0" indent="0" algn="ctr">
              <a:buNone/>
            </a:pPr>
            <a:endParaRPr lang="it-IT" dirty="0" smtClean="0"/>
          </a:p>
          <a:p>
            <a:pPr marL="0" indent="0" algn="ctr"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900" dirty="0" smtClean="0">
              <a:ea typeface="+mn-ea"/>
              <a:cs typeface="+mn-cs"/>
            </a:endParaRPr>
          </a:p>
          <a:p>
            <a:pPr marL="0" indent="0" algn="ctr"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smtClean="0"/>
          </a:p>
          <a:p>
            <a:pPr marL="0" indent="0" algn="ctr"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lvl="1" algn="ctr" defTabSz="457200">
              <a:lnSpc>
                <a:spcPct val="90000"/>
              </a:lnSpc>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lvl="1" algn="ctr" defTabSz="457200">
              <a:lnSpc>
                <a:spcPct val="90000"/>
              </a:lnSpc>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marL="0" indent="0" algn="ctr">
              <a:buNone/>
            </a:pPr>
            <a:endParaRPr lang="en-US"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215432489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6723034" cy="822305"/>
          </a:xfrm>
        </p:spPr>
        <p:txBody>
          <a:bodyPr/>
          <a:lstStyle/>
          <a:p>
            <a:r>
              <a:rPr lang="fr-FR" dirty="0" smtClean="0"/>
              <a:t> Software Project Planning</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400" b="0" dirty="0" smtClean="0"/>
              <a:t>Software </a:t>
            </a:r>
            <a:r>
              <a:rPr lang="en-US" sz="2400" b="0" dirty="0"/>
              <a:t>project management begins with a set of activities that are </a:t>
            </a:r>
            <a:r>
              <a:rPr lang="en-US" sz="2400" b="0" dirty="0" smtClean="0"/>
              <a:t>collectively called </a:t>
            </a:r>
            <a:r>
              <a:rPr lang="en-US" sz="2400" b="0" i="1" dirty="0"/>
              <a:t>project planning. </a:t>
            </a:r>
            <a:endParaRPr lang="en-US" sz="2400" b="0" i="1" dirty="0" smtClean="0"/>
          </a:p>
          <a:p>
            <a:r>
              <a:rPr lang="en-US" sz="2400" b="0" dirty="0" smtClean="0"/>
              <a:t>Before </a:t>
            </a:r>
            <a:r>
              <a:rPr lang="en-US" sz="2400" b="0" dirty="0"/>
              <a:t>the project can begin, the </a:t>
            </a:r>
            <a:r>
              <a:rPr lang="en-US" sz="2400" b="0" dirty="0" smtClean="0"/>
              <a:t>manager and </a:t>
            </a:r>
            <a:r>
              <a:rPr lang="en-US" sz="2400" b="0" dirty="0"/>
              <a:t>the software team must estimate </a:t>
            </a:r>
            <a:endParaRPr lang="en-US" sz="2400" b="0" dirty="0" smtClean="0"/>
          </a:p>
          <a:p>
            <a:pPr lvl="1"/>
            <a:r>
              <a:rPr lang="en-US" sz="2400" b="0" dirty="0" smtClean="0"/>
              <a:t>the </a:t>
            </a:r>
            <a:r>
              <a:rPr lang="en-US" sz="2400" b="0" dirty="0"/>
              <a:t>work to be done, </a:t>
            </a:r>
            <a:endParaRPr lang="en-US" sz="2400" b="0" dirty="0" smtClean="0"/>
          </a:p>
          <a:p>
            <a:pPr lvl="1"/>
            <a:r>
              <a:rPr lang="en-US" sz="2400" b="0" dirty="0" smtClean="0"/>
              <a:t>the resources </a:t>
            </a:r>
            <a:r>
              <a:rPr lang="en-US" sz="2400" b="0" dirty="0"/>
              <a:t>that will be required, </a:t>
            </a:r>
            <a:endParaRPr lang="en-US" sz="2400" b="0" dirty="0" smtClean="0"/>
          </a:p>
          <a:p>
            <a:pPr lvl="1"/>
            <a:r>
              <a:rPr lang="en-US" sz="2400" b="0" dirty="0" smtClean="0"/>
              <a:t>and </a:t>
            </a:r>
            <a:r>
              <a:rPr lang="en-US" sz="2400" b="0" dirty="0"/>
              <a:t>the time that will elapse from start to </a:t>
            </a:r>
            <a:r>
              <a:rPr lang="en-US" sz="2400" b="0" dirty="0" smtClean="0"/>
              <a:t>finish.</a:t>
            </a:r>
          </a:p>
          <a:p>
            <a:r>
              <a:rPr lang="en-US" sz="2400" b="0" dirty="0"/>
              <a:t>P</a:t>
            </a:r>
            <a:r>
              <a:rPr lang="en-US" sz="2400" b="0" dirty="0" smtClean="0"/>
              <a:t>rovide a framework that enables the manager to make reasonable estimates of resources, cost, and schedule. </a:t>
            </a:r>
          </a:p>
          <a:p>
            <a:endParaRPr lang="en-US" sz="2800" b="0"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354537986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7140360" cy="822305"/>
          </a:xfrm>
        </p:spPr>
        <p:txBody>
          <a:bodyPr/>
          <a:lstStyle/>
          <a:p>
            <a:r>
              <a:rPr lang="fr-FR" dirty="0" smtClean="0"/>
              <a:t> Project Planning Objectives</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400" dirty="0" smtClean="0"/>
              <a:t>Software Scope.</a:t>
            </a:r>
            <a:r>
              <a:rPr lang="en-US" sz="2400" b="0" dirty="0" smtClean="0"/>
              <a:t> </a:t>
            </a:r>
            <a:r>
              <a:rPr lang="en-US" sz="2400" b="0" i="1" dirty="0"/>
              <a:t>Software scope </a:t>
            </a:r>
            <a:r>
              <a:rPr lang="en-US" sz="2400" b="0" dirty="0"/>
              <a:t>describes the data and control to be processed, function, </a:t>
            </a:r>
            <a:r>
              <a:rPr lang="en-US" sz="2400" b="0" dirty="0" smtClean="0"/>
              <a:t>performance, constraints</a:t>
            </a:r>
            <a:r>
              <a:rPr lang="en-US" sz="2400" b="0" dirty="0"/>
              <a:t>, interfaces, and reliability. </a:t>
            </a:r>
            <a:endParaRPr lang="en-US" sz="2400" b="0" dirty="0" smtClean="0"/>
          </a:p>
          <a:p>
            <a:pPr lvl="1"/>
            <a:r>
              <a:rPr lang="en-US" sz="2400" b="0" dirty="0" smtClean="0"/>
              <a:t>Obtaining Information of Software Scope</a:t>
            </a:r>
          </a:p>
          <a:p>
            <a:pPr lvl="2"/>
            <a:r>
              <a:rPr lang="en-US" sz="2400" b="0" dirty="0"/>
              <a:t>Who is behind the request for this work?</a:t>
            </a:r>
          </a:p>
          <a:p>
            <a:pPr lvl="2"/>
            <a:r>
              <a:rPr lang="en-US" sz="2400" b="0" dirty="0" smtClean="0"/>
              <a:t>Who </a:t>
            </a:r>
            <a:r>
              <a:rPr lang="en-US" sz="2400" b="0" dirty="0"/>
              <a:t>will use the solution?</a:t>
            </a:r>
          </a:p>
          <a:p>
            <a:pPr lvl="2"/>
            <a:r>
              <a:rPr lang="en-US" sz="2400" b="0" dirty="0" smtClean="0"/>
              <a:t>What </a:t>
            </a:r>
            <a:r>
              <a:rPr lang="en-US" sz="2400" b="0" dirty="0"/>
              <a:t>will be the economic benefit of a successful solution?</a:t>
            </a:r>
          </a:p>
          <a:p>
            <a:pPr lvl="2"/>
            <a:r>
              <a:rPr lang="en-US" sz="2400" b="0" dirty="0" smtClean="0"/>
              <a:t>Is </a:t>
            </a:r>
            <a:r>
              <a:rPr lang="en-US" sz="2400" b="0" dirty="0"/>
              <a:t>there another source for the solution</a:t>
            </a:r>
            <a:r>
              <a:rPr lang="en-US" sz="2400" b="0" dirty="0" smtClean="0"/>
              <a:t>?, etc.</a:t>
            </a:r>
          </a:p>
          <a:p>
            <a:pPr lvl="1"/>
            <a:r>
              <a:rPr lang="en-US" sz="2800" b="0" dirty="0" smtClean="0"/>
              <a:t>Feasibility</a:t>
            </a:r>
          </a:p>
          <a:p>
            <a:pPr lvl="2"/>
            <a:r>
              <a:rPr lang="en-US" sz="2200" b="0" dirty="0"/>
              <a:t>Once scope is </a:t>
            </a:r>
            <a:r>
              <a:rPr lang="en-US" sz="2200" b="0" dirty="0" smtClean="0"/>
              <a:t>understood, the </a:t>
            </a:r>
            <a:r>
              <a:rPr lang="en-US" sz="2200" b="0" dirty="0"/>
              <a:t>software team and others must work to determine if it can be done </a:t>
            </a:r>
            <a:r>
              <a:rPr lang="en-US" sz="2200" b="0" dirty="0" smtClean="0"/>
              <a:t>within the </a:t>
            </a:r>
            <a:r>
              <a:rPr lang="en-US" sz="2200" b="0" dirty="0"/>
              <a:t>dimensions just noted</a:t>
            </a:r>
            <a:endParaRPr lang="en-US" sz="7400" b="0"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308652573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7140360" cy="822305"/>
          </a:xfrm>
        </p:spPr>
        <p:txBody>
          <a:bodyPr/>
          <a:lstStyle/>
          <a:p>
            <a:r>
              <a:rPr lang="fr-FR" dirty="0" smtClean="0"/>
              <a:t> Project Planning Objectives</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400" dirty="0" smtClean="0"/>
              <a:t>Resources. </a:t>
            </a:r>
            <a:r>
              <a:rPr lang="en-US" sz="2400" b="0" dirty="0"/>
              <a:t>The second software planning task is estimation of the resources required to </a:t>
            </a:r>
            <a:r>
              <a:rPr lang="en-US" sz="2400" b="0" dirty="0" smtClean="0"/>
              <a:t>accomplish the </a:t>
            </a:r>
            <a:r>
              <a:rPr lang="en-US" sz="2400" b="0" dirty="0"/>
              <a:t>software development effort</a:t>
            </a:r>
            <a:r>
              <a:rPr lang="en-US" sz="2400" dirty="0" smtClean="0"/>
              <a:t> .</a:t>
            </a:r>
            <a:endParaRPr lang="en-US" sz="7400" b="0"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50</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8059" y="2514600"/>
            <a:ext cx="4876800" cy="331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624139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7140360" cy="822305"/>
          </a:xfrm>
        </p:spPr>
        <p:txBody>
          <a:bodyPr/>
          <a:lstStyle/>
          <a:p>
            <a:r>
              <a:rPr lang="fr-FR" dirty="0" smtClean="0"/>
              <a:t> Project Planning Objectives</a:t>
            </a:r>
            <a:endParaRPr lang="fr-FR" dirty="0"/>
          </a:p>
        </p:txBody>
      </p:sp>
      <p:sp>
        <p:nvSpPr>
          <p:cNvPr id="18" name="Content Placeholder 17"/>
          <p:cNvSpPr>
            <a:spLocks noGrp="1"/>
          </p:cNvSpPr>
          <p:nvPr>
            <p:ph idx="1"/>
          </p:nvPr>
        </p:nvSpPr>
        <p:spPr>
          <a:xfrm>
            <a:off x="304800" y="1066800"/>
            <a:ext cx="8686800" cy="5105400"/>
          </a:xfrm>
        </p:spPr>
        <p:txBody>
          <a:bodyPr/>
          <a:lstStyle/>
          <a:p>
            <a:r>
              <a:rPr lang="en-US" sz="2400" dirty="0" smtClean="0"/>
              <a:t>Resources. </a:t>
            </a:r>
            <a:r>
              <a:rPr lang="en-US" sz="2400" b="0" dirty="0" smtClean="0"/>
              <a:t>Each resource </a:t>
            </a:r>
            <a:r>
              <a:rPr lang="en-US" sz="2400" b="0" dirty="0"/>
              <a:t>is specified with four characteristics: </a:t>
            </a:r>
            <a:endParaRPr lang="en-US" sz="2400" b="0" dirty="0" smtClean="0"/>
          </a:p>
          <a:p>
            <a:pPr lvl="1"/>
            <a:r>
              <a:rPr lang="en-US" sz="2400" b="0" dirty="0" smtClean="0"/>
              <a:t>description </a:t>
            </a:r>
            <a:r>
              <a:rPr lang="en-US" sz="2400" b="0" dirty="0"/>
              <a:t>of the resource, </a:t>
            </a:r>
            <a:endParaRPr lang="en-US" sz="2400" b="0" dirty="0" smtClean="0"/>
          </a:p>
          <a:p>
            <a:pPr lvl="1"/>
            <a:r>
              <a:rPr lang="en-US" sz="2400" b="0" dirty="0" smtClean="0"/>
              <a:t>a state</a:t>
            </a:r>
            <a:r>
              <a:rPr lang="en-US" sz="2400" b="0" dirty="0"/>
              <a:t>ment of availability, </a:t>
            </a:r>
            <a:endParaRPr lang="en-US" sz="2400" b="0" dirty="0" smtClean="0"/>
          </a:p>
          <a:p>
            <a:pPr lvl="1"/>
            <a:r>
              <a:rPr lang="en-US" sz="2400" b="0" dirty="0" smtClean="0"/>
              <a:t>time </a:t>
            </a:r>
            <a:r>
              <a:rPr lang="en-US" sz="2400" b="0" dirty="0"/>
              <a:t>when the resource will be required; </a:t>
            </a:r>
            <a:endParaRPr lang="en-US" sz="2400" b="0" dirty="0" smtClean="0"/>
          </a:p>
          <a:p>
            <a:pPr lvl="1"/>
            <a:r>
              <a:rPr lang="en-US" sz="2400" b="0" dirty="0" smtClean="0"/>
              <a:t>duration </a:t>
            </a:r>
            <a:r>
              <a:rPr lang="en-US" sz="2400" b="0" dirty="0"/>
              <a:t>of time </a:t>
            </a:r>
            <a:r>
              <a:rPr lang="en-US" sz="2400" b="0" dirty="0" smtClean="0"/>
              <a:t>that resource </a:t>
            </a:r>
            <a:r>
              <a:rPr lang="en-US" sz="2400" b="0" dirty="0"/>
              <a:t>will be applied</a:t>
            </a:r>
          </a:p>
        </p:txBody>
      </p:sp>
      <p:sp>
        <p:nvSpPr>
          <p:cNvPr id="3" name="Slide Number Placeholder 2"/>
          <p:cNvSpPr>
            <a:spLocks noGrp="1"/>
          </p:cNvSpPr>
          <p:nvPr>
            <p:ph type="sldNum" sz="quarter" idx="11"/>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115702594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7140360" cy="822305"/>
          </a:xfrm>
        </p:spPr>
        <p:txBody>
          <a:bodyPr/>
          <a:lstStyle/>
          <a:p>
            <a:r>
              <a:rPr lang="fr-FR" dirty="0" smtClean="0"/>
              <a:t> Project Planning Objectives</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dirty="0" smtClean="0"/>
              <a:t>Resources. </a:t>
            </a:r>
          </a:p>
          <a:p>
            <a:pPr lvl="1"/>
            <a:r>
              <a:rPr lang="en-US" sz="2400" dirty="0" smtClean="0"/>
              <a:t>Human Resources.</a:t>
            </a:r>
            <a:r>
              <a:rPr lang="en-US" sz="2400" b="0" dirty="0" smtClean="0"/>
              <a:t> </a:t>
            </a:r>
          </a:p>
          <a:p>
            <a:pPr lvl="2"/>
            <a:r>
              <a:rPr lang="en-US" sz="2400" b="0" dirty="0" smtClean="0"/>
              <a:t>The </a:t>
            </a:r>
            <a:r>
              <a:rPr lang="en-US" sz="2400" b="0" dirty="0"/>
              <a:t>planner begins by evaluating scope and selecting the skills required to </a:t>
            </a:r>
            <a:r>
              <a:rPr lang="en-US" sz="2400" b="0" dirty="0" smtClean="0"/>
              <a:t>complete development</a:t>
            </a:r>
            <a:r>
              <a:rPr lang="en-US" sz="2400" b="0" dirty="0"/>
              <a:t>. Both organizational position (e.g., manager, senior software </a:t>
            </a:r>
            <a:r>
              <a:rPr lang="en-US" sz="2400" b="0" dirty="0" smtClean="0"/>
              <a:t>engineer) and </a:t>
            </a:r>
            <a:r>
              <a:rPr lang="en-US" sz="2400" b="0" dirty="0"/>
              <a:t>specialty (e.g., telecommunications, database, client/server) are specified. </a:t>
            </a:r>
            <a:endParaRPr lang="en-US" sz="2400" b="0" dirty="0" smtClean="0"/>
          </a:p>
          <a:p>
            <a:pPr lvl="2"/>
            <a:r>
              <a:rPr lang="en-US" sz="2400" b="0" dirty="0" smtClean="0"/>
              <a:t>For relatively </a:t>
            </a:r>
            <a:r>
              <a:rPr lang="en-US" sz="2400" b="0" dirty="0"/>
              <a:t>small projects (one person-year or less), a single individual may </a:t>
            </a:r>
            <a:r>
              <a:rPr lang="en-US" sz="2400" b="0" dirty="0" smtClean="0"/>
              <a:t>perform all </a:t>
            </a:r>
            <a:r>
              <a:rPr lang="en-US" sz="2400" b="0" dirty="0"/>
              <a:t>software engineering tasks, consulting with specialists as </a:t>
            </a:r>
            <a:r>
              <a:rPr lang="en-US" sz="2400" b="0" dirty="0" smtClean="0"/>
              <a:t>required. </a:t>
            </a:r>
          </a:p>
          <a:p>
            <a:pPr lvl="2"/>
            <a:r>
              <a:rPr lang="en-US" sz="2400" b="0" dirty="0" smtClean="0"/>
              <a:t>The </a:t>
            </a:r>
            <a:r>
              <a:rPr lang="en-US" sz="2400" b="0" dirty="0"/>
              <a:t>number of people required for a software </a:t>
            </a:r>
            <a:r>
              <a:rPr lang="en-US" sz="2400" b="0" dirty="0" smtClean="0"/>
              <a:t>project is determined </a:t>
            </a:r>
            <a:r>
              <a:rPr lang="en-US" sz="2400" b="0" dirty="0"/>
              <a:t>only </a:t>
            </a:r>
            <a:r>
              <a:rPr lang="en-US" sz="2400" b="0" dirty="0" smtClean="0"/>
              <a:t>after an </a:t>
            </a:r>
            <a:r>
              <a:rPr lang="en-US" sz="2400" b="0" dirty="0"/>
              <a:t>estimate of development effort </a:t>
            </a:r>
            <a:r>
              <a:rPr lang="en-US" sz="2400" b="0" dirty="0" smtClean="0"/>
              <a:t>(person-months</a:t>
            </a:r>
            <a:r>
              <a:rPr lang="en-US" sz="2400" b="0" dirty="0"/>
              <a:t>) is made</a:t>
            </a:r>
            <a:r>
              <a:rPr lang="en-US" sz="2400" b="0" dirty="0" smtClean="0"/>
              <a:t>.</a:t>
            </a:r>
          </a:p>
        </p:txBody>
      </p:sp>
      <p:sp>
        <p:nvSpPr>
          <p:cNvPr id="3" name="Slide Number Placeholder 2"/>
          <p:cNvSpPr>
            <a:spLocks noGrp="1"/>
          </p:cNvSpPr>
          <p:nvPr>
            <p:ph type="sldNum" sz="quarter" idx="11"/>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398015894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7140360" cy="822305"/>
          </a:xfrm>
        </p:spPr>
        <p:txBody>
          <a:bodyPr/>
          <a:lstStyle/>
          <a:p>
            <a:r>
              <a:rPr lang="fr-FR" dirty="0" smtClean="0"/>
              <a:t> Project Planning Objectives</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dirty="0" smtClean="0"/>
              <a:t>Resources. </a:t>
            </a:r>
          </a:p>
          <a:p>
            <a:pPr lvl="1"/>
            <a:r>
              <a:rPr lang="en-US" sz="2400" dirty="0" smtClean="0"/>
              <a:t>Reusable Software Resources. </a:t>
            </a:r>
            <a:r>
              <a:rPr lang="en-US" sz="2400" b="0" dirty="0"/>
              <a:t>F</a:t>
            </a:r>
            <a:r>
              <a:rPr lang="en-US" sz="2400" b="0" dirty="0" smtClean="0"/>
              <a:t>our </a:t>
            </a:r>
            <a:r>
              <a:rPr lang="en-US" sz="2400" b="0" dirty="0"/>
              <a:t>software resource </a:t>
            </a:r>
            <a:r>
              <a:rPr lang="en-US" sz="2400" b="0" dirty="0" smtClean="0"/>
              <a:t>categories:</a:t>
            </a:r>
          </a:p>
          <a:p>
            <a:pPr lvl="2"/>
            <a:r>
              <a:rPr lang="en-US" sz="2400" dirty="0"/>
              <a:t>Off-the-shelf components. </a:t>
            </a:r>
            <a:r>
              <a:rPr lang="en-US" sz="2400" b="0" dirty="0"/>
              <a:t>Existing software that can be acquired from </a:t>
            </a:r>
            <a:r>
              <a:rPr lang="en-US" sz="2400" b="0" dirty="0" smtClean="0"/>
              <a:t>a third </a:t>
            </a:r>
            <a:r>
              <a:rPr lang="en-US" sz="2400" b="0" dirty="0"/>
              <a:t>party or that has been developed internally for a past </a:t>
            </a:r>
            <a:r>
              <a:rPr lang="en-US" sz="2400" b="0" dirty="0" smtClean="0"/>
              <a:t>project</a:t>
            </a:r>
          </a:p>
          <a:p>
            <a:pPr lvl="2"/>
            <a:r>
              <a:rPr lang="en-US" sz="2400" dirty="0"/>
              <a:t>Full-experience components. </a:t>
            </a:r>
            <a:r>
              <a:rPr lang="en-US" sz="2400" b="0" dirty="0"/>
              <a:t>Existing specifications, designs, code, </a:t>
            </a:r>
            <a:r>
              <a:rPr lang="en-US" sz="2400" b="0" dirty="0" smtClean="0"/>
              <a:t>or test </a:t>
            </a:r>
            <a:r>
              <a:rPr lang="en-US" sz="2400" b="0" dirty="0"/>
              <a:t>data developed for past projects that are similar to the software to </a:t>
            </a:r>
            <a:r>
              <a:rPr lang="en-US" sz="2400" b="0" dirty="0" smtClean="0"/>
              <a:t>be </a:t>
            </a:r>
            <a:r>
              <a:rPr lang="en-US" sz="2400" b="0" dirty="0"/>
              <a:t>built for the current project. Members of the current software team have </a:t>
            </a:r>
            <a:r>
              <a:rPr lang="en-US" sz="2400" b="0" dirty="0" smtClean="0"/>
              <a:t>had full </a:t>
            </a:r>
            <a:r>
              <a:rPr lang="en-US" sz="2400" b="0" dirty="0"/>
              <a:t>experience in the application area represented by these components.</a:t>
            </a:r>
            <a:endParaRPr lang="en-US" sz="2400" b="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val="169207904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7140360" cy="822305"/>
          </a:xfrm>
        </p:spPr>
        <p:txBody>
          <a:bodyPr/>
          <a:lstStyle/>
          <a:p>
            <a:r>
              <a:rPr lang="fr-FR" dirty="0" smtClean="0"/>
              <a:t> Project Planning Objectives</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dirty="0" smtClean="0"/>
              <a:t>Resources. </a:t>
            </a:r>
          </a:p>
          <a:p>
            <a:pPr lvl="1"/>
            <a:r>
              <a:rPr lang="en-US" sz="2400" dirty="0" smtClean="0"/>
              <a:t>Reusable Software Resources. </a:t>
            </a:r>
            <a:r>
              <a:rPr lang="en-US" sz="2400" b="0" dirty="0"/>
              <a:t>F</a:t>
            </a:r>
            <a:r>
              <a:rPr lang="en-US" sz="2400" b="0" dirty="0" smtClean="0"/>
              <a:t>our </a:t>
            </a:r>
            <a:r>
              <a:rPr lang="en-US" sz="2400" b="0" dirty="0"/>
              <a:t>software resource </a:t>
            </a:r>
            <a:r>
              <a:rPr lang="en-US" sz="2400" b="0" dirty="0" smtClean="0"/>
              <a:t>categories (cont.):</a:t>
            </a:r>
          </a:p>
          <a:p>
            <a:pPr lvl="2"/>
            <a:r>
              <a:rPr lang="en-US" sz="2400" dirty="0"/>
              <a:t>Partial-experience components. </a:t>
            </a:r>
            <a:r>
              <a:rPr lang="en-US" sz="2400" b="0" dirty="0"/>
              <a:t>Existing specifications, designs, code, </a:t>
            </a:r>
            <a:r>
              <a:rPr lang="en-US" sz="2400" b="0" dirty="0" smtClean="0"/>
              <a:t>or test </a:t>
            </a:r>
            <a:r>
              <a:rPr lang="en-US" sz="2400" b="0" dirty="0"/>
              <a:t>data developed for past projects that are related to the software to </a:t>
            </a:r>
            <a:r>
              <a:rPr lang="en-US" sz="2400" b="0" dirty="0" smtClean="0"/>
              <a:t>be built </a:t>
            </a:r>
            <a:r>
              <a:rPr lang="en-US" sz="2400" b="0" dirty="0"/>
              <a:t>for the current project but will require substantial modification. </a:t>
            </a:r>
            <a:r>
              <a:rPr lang="en-US" sz="2400" b="0" dirty="0" smtClean="0"/>
              <a:t>Members of </a:t>
            </a:r>
            <a:r>
              <a:rPr lang="en-US" sz="2400" b="0" dirty="0"/>
              <a:t>the current software team have only limited experience in the </a:t>
            </a:r>
            <a:r>
              <a:rPr lang="en-US" sz="2400" b="0" dirty="0" smtClean="0"/>
              <a:t>application area </a:t>
            </a:r>
            <a:r>
              <a:rPr lang="en-US" sz="2400" b="0" dirty="0"/>
              <a:t>represented by these </a:t>
            </a:r>
            <a:r>
              <a:rPr lang="en-US" sz="2400" b="0" dirty="0" smtClean="0"/>
              <a:t>components</a:t>
            </a:r>
          </a:p>
          <a:p>
            <a:pPr lvl="2"/>
            <a:r>
              <a:rPr lang="en-US" sz="2400" dirty="0" smtClean="0"/>
              <a:t>New </a:t>
            </a:r>
            <a:r>
              <a:rPr lang="en-US" sz="2400" dirty="0"/>
              <a:t>components. </a:t>
            </a:r>
            <a:r>
              <a:rPr lang="en-US" sz="2400" b="0" dirty="0"/>
              <a:t>Software components that must be built by the </a:t>
            </a:r>
            <a:r>
              <a:rPr lang="en-US" sz="2400" b="0" dirty="0" smtClean="0"/>
              <a:t>software team </a:t>
            </a:r>
            <a:r>
              <a:rPr lang="en-US" sz="2400" b="0" dirty="0"/>
              <a:t>specifically for the needs of the current project.</a:t>
            </a:r>
            <a:endParaRPr lang="en-US" sz="2400" b="0" dirty="0" smtClean="0"/>
          </a:p>
          <a:p>
            <a:pPr lvl="2"/>
            <a:endParaRPr lang="en-US" sz="2400" b="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361237916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7140360" cy="822305"/>
          </a:xfrm>
        </p:spPr>
        <p:txBody>
          <a:bodyPr/>
          <a:lstStyle/>
          <a:p>
            <a:r>
              <a:rPr lang="fr-FR" dirty="0" smtClean="0"/>
              <a:t> Project Planning Objectives</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dirty="0" smtClean="0"/>
              <a:t>Resources. </a:t>
            </a:r>
          </a:p>
          <a:p>
            <a:pPr lvl="1"/>
            <a:r>
              <a:rPr lang="en-US" sz="2400" dirty="0"/>
              <a:t>Environmental </a:t>
            </a:r>
            <a:r>
              <a:rPr lang="en-US" sz="2400" dirty="0" smtClean="0"/>
              <a:t>Resources. </a:t>
            </a:r>
            <a:r>
              <a:rPr lang="en-US" sz="2400" b="0" i="1" dirty="0"/>
              <a:t>S</a:t>
            </a:r>
            <a:r>
              <a:rPr lang="en-US" sz="2400" b="0" i="1" dirty="0" smtClean="0"/>
              <a:t>oftware engineering environment </a:t>
            </a:r>
            <a:r>
              <a:rPr lang="en-US" sz="2400" b="0" dirty="0"/>
              <a:t>(SEE</a:t>
            </a:r>
            <a:r>
              <a:rPr lang="en-US" sz="2400" b="0" dirty="0" smtClean="0"/>
              <a:t>) </a:t>
            </a:r>
            <a:r>
              <a:rPr lang="en-US" sz="2400" b="0" dirty="0"/>
              <a:t>incorporates hardware and </a:t>
            </a:r>
            <a:r>
              <a:rPr lang="en-US" sz="2400" b="0" dirty="0" smtClean="0"/>
              <a:t>software. </a:t>
            </a:r>
            <a:r>
              <a:rPr lang="en-US" sz="2400" b="0" dirty="0"/>
              <a:t>A</a:t>
            </a:r>
            <a:r>
              <a:rPr lang="en-US" sz="2400" b="0" dirty="0" smtClean="0"/>
              <a:t> project planner </a:t>
            </a:r>
            <a:r>
              <a:rPr lang="en-US" sz="2400" b="0" dirty="0"/>
              <a:t>must prescribe the time window required for hardware and software </a:t>
            </a:r>
            <a:r>
              <a:rPr lang="en-US" sz="2400" b="0" dirty="0" smtClean="0"/>
              <a:t>and verify </a:t>
            </a:r>
            <a:r>
              <a:rPr lang="en-US" sz="2400" b="0" dirty="0"/>
              <a:t>that these resources will be available.</a:t>
            </a:r>
            <a:endParaRPr lang="en-US" sz="240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192805988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7166752" cy="822305"/>
          </a:xfrm>
        </p:spPr>
        <p:txBody>
          <a:bodyPr/>
          <a:lstStyle/>
          <a:p>
            <a:r>
              <a:rPr lang="fr-FR" dirty="0" smtClean="0"/>
              <a:t> Software Project Estimation</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b="0" dirty="0"/>
              <a:t>Software </a:t>
            </a:r>
            <a:r>
              <a:rPr lang="en-US" sz="2400" b="0" dirty="0">
                <a:solidFill>
                  <a:srgbClr val="FF0000"/>
                </a:solidFill>
              </a:rPr>
              <a:t>cost</a:t>
            </a:r>
            <a:r>
              <a:rPr lang="en-US" sz="2400" b="0" dirty="0"/>
              <a:t> and </a:t>
            </a:r>
            <a:r>
              <a:rPr lang="en-US" sz="2400" b="0" dirty="0">
                <a:solidFill>
                  <a:srgbClr val="FF0000"/>
                </a:solidFill>
              </a:rPr>
              <a:t>effort</a:t>
            </a:r>
            <a:r>
              <a:rPr lang="en-US" sz="2400" b="0" dirty="0"/>
              <a:t> </a:t>
            </a:r>
            <a:r>
              <a:rPr lang="en-US" sz="2400" b="0" dirty="0" smtClean="0"/>
              <a:t>estimation.</a:t>
            </a:r>
          </a:p>
          <a:p>
            <a:r>
              <a:rPr lang="en-US" sz="2400" b="0" dirty="0"/>
              <a:t>M</a:t>
            </a:r>
            <a:r>
              <a:rPr lang="en-US" sz="2400" b="0" dirty="0" smtClean="0"/>
              <a:t>any variables - human</a:t>
            </a:r>
            <a:r>
              <a:rPr lang="en-US" sz="2400" b="0" dirty="0"/>
              <a:t>, technical, environmental, </a:t>
            </a:r>
            <a:r>
              <a:rPr lang="en-US" sz="2400" b="0" dirty="0" smtClean="0"/>
              <a:t>political - can </a:t>
            </a:r>
            <a:r>
              <a:rPr lang="en-US" sz="2400" b="0" dirty="0"/>
              <a:t>affect the ultimate cost </a:t>
            </a:r>
            <a:r>
              <a:rPr lang="en-US" sz="2400" b="0" dirty="0" smtClean="0"/>
              <a:t>of software </a:t>
            </a:r>
            <a:r>
              <a:rPr lang="en-US" sz="2400" b="0" dirty="0"/>
              <a:t>and effort </a:t>
            </a:r>
            <a:r>
              <a:rPr lang="en-US" sz="2400" b="0" dirty="0" smtClean="0"/>
              <a:t>.</a:t>
            </a:r>
          </a:p>
          <a:p>
            <a:r>
              <a:rPr lang="en-US" sz="2400" b="0" dirty="0" smtClean="0"/>
              <a:t>To </a:t>
            </a:r>
            <a:r>
              <a:rPr lang="en-US" sz="2400" b="0" dirty="0"/>
              <a:t>achieve reliable cost and effort </a:t>
            </a:r>
            <a:r>
              <a:rPr lang="en-US" sz="2400" b="0" dirty="0" smtClean="0"/>
              <a:t>estimates:</a:t>
            </a:r>
            <a:endParaRPr lang="en-US" sz="2400" b="0" dirty="0"/>
          </a:p>
          <a:p>
            <a:pPr marL="900112" lvl="1" indent="-457200">
              <a:buFont typeface="+mj-lt"/>
              <a:buAutoNum type="arabicPeriod"/>
            </a:pPr>
            <a:r>
              <a:rPr lang="en-US" sz="2400" b="0" dirty="0" smtClean="0"/>
              <a:t>Delay </a:t>
            </a:r>
            <a:r>
              <a:rPr lang="en-US" sz="2400" b="0" dirty="0"/>
              <a:t>estimation until late in the project (obviously, we can </a:t>
            </a:r>
            <a:r>
              <a:rPr lang="en-US" sz="2400" b="0" dirty="0" smtClean="0"/>
              <a:t>achieve 100</a:t>
            </a:r>
            <a:r>
              <a:rPr lang="en-US" sz="2400" b="0" dirty="0"/>
              <a:t>% accurate estimates after the project is complete</a:t>
            </a:r>
            <a:r>
              <a:rPr lang="en-US" sz="2400" b="0" dirty="0" smtClean="0"/>
              <a:t>!).</a:t>
            </a:r>
          </a:p>
          <a:p>
            <a:pPr marL="900112" lvl="1" indent="-457200">
              <a:buFont typeface="+mj-lt"/>
              <a:buAutoNum type="arabicPeriod"/>
            </a:pPr>
            <a:r>
              <a:rPr lang="en-US" sz="2400" b="0" dirty="0" smtClean="0"/>
              <a:t>Base </a:t>
            </a:r>
            <a:r>
              <a:rPr lang="en-US" sz="2400" b="0" dirty="0"/>
              <a:t>estimates on similar projects that have already been completed</a:t>
            </a:r>
            <a:r>
              <a:rPr lang="en-US" sz="2400" b="0" dirty="0" smtClean="0"/>
              <a:t>.</a:t>
            </a:r>
          </a:p>
          <a:p>
            <a:pPr marL="900112" lvl="1" indent="-457200">
              <a:buFont typeface="+mj-lt"/>
              <a:buAutoNum type="arabicPeriod"/>
            </a:pPr>
            <a:r>
              <a:rPr lang="en-US" sz="2400" b="0" dirty="0" smtClean="0"/>
              <a:t>Use </a:t>
            </a:r>
            <a:r>
              <a:rPr lang="en-US" sz="2400" b="0" dirty="0"/>
              <a:t>relatively simple decomposition techniques to generate project cost </a:t>
            </a:r>
            <a:r>
              <a:rPr lang="en-US" sz="2400" b="0" dirty="0" smtClean="0"/>
              <a:t>and effort </a:t>
            </a:r>
            <a:r>
              <a:rPr lang="en-US" sz="2400" b="0" dirty="0"/>
              <a:t>estimates</a:t>
            </a:r>
            <a:r>
              <a:rPr lang="en-US" sz="2400" b="0" dirty="0" smtClean="0"/>
              <a:t>.</a:t>
            </a:r>
          </a:p>
          <a:p>
            <a:pPr marL="900112" lvl="1" indent="-457200">
              <a:buFont typeface="+mj-lt"/>
              <a:buAutoNum type="arabicPeriod"/>
            </a:pPr>
            <a:r>
              <a:rPr lang="en-US" sz="2400" b="0" dirty="0" smtClean="0"/>
              <a:t>Use </a:t>
            </a:r>
            <a:r>
              <a:rPr lang="en-US" sz="2400" b="0" dirty="0"/>
              <a:t>one or more empirical models for software cost and effort estimation.</a:t>
            </a:r>
            <a:endParaRPr lang="en-US" sz="240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203288031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7166752" cy="822305"/>
          </a:xfrm>
        </p:spPr>
        <p:txBody>
          <a:bodyPr/>
          <a:lstStyle/>
          <a:p>
            <a:r>
              <a:rPr lang="fr-FR" dirty="0" smtClean="0"/>
              <a:t> Software Project Estimation</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dirty="0" smtClean="0"/>
              <a:t>Software Project Estimation Techniques</a:t>
            </a:r>
          </a:p>
          <a:p>
            <a:pPr lvl="1"/>
            <a:r>
              <a:rPr lang="en-US" sz="2400" b="0" i="1" dirty="0"/>
              <a:t>Decomposition techniques </a:t>
            </a:r>
            <a:r>
              <a:rPr lang="en-US" sz="2400" b="0" dirty="0"/>
              <a:t>take a "divide and </a:t>
            </a:r>
            <a:r>
              <a:rPr lang="en-US" sz="2400" b="0" dirty="0" smtClean="0"/>
              <a:t>conquer’’ approach </a:t>
            </a:r>
            <a:r>
              <a:rPr lang="en-US" sz="2400" b="0" dirty="0"/>
              <a:t>to software project estimation. By decomposing a project into major </a:t>
            </a:r>
            <a:r>
              <a:rPr lang="en-US" sz="2400" b="0" dirty="0" smtClean="0"/>
              <a:t>functions and </a:t>
            </a:r>
            <a:r>
              <a:rPr lang="en-US" sz="2400" b="0" dirty="0"/>
              <a:t>related software engineering activities, cost and effort estimation can </a:t>
            </a:r>
            <a:r>
              <a:rPr lang="en-US" sz="2400" b="0" dirty="0" smtClean="0"/>
              <a:t>be performed </a:t>
            </a:r>
            <a:r>
              <a:rPr lang="en-US" sz="2400" b="0" dirty="0"/>
              <a:t>in a stepwise </a:t>
            </a:r>
            <a:r>
              <a:rPr lang="en-US" sz="2400" b="0" dirty="0" smtClean="0"/>
              <a:t>fashion </a:t>
            </a:r>
            <a:r>
              <a:rPr lang="en-US" sz="2400" b="0" dirty="0"/>
              <a:t>(LOC-based, FP-based Estimation</a:t>
            </a:r>
            <a:r>
              <a:rPr lang="en-US" sz="2400" b="0" dirty="0" smtClean="0"/>
              <a:t>).</a:t>
            </a:r>
          </a:p>
          <a:p>
            <a:pPr lvl="1"/>
            <a:r>
              <a:rPr lang="en-US" sz="2400" b="0" i="1" dirty="0"/>
              <a:t>Empirical estimation models </a:t>
            </a:r>
            <a:r>
              <a:rPr lang="en-US" sz="2400" b="0" dirty="0"/>
              <a:t>can be used to </a:t>
            </a:r>
            <a:r>
              <a:rPr lang="en-US" sz="2400" b="0" dirty="0" smtClean="0"/>
              <a:t>complement decomposition </a:t>
            </a:r>
            <a:r>
              <a:rPr lang="en-US" sz="2400" b="0" dirty="0"/>
              <a:t>techniques and offer a potentially valuable </a:t>
            </a:r>
            <a:r>
              <a:rPr lang="en-US" sz="2400" b="0" dirty="0" smtClean="0"/>
              <a:t>estimation approach </a:t>
            </a:r>
            <a:r>
              <a:rPr lang="en-US" sz="2400" b="0" dirty="0"/>
              <a:t>in </a:t>
            </a:r>
            <a:r>
              <a:rPr lang="en-US" sz="2400" b="0" dirty="0" smtClean="0"/>
              <a:t>their own right (COCOMO Model).</a:t>
            </a:r>
          </a:p>
          <a:p>
            <a:pPr lvl="1"/>
            <a:r>
              <a:rPr lang="en-US" sz="2400" b="0" i="1" dirty="0"/>
              <a:t>Automated estimation tools </a:t>
            </a:r>
            <a:r>
              <a:rPr lang="en-US" sz="2400" b="0" dirty="0"/>
              <a:t>implement one or more decomposition techniques </a:t>
            </a:r>
            <a:r>
              <a:rPr lang="en-US" sz="2400" b="0" dirty="0" smtClean="0"/>
              <a:t>or empirical </a:t>
            </a:r>
            <a:r>
              <a:rPr lang="en-US" sz="2400" b="0" dirty="0"/>
              <a:t>models.</a:t>
            </a:r>
            <a:endParaRPr lang="en-US" sz="2400" b="0" dirty="0" smtClean="0"/>
          </a:p>
          <a:p>
            <a:pPr lvl="1"/>
            <a:endParaRPr lang="en-US" sz="2400" b="0" dirty="0" smtClean="0"/>
          </a:p>
          <a:p>
            <a:pPr lvl="1"/>
            <a:endParaRPr lang="en-US" sz="240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186793345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2566326" cy="822305"/>
          </a:xfrm>
        </p:spPr>
        <p:txBody>
          <a:bodyPr/>
          <a:lstStyle/>
          <a:p>
            <a:r>
              <a:rPr lang="fr-FR" dirty="0" smtClean="0"/>
              <a:t> Content</a:t>
            </a:r>
            <a:endParaRPr lang="fr-FR" dirty="0"/>
          </a:p>
        </p:txBody>
      </p:sp>
      <p:sp>
        <p:nvSpPr>
          <p:cNvPr id="18" name="Content Placeholder 17"/>
          <p:cNvSpPr>
            <a:spLocks noGrp="1"/>
          </p:cNvSpPr>
          <p:nvPr>
            <p:ph idx="1"/>
          </p:nvPr>
        </p:nvSpPr>
        <p:spPr>
          <a:xfrm>
            <a:off x="304800" y="1295400"/>
            <a:ext cx="8686800" cy="5077703"/>
          </a:xfrm>
        </p:spPr>
        <p:txBody>
          <a:bodyPr/>
          <a:lstStyle/>
          <a:p>
            <a:pPr marL="0" indent="0" algn="ctr">
              <a:buNone/>
            </a:pPr>
            <a:r>
              <a:rPr lang="en-US" sz="8800" dirty="0" smtClean="0"/>
              <a:t>Part IV</a:t>
            </a:r>
            <a:endParaRPr lang="en-US" sz="7200" dirty="0" smtClean="0"/>
          </a:p>
          <a:p>
            <a:pPr marL="0" indent="0" algn="ctr">
              <a:buNone/>
            </a:pPr>
            <a:r>
              <a:rPr lang="en-US" sz="7200" dirty="0" smtClean="0"/>
              <a:t>Risk Analysis &amp; Management</a:t>
            </a:r>
            <a:endParaRPr lang="it-IT" dirty="0" smtClean="0"/>
          </a:p>
          <a:p>
            <a:pPr marL="0" indent="0" algn="ctr"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900" dirty="0" smtClean="0">
              <a:ea typeface="+mn-ea"/>
              <a:cs typeface="+mn-cs"/>
            </a:endParaRPr>
          </a:p>
          <a:p>
            <a:pPr marL="0" indent="0" algn="ctr"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smtClean="0"/>
          </a:p>
          <a:p>
            <a:pPr marL="0" indent="0" algn="ctr"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lvl="1" algn="ctr" defTabSz="457200">
              <a:lnSpc>
                <a:spcPct val="90000"/>
              </a:lnSpc>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lvl="1" algn="ctr" defTabSz="457200">
              <a:lnSpc>
                <a:spcPct val="90000"/>
              </a:lnSpc>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marL="0" indent="0" algn="ctr">
              <a:buNone/>
            </a:pPr>
            <a:endParaRPr lang="en-US"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val="105364683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3791915" cy="822305"/>
          </a:xfrm>
        </p:spPr>
        <p:txBody>
          <a:bodyPr/>
          <a:lstStyle/>
          <a:p>
            <a:r>
              <a:rPr lang="fr-FR" dirty="0" smtClean="0"/>
              <a:t>Software </a:t>
            </a:r>
            <a:r>
              <a:rPr lang="fr-FR" dirty="0" err="1" smtClean="0"/>
              <a:t>Risk</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b="0" dirty="0"/>
              <a:t>R</a:t>
            </a:r>
            <a:r>
              <a:rPr lang="en-US" sz="2400" b="0" dirty="0" smtClean="0"/>
              <a:t>isk </a:t>
            </a:r>
            <a:r>
              <a:rPr lang="en-US" sz="2400" b="0" dirty="0"/>
              <a:t>always involves two </a:t>
            </a:r>
            <a:r>
              <a:rPr lang="en-US" sz="2400" b="0" dirty="0" smtClean="0"/>
              <a:t>characteristics</a:t>
            </a:r>
          </a:p>
          <a:p>
            <a:pPr lvl="1"/>
            <a:r>
              <a:rPr lang="en-US" sz="2400" b="0" i="1" dirty="0" smtClean="0"/>
              <a:t>Uncertainty</a:t>
            </a:r>
            <a:r>
              <a:rPr lang="en-US" sz="2400" b="0" dirty="0"/>
              <a:t> </a:t>
            </a:r>
            <a:r>
              <a:rPr lang="en-US" sz="2400" b="0" dirty="0" smtClean="0"/>
              <a:t>- the </a:t>
            </a:r>
            <a:r>
              <a:rPr lang="en-US" sz="2400" b="0" dirty="0"/>
              <a:t>risk may or may not happen; that is, there are no 100% </a:t>
            </a:r>
            <a:r>
              <a:rPr lang="en-US" sz="2400" b="0" dirty="0" smtClean="0"/>
              <a:t>probable risks.</a:t>
            </a:r>
            <a:endParaRPr lang="en-US" sz="2400" b="0" dirty="0"/>
          </a:p>
          <a:p>
            <a:pPr lvl="1"/>
            <a:r>
              <a:rPr lang="en-US" sz="2400" b="0" i="1" dirty="0" smtClean="0"/>
              <a:t>Loss</a:t>
            </a:r>
            <a:r>
              <a:rPr lang="en-US" sz="2400" b="0" dirty="0"/>
              <a:t> </a:t>
            </a:r>
            <a:r>
              <a:rPr lang="en-US" sz="2400" b="0" dirty="0" smtClean="0"/>
              <a:t>- if </a:t>
            </a:r>
            <a:r>
              <a:rPr lang="en-US" sz="2400" b="0" dirty="0"/>
              <a:t>the risk becomes a reality, unwanted consequences or losses </a:t>
            </a:r>
            <a:r>
              <a:rPr lang="en-US" sz="2400" b="0" dirty="0" smtClean="0"/>
              <a:t>will occur</a:t>
            </a:r>
            <a:r>
              <a:rPr lang="en-US" sz="2400" b="0" dirty="0"/>
              <a:t>.</a:t>
            </a:r>
            <a:endParaRPr lang="en-US" sz="240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59</a:t>
            </a:fld>
            <a:endParaRPr lang="en-US"/>
          </a:p>
        </p:txBody>
      </p:sp>
    </p:spTree>
    <p:extLst>
      <p:ext uri="{BB962C8B-B14F-4D97-AF65-F5344CB8AC3E}">
        <p14:creationId xmlns:p14="http://schemas.microsoft.com/office/powerpoint/2010/main" val="91022667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3791915" cy="822305"/>
          </a:xfrm>
        </p:spPr>
        <p:txBody>
          <a:bodyPr/>
          <a:lstStyle/>
          <a:p>
            <a:r>
              <a:rPr lang="fr-FR" dirty="0" smtClean="0"/>
              <a:t>Software </a:t>
            </a:r>
            <a:r>
              <a:rPr lang="fr-FR" dirty="0" err="1" smtClean="0"/>
              <a:t>Risk</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b="0" i="1" dirty="0"/>
              <a:t>Project risks </a:t>
            </a:r>
            <a:r>
              <a:rPr lang="en-US" sz="2400" b="0" dirty="0"/>
              <a:t>threaten the project </a:t>
            </a:r>
            <a:r>
              <a:rPr lang="en-US" sz="2400" b="0" dirty="0" smtClean="0"/>
              <a:t>plan</a:t>
            </a:r>
            <a:r>
              <a:rPr lang="en-US" sz="2400" b="0" dirty="0"/>
              <a:t>,</a:t>
            </a:r>
            <a:r>
              <a:rPr lang="en-US" sz="2400" b="0" dirty="0" smtClean="0"/>
              <a:t> </a:t>
            </a:r>
            <a:r>
              <a:rPr lang="en-US" sz="2400" b="0" dirty="0"/>
              <a:t>if project risks become real, it </a:t>
            </a:r>
            <a:r>
              <a:rPr lang="en-US" sz="2400" b="0" dirty="0" smtClean="0"/>
              <a:t>is likely </a:t>
            </a:r>
            <a:r>
              <a:rPr lang="en-US" sz="2400" b="0" dirty="0"/>
              <a:t>that project schedule will slip and that costs will </a:t>
            </a:r>
            <a:r>
              <a:rPr lang="en-US" sz="2400" b="0" dirty="0" smtClean="0"/>
              <a:t>increase (</a:t>
            </a:r>
            <a:r>
              <a:rPr lang="en-US" sz="2400" b="0" dirty="0"/>
              <a:t>budgetary, schedule, </a:t>
            </a:r>
            <a:r>
              <a:rPr lang="en-US" sz="2400" b="0" dirty="0" smtClean="0"/>
              <a:t>personnel, resource</a:t>
            </a:r>
            <a:r>
              <a:rPr lang="en-US" sz="2400" b="0" dirty="0"/>
              <a:t>, </a:t>
            </a:r>
            <a:r>
              <a:rPr lang="en-US" sz="2400" b="0" dirty="0" smtClean="0"/>
              <a:t>customer and </a:t>
            </a:r>
            <a:r>
              <a:rPr lang="en-US" sz="2400" b="0" dirty="0"/>
              <a:t>requirements problems</a:t>
            </a:r>
            <a:r>
              <a:rPr lang="en-US" sz="2400" b="0" dirty="0" smtClean="0"/>
              <a:t>).</a:t>
            </a:r>
          </a:p>
          <a:p>
            <a:r>
              <a:rPr lang="en-US" sz="2400" b="0" i="1" dirty="0"/>
              <a:t>Technical risks </a:t>
            </a:r>
            <a:r>
              <a:rPr lang="en-US" sz="2400" b="0" dirty="0"/>
              <a:t>threaten the quality and timeliness of the software to be </a:t>
            </a:r>
            <a:r>
              <a:rPr lang="en-US" sz="2400" b="0" dirty="0" smtClean="0"/>
              <a:t>produced. If </a:t>
            </a:r>
            <a:r>
              <a:rPr lang="en-US" sz="2400" b="0" dirty="0"/>
              <a:t>a technical risk becomes a reality, implementation may become difficult or </a:t>
            </a:r>
            <a:r>
              <a:rPr lang="en-US" sz="2400" b="0" dirty="0" smtClean="0"/>
              <a:t>impossible (</a:t>
            </a:r>
            <a:r>
              <a:rPr lang="en-US" sz="2400" b="0" dirty="0"/>
              <a:t>design, implementation, interface, </a:t>
            </a:r>
            <a:r>
              <a:rPr lang="en-US" sz="2400" b="0" dirty="0" smtClean="0"/>
              <a:t>verification, and </a:t>
            </a:r>
            <a:r>
              <a:rPr lang="en-US" sz="2400" b="0" dirty="0"/>
              <a:t>maintenance problems</a:t>
            </a:r>
            <a:r>
              <a:rPr lang="en-US" sz="2400" b="0" dirty="0" smtClean="0"/>
              <a:t>).</a:t>
            </a:r>
          </a:p>
          <a:p>
            <a:r>
              <a:rPr lang="en-US" sz="2400" b="0" i="1" dirty="0"/>
              <a:t>Business risks </a:t>
            </a:r>
            <a:r>
              <a:rPr lang="en-US" sz="2400" b="0" dirty="0"/>
              <a:t>threaten the viability of the software to be built.</a:t>
            </a:r>
            <a:endParaRPr lang="en-US" sz="2400" b="0" dirty="0" smtClean="0"/>
          </a:p>
          <a:p>
            <a:endParaRPr lang="en-US" sz="2400" b="0" dirty="0" smtClean="0"/>
          </a:p>
          <a:p>
            <a:endParaRPr lang="en-US" sz="240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60</a:t>
            </a:fld>
            <a:endParaRPr lang="en-US"/>
          </a:p>
        </p:txBody>
      </p:sp>
    </p:spTree>
    <p:extLst>
      <p:ext uri="{BB962C8B-B14F-4D97-AF65-F5344CB8AC3E}">
        <p14:creationId xmlns:p14="http://schemas.microsoft.com/office/powerpoint/2010/main" val="5819203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3791915" cy="822305"/>
          </a:xfrm>
        </p:spPr>
        <p:txBody>
          <a:bodyPr/>
          <a:lstStyle/>
          <a:p>
            <a:r>
              <a:rPr lang="fr-FR" dirty="0" smtClean="0"/>
              <a:t>Software </a:t>
            </a:r>
            <a:r>
              <a:rPr lang="fr-FR" dirty="0" err="1" smtClean="0"/>
              <a:t>Risk</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b="0" i="1" dirty="0"/>
              <a:t>Risk identification </a:t>
            </a:r>
            <a:r>
              <a:rPr lang="en-US" sz="2400" b="0" dirty="0"/>
              <a:t>is a systematic attempt to specify threats to the project plan (</a:t>
            </a:r>
            <a:r>
              <a:rPr lang="en-US" sz="2400" b="0" dirty="0" smtClean="0"/>
              <a:t>estimates, schedule</a:t>
            </a:r>
            <a:r>
              <a:rPr lang="en-US" sz="2400" b="0" dirty="0"/>
              <a:t>, resource loading, </a:t>
            </a:r>
            <a:r>
              <a:rPr lang="en-US" sz="2400" b="0" dirty="0" smtClean="0"/>
              <a:t>…)</a:t>
            </a:r>
          </a:p>
          <a:p>
            <a:r>
              <a:rPr lang="en-US" sz="2400" b="0" i="1" dirty="0" smtClean="0"/>
              <a:t>Risk </a:t>
            </a:r>
            <a:r>
              <a:rPr lang="en-US" sz="2400" b="0" i="1" dirty="0"/>
              <a:t>item </a:t>
            </a:r>
            <a:r>
              <a:rPr lang="en-US" sz="2400" b="0" i="1" dirty="0" smtClean="0"/>
              <a:t>checklist</a:t>
            </a:r>
          </a:p>
          <a:p>
            <a:pPr lvl="1"/>
            <a:r>
              <a:rPr lang="en-US" sz="2400" b="0" i="1" dirty="0"/>
              <a:t>Product size</a:t>
            </a:r>
            <a:r>
              <a:rPr lang="en-US" sz="2400" b="0" dirty="0"/>
              <a:t>—risks associated with the overall size of the software to be </a:t>
            </a:r>
            <a:r>
              <a:rPr lang="en-US" sz="2400" b="0" dirty="0" smtClean="0"/>
              <a:t>built or modified.</a:t>
            </a:r>
          </a:p>
          <a:p>
            <a:pPr lvl="1"/>
            <a:r>
              <a:rPr lang="en-US" sz="2400" b="0" i="1" dirty="0"/>
              <a:t>Business impact</a:t>
            </a:r>
            <a:r>
              <a:rPr lang="en-US" sz="2400" b="0" dirty="0"/>
              <a:t>—risks associated with constraints imposed by </a:t>
            </a:r>
            <a:r>
              <a:rPr lang="en-US" sz="2400" b="0" dirty="0" smtClean="0"/>
              <a:t>management for </a:t>
            </a:r>
            <a:r>
              <a:rPr lang="en-US" sz="2400" b="0" dirty="0"/>
              <a:t>the </a:t>
            </a:r>
            <a:r>
              <a:rPr lang="en-US" sz="2400" b="0" dirty="0" smtClean="0"/>
              <a:t>marketplace</a:t>
            </a:r>
          </a:p>
          <a:p>
            <a:pPr lvl="1"/>
            <a:r>
              <a:rPr lang="en-US" sz="2400" b="0" i="1" dirty="0"/>
              <a:t>Customer characteristics</a:t>
            </a:r>
            <a:r>
              <a:rPr lang="en-US" sz="2400" b="0" dirty="0"/>
              <a:t>—risks associated with the sophistication of the </a:t>
            </a:r>
            <a:r>
              <a:rPr lang="en-US" sz="2400" b="0" dirty="0" smtClean="0"/>
              <a:t>customer and </a:t>
            </a:r>
            <a:r>
              <a:rPr lang="en-US" sz="2400" b="0" dirty="0"/>
              <a:t>the developer's ability to communicate with the customer in </a:t>
            </a:r>
            <a:r>
              <a:rPr lang="en-US" sz="2400" b="0" dirty="0" smtClean="0"/>
              <a:t>a timely </a:t>
            </a:r>
            <a:r>
              <a:rPr lang="en-US" sz="2400" b="0" dirty="0"/>
              <a:t>manner</a:t>
            </a:r>
            <a:r>
              <a:rPr lang="en-US" sz="2400" b="0" dirty="0" smtClean="0"/>
              <a:t>.</a:t>
            </a:r>
          </a:p>
          <a:p>
            <a:pPr lvl="1"/>
            <a:endParaRPr lang="en-US" sz="2400" b="0" dirty="0" smtClean="0"/>
          </a:p>
          <a:p>
            <a:pPr lvl="1"/>
            <a:endParaRPr lang="en-US" sz="2400" b="0" dirty="0" smtClean="0"/>
          </a:p>
          <a:p>
            <a:endParaRPr lang="en-US" sz="240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61</a:t>
            </a:fld>
            <a:endParaRPr lang="en-US"/>
          </a:p>
        </p:txBody>
      </p:sp>
    </p:spTree>
    <p:extLst>
      <p:ext uri="{BB962C8B-B14F-4D97-AF65-F5344CB8AC3E}">
        <p14:creationId xmlns:p14="http://schemas.microsoft.com/office/powerpoint/2010/main" val="279946588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3791915" cy="822305"/>
          </a:xfrm>
        </p:spPr>
        <p:txBody>
          <a:bodyPr/>
          <a:lstStyle/>
          <a:p>
            <a:r>
              <a:rPr lang="fr-FR" dirty="0" smtClean="0"/>
              <a:t>Software </a:t>
            </a:r>
            <a:r>
              <a:rPr lang="fr-FR" dirty="0" err="1" smtClean="0"/>
              <a:t>Risk</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b="0" i="1" dirty="0" smtClean="0"/>
              <a:t>Risk </a:t>
            </a:r>
            <a:r>
              <a:rPr lang="en-US" sz="2400" b="0" i="1" dirty="0"/>
              <a:t>item </a:t>
            </a:r>
            <a:r>
              <a:rPr lang="en-US" sz="2400" b="0" i="1" dirty="0" smtClean="0"/>
              <a:t>checklist (cont.)</a:t>
            </a:r>
          </a:p>
          <a:p>
            <a:pPr lvl="1"/>
            <a:r>
              <a:rPr lang="en-US" sz="2400" b="0" i="1" dirty="0"/>
              <a:t>Process definition</a:t>
            </a:r>
            <a:r>
              <a:rPr lang="en-US" sz="2400" b="0" dirty="0"/>
              <a:t>—risks associated with the degree to which the </a:t>
            </a:r>
            <a:r>
              <a:rPr lang="en-US" sz="2400" b="0" dirty="0" smtClean="0"/>
              <a:t>software process </a:t>
            </a:r>
            <a:r>
              <a:rPr lang="en-US" sz="2400" b="0" dirty="0"/>
              <a:t>has been defined and is followed by the development </a:t>
            </a:r>
            <a:r>
              <a:rPr lang="en-US" sz="2400" b="0" dirty="0" smtClean="0"/>
              <a:t>organization</a:t>
            </a:r>
          </a:p>
          <a:p>
            <a:pPr lvl="1"/>
            <a:r>
              <a:rPr lang="en-US" sz="2400" b="0" i="1" dirty="0"/>
              <a:t>Development environment</a:t>
            </a:r>
            <a:r>
              <a:rPr lang="en-US" sz="2400" b="0" dirty="0"/>
              <a:t>—risks associated with the availability and </a:t>
            </a:r>
            <a:r>
              <a:rPr lang="en-US" sz="2400" b="0" dirty="0" smtClean="0"/>
              <a:t>quality of </a:t>
            </a:r>
            <a:r>
              <a:rPr lang="en-US" sz="2400" b="0" dirty="0"/>
              <a:t>the tools to be used to build the </a:t>
            </a:r>
            <a:r>
              <a:rPr lang="en-US" sz="2400" b="0" dirty="0" smtClean="0"/>
              <a:t>product</a:t>
            </a:r>
          </a:p>
          <a:p>
            <a:pPr lvl="1"/>
            <a:r>
              <a:rPr lang="en-US" sz="2400" b="0" i="1" dirty="0"/>
              <a:t>Technology to be built</a:t>
            </a:r>
            <a:r>
              <a:rPr lang="en-US" sz="2400" b="0" dirty="0"/>
              <a:t>—risks associated with the complexity of the system </a:t>
            </a:r>
            <a:r>
              <a:rPr lang="en-US" sz="2400" b="0" dirty="0" smtClean="0"/>
              <a:t>to be </a:t>
            </a:r>
            <a:r>
              <a:rPr lang="en-US" sz="2400" b="0" dirty="0"/>
              <a:t>built and the "newness" of the technology that is packaged </a:t>
            </a:r>
            <a:r>
              <a:rPr lang="en-US" sz="2400" b="0" dirty="0" smtClean="0"/>
              <a:t>by the system</a:t>
            </a:r>
          </a:p>
          <a:p>
            <a:pPr lvl="1"/>
            <a:r>
              <a:rPr lang="en-US" sz="2400" b="0" i="1" dirty="0"/>
              <a:t>Staff size and experience</a:t>
            </a:r>
            <a:r>
              <a:rPr lang="en-US" sz="2400" b="0" dirty="0"/>
              <a:t>—risks associated with the overall technical </a:t>
            </a:r>
            <a:r>
              <a:rPr lang="en-US" sz="2400" b="0" dirty="0" smtClean="0"/>
              <a:t>and project </a:t>
            </a:r>
            <a:r>
              <a:rPr lang="en-US" sz="2400" b="0" dirty="0"/>
              <a:t>experience of the software engineers who will do the </a:t>
            </a:r>
            <a:r>
              <a:rPr lang="en-US" sz="2400" b="0" dirty="0" smtClean="0"/>
              <a:t>work</a:t>
            </a:r>
            <a:r>
              <a:rPr lang="en-US" sz="2400" b="0" dirty="0"/>
              <a:t>.</a:t>
            </a:r>
            <a:endParaRPr lang="en-US" sz="9200" b="0" dirty="0" smtClean="0"/>
          </a:p>
          <a:p>
            <a:pPr lvl="1"/>
            <a:endParaRPr lang="en-US" sz="9200" b="0" dirty="0" smtClean="0"/>
          </a:p>
          <a:p>
            <a:pPr lvl="1"/>
            <a:endParaRPr lang="en-US" sz="6800" b="0" dirty="0" smtClean="0"/>
          </a:p>
          <a:p>
            <a:endParaRPr lang="en-US" sz="240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62</a:t>
            </a:fld>
            <a:endParaRPr lang="en-US"/>
          </a:p>
        </p:txBody>
      </p:sp>
    </p:spTree>
    <p:extLst>
      <p:ext uri="{BB962C8B-B14F-4D97-AF65-F5344CB8AC3E}">
        <p14:creationId xmlns:p14="http://schemas.microsoft.com/office/powerpoint/2010/main" val="105006857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3791915" cy="822305"/>
          </a:xfrm>
        </p:spPr>
        <p:txBody>
          <a:bodyPr/>
          <a:lstStyle/>
          <a:p>
            <a:r>
              <a:rPr lang="fr-FR" dirty="0" smtClean="0"/>
              <a:t>Software </a:t>
            </a:r>
            <a:r>
              <a:rPr lang="fr-FR" dirty="0" err="1" smtClean="0"/>
              <a:t>Risk</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b="0" i="1" dirty="0"/>
              <a:t>Risk </a:t>
            </a:r>
            <a:r>
              <a:rPr lang="en-US" sz="2400" b="0" i="1" dirty="0" smtClean="0"/>
              <a:t>projection (call</a:t>
            </a:r>
            <a:r>
              <a:rPr lang="en-US" sz="2400" b="0" dirty="0" smtClean="0"/>
              <a:t>ed </a:t>
            </a:r>
            <a:r>
              <a:rPr lang="en-US" sz="2400" b="0" i="1" dirty="0"/>
              <a:t>risk </a:t>
            </a:r>
            <a:r>
              <a:rPr lang="en-US" sz="2400" b="0" i="1" dirty="0" smtClean="0"/>
              <a:t>estimation), </a:t>
            </a:r>
            <a:r>
              <a:rPr lang="en-US" sz="2400" b="0" dirty="0"/>
              <a:t>attempts to rate each risk in two </a:t>
            </a:r>
            <a:r>
              <a:rPr lang="en-US" sz="2400" b="0" dirty="0" smtClean="0"/>
              <a:t>ways</a:t>
            </a:r>
          </a:p>
          <a:p>
            <a:pPr lvl="1"/>
            <a:r>
              <a:rPr lang="en-US" sz="2400" b="0" dirty="0" smtClean="0"/>
              <a:t>the likelihood </a:t>
            </a:r>
            <a:r>
              <a:rPr lang="en-US" sz="2400" b="0" dirty="0"/>
              <a:t>or probability that the risk is </a:t>
            </a:r>
            <a:r>
              <a:rPr lang="en-US" sz="2400" b="0" dirty="0" smtClean="0"/>
              <a:t>real</a:t>
            </a:r>
          </a:p>
          <a:p>
            <a:pPr lvl="1"/>
            <a:r>
              <a:rPr lang="en-US" sz="2400" b="0" dirty="0" smtClean="0"/>
              <a:t>the </a:t>
            </a:r>
            <a:r>
              <a:rPr lang="en-US" sz="2400" b="0" dirty="0"/>
              <a:t>consequences of the problems </a:t>
            </a:r>
            <a:r>
              <a:rPr lang="en-US" sz="2400" b="0" dirty="0" smtClean="0"/>
              <a:t>associated with </a:t>
            </a:r>
            <a:r>
              <a:rPr lang="en-US" sz="2400" b="0" dirty="0"/>
              <a:t>the risk, should it occur.</a:t>
            </a:r>
            <a:endParaRPr lang="en-US" sz="2400" b="0" dirty="0" smtClean="0"/>
          </a:p>
          <a:p>
            <a:pPr lvl="1"/>
            <a:endParaRPr lang="en-US" sz="2400" b="0" dirty="0" smtClean="0"/>
          </a:p>
          <a:p>
            <a:endParaRPr lang="en-US" sz="240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63</a:t>
            </a:fld>
            <a:endParaRPr lang="en-US"/>
          </a:p>
        </p:txBody>
      </p:sp>
    </p:spTree>
    <p:extLst>
      <p:ext uri="{BB962C8B-B14F-4D97-AF65-F5344CB8AC3E}">
        <p14:creationId xmlns:p14="http://schemas.microsoft.com/office/powerpoint/2010/main" val="286815852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3791915" cy="822305"/>
          </a:xfrm>
        </p:spPr>
        <p:txBody>
          <a:bodyPr/>
          <a:lstStyle/>
          <a:p>
            <a:r>
              <a:rPr lang="fr-FR" dirty="0" smtClean="0"/>
              <a:t>Software </a:t>
            </a:r>
            <a:r>
              <a:rPr lang="fr-FR" dirty="0" err="1" smtClean="0"/>
              <a:t>Risk</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b="0" i="1" dirty="0"/>
              <a:t>Risk </a:t>
            </a:r>
            <a:r>
              <a:rPr lang="en-US" sz="2400" b="0" i="1" dirty="0" smtClean="0"/>
              <a:t>projection </a:t>
            </a:r>
          </a:p>
          <a:p>
            <a:pPr lvl="1"/>
            <a:r>
              <a:rPr lang="en-US" sz="2000" b="0" dirty="0"/>
              <a:t>Developing a Risk Table</a:t>
            </a:r>
            <a:endParaRPr lang="en-US" sz="2000" b="0" dirty="0" smtClean="0"/>
          </a:p>
          <a:p>
            <a:endParaRPr lang="en-US" sz="240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64</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905000"/>
            <a:ext cx="7310438" cy="432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98485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3791915" cy="822305"/>
          </a:xfrm>
        </p:spPr>
        <p:txBody>
          <a:bodyPr/>
          <a:lstStyle/>
          <a:p>
            <a:r>
              <a:rPr lang="fr-FR" dirty="0" smtClean="0"/>
              <a:t>Software </a:t>
            </a:r>
            <a:r>
              <a:rPr lang="fr-FR" dirty="0" err="1" smtClean="0"/>
              <a:t>Risk</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b="0" i="1" dirty="0" smtClean="0"/>
              <a:t>Risk Refinement</a:t>
            </a:r>
          </a:p>
          <a:p>
            <a:pPr lvl="1"/>
            <a:r>
              <a:rPr lang="en-US" sz="2400" b="0" i="1" dirty="0" smtClean="0"/>
              <a:t>T</a:t>
            </a:r>
            <a:r>
              <a:rPr lang="en-US" sz="2400" b="0" dirty="0" smtClean="0"/>
              <a:t>o refine the </a:t>
            </a:r>
            <a:r>
              <a:rPr lang="en-US" sz="2400" b="0" dirty="0"/>
              <a:t>risk into a set of more detailed </a:t>
            </a:r>
            <a:r>
              <a:rPr lang="en-US" sz="2400" b="0" dirty="0" smtClean="0"/>
              <a:t>risks</a:t>
            </a:r>
            <a:endParaRPr lang="en-US" sz="2400" dirty="0" smtClean="0"/>
          </a:p>
          <a:p>
            <a:pPr lvl="1"/>
            <a:r>
              <a:rPr lang="en-US" sz="2400" b="0" dirty="0"/>
              <a:t>R</a:t>
            </a:r>
            <a:r>
              <a:rPr lang="en-US" sz="2400" b="0" dirty="0" smtClean="0"/>
              <a:t>epresent </a:t>
            </a:r>
            <a:r>
              <a:rPr lang="en-US" sz="2400" b="0" dirty="0"/>
              <a:t>the risk in </a:t>
            </a:r>
            <a:r>
              <a:rPr lang="en-US" sz="2400" b="0" i="1" dirty="0"/>
              <a:t>condition-transition-consequence </a:t>
            </a:r>
            <a:r>
              <a:rPr lang="en-US" sz="2400" b="0" dirty="0"/>
              <a:t>(CTC</a:t>
            </a:r>
            <a:r>
              <a:rPr lang="en-US" sz="2400" b="0" dirty="0" smtClean="0"/>
              <a:t>)</a:t>
            </a:r>
          </a:p>
          <a:p>
            <a:pPr marL="442912" lvl="1" indent="0">
              <a:buNone/>
            </a:pPr>
            <a:endParaRPr lang="en-US" sz="2400" b="0" dirty="0" smtClean="0"/>
          </a:p>
          <a:p>
            <a:pPr marL="442912" lvl="1" indent="0">
              <a:buNone/>
            </a:pPr>
            <a:r>
              <a:rPr lang="en-US" sz="2400" b="0" i="1" dirty="0" smtClean="0"/>
              <a:t>“Given </a:t>
            </a:r>
            <a:r>
              <a:rPr lang="en-US" sz="2400" b="0" i="1" dirty="0"/>
              <a:t>that &lt;condition&gt; then there is concern that (possibly) &lt;consequence</a:t>
            </a:r>
            <a:r>
              <a:rPr lang="en-US" sz="2400" b="0" i="1" dirty="0" smtClean="0"/>
              <a:t>&gt;.”</a:t>
            </a:r>
          </a:p>
          <a:p>
            <a:pPr marL="442912" lvl="1" indent="0">
              <a:buNone/>
            </a:pPr>
            <a:endParaRPr lang="en-US" sz="2400" b="0" i="1" dirty="0"/>
          </a:p>
          <a:p>
            <a:pPr marL="442912" lvl="1" indent="0">
              <a:buNone/>
            </a:pPr>
            <a:r>
              <a:rPr lang="en-US" sz="2400" b="0" dirty="0" smtClean="0"/>
              <a:t>Then </a:t>
            </a:r>
            <a:r>
              <a:rPr lang="en-US" sz="2400" b="0" i="1" dirty="0" smtClean="0"/>
              <a:t>&lt;condition&gt;</a:t>
            </a:r>
            <a:r>
              <a:rPr lang="en-US" sz="2400" b="0" dirty="0" smtClean="0"/>
              <a:t> will be refined in </a:t>
            </a:r>
            <a:r>
              <a:rPr lang="en-US" sz="2400" b="0" i="1" dirty="0" smtClean="0"/>
              <a:t>&lt;</a:t>
            </a:r>
            <a:r>
              <a:rPr lang="en-US" sz="2400" b="0" i="1" dirty="0" err="1" smtClean="0"/>
              <a:t>subcondition</a:t>
            </a:r>
            <a:r>
              <a:rPr lang="en-US" sz="2400" b="0" i="1" dirty="0" smtClean="0"/>
              <a:t> 1&gt;</a:t>
            </a:r>
            <a:r>
              <a:rPr lang="en-US" sz="2400" b="0" dirty="0" smtClean="0"/>
              <a:t>,</a:t>
            </a:r>
            <a:r>
              <a:rPr lang="en-US" sz="2400" b="0" i="1" dirty="0" smtClean="0"/>
              <a:t> &lt;</a:t>
            </a:r>
            <a:r>
              <a:rPr lang="en-US" sz="2400" b="0" i="1" dirty="0" err="1" smtClean="0"/>
              <a:t>subcondition</a:t>
            </a:r>
            <a:r>
              <a:rPr lang="en-US" sz="2400" b="0" i="1" dirty="0" smtClean="0"/>
              <a:t> 2&gt;</a:t>
            </a:r>
            <a:r>
              <a:rPr lang="en-US" sz="2400" b="0" dirty="0" smtClean="0"/>
              <a:t>, </a:t>
            </a:r>
            <a:r>
              <a:rPr lang="en-US" sz="2400" b="0" i="1" dirty="0" smtClean="0"/>
              <a:t>&lt;</a:t>
            </a:r>
            <a:r>
              <a:rPr lang="en-US" sz="2400" b="0" i="1" dirty="0" err="1" smtClean="0"/>
              <a:t>subcondition</a:t>
            </a:r>
            <a:r>
              <a:rPr lang="en-US" sz="2400" b="0" i="1" dirty="0" smtClean="0"/>
              <a:t> 3&gt;</a:t>
            </a:r>
            <a:r>
              <a:rPr lang="en-US" sz="2400" b="0" dirty="0" smtClean="0"/>
              <a:t>,… </a:t>
            </a:r>
          </a:p>
        </p:txBody>
      </p:sp>
      <p:sp>
        <p:nvSpPr>
          <p:cNvPr id="3" name="Slide Number Placeholder 2"/>
          <p:cNvSpPr>
            <a:spLocks noGrp="1"/>
          </p:cNvSpPr>
          <p:nvPr>
            <p:ph type="sldNum" sz="quarter" idx="11"/>
          </p:nvPr>
        </p:nvSpPr>
        <p:spPr/>
        <p:txBody>
          <a:bodyPr/>
          <a:lstStyle/>
          <a:p>
            <a:fld id="{B6F15528-21DE-4FAA-801E-634DDDAF4B2B}" type="slidenum">
              <a:rPr lang="en-US" smtClean="0"/>
              <a:pPr/>
              <a:t>65</a:t>
            </a:fld>
            <a:endParaRPr lang="en-US"/>
          </a:p>
        </p:txBody>
      </p:sp>
    </p:spTree>
    <p:extLst>
      <p:ext uri="{BB962C8B-B14F-4D97-AF65-F5344CB8AC3E}">
        <p14:creationId xmlns:p14="http://schemas.microsoft.com/office/powerpoint/2010/main" val="296921585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3791915" cy="822305"/>
          </a:xfrm>
        </p:spPr>
        <p:txBody>
          <a:bodyPr/>
          <a:lstStyle/>
          <a:p>
            <a:r>
              <a:rPr lang="fr-FR" dirty="0" smtClean="0"/>
              <a:t>Software </a:t>
            </a:r>
            <a:r>
              <a:rPr lang="fr-FR" dirty="0" err="1" smtClean="0"/>
              <a:t>Risk</a:t>
            </a:r>
            <a:endParaRPr lang="fr-FR" dirty="0"/>
          </a:p>
        </p:txBody>
      </p:sp>
      <p:sp>
        <p:nvSpPr>
          <p:cNvPr id="18" name="Content Placeholder 17"/>
          <p:cNvSpPr>
            <a:spLocks noGrp="1"/>
          </p:cNvSpPr>
          <p:nvPr>
            <p:ph idx="1"/>
          </p:nvPr>
        </p:nvSpPr>
        <p:spPr>
          <a:xfrm>
            <a:off x="304800" y="990600"/>
            <a:ext cx="8686800" cy="5105400"/>
          </a:xfrm>
        </p:spPr>
        <p:txBody>
          <a:bodyPr/>
          <a:lstStyle/>
          <a:p>
            <a:endParaRPr lang="en-US" sz="2400" b="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66</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838200"/>
            <a:ext cx="5562600" cy="566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2277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2566326" cy="822305"/>
          </a:xfrm>
        </p:spPr>
        <p:txBody>
          <a:bodyPr/>
          <a:lstStyle/>
          <a:p>
            <a:r>
              <a:rPr lang="fr-FR" dirty="0" smtClean="0"/>
              <a:t> Content</a:t>
            </a:r>
            <a:endParaRPr lang="fr-FR" dirty="0"/>
          </a:p>
        </p:txBody>
      </p:sp>
      <p:sp>
        <p:nvSpPr>
          <p:cNvPr id="18" name="Content Placeholder 17"/>
          <p:cNvSpPr>
            <a:spLocks noGrp="1"/>
          </p:cNvSpPr>
          <p:nvPr>
            <p:ph idx="1"/>
          </p:nvPr>
        </p:nvSpPr>
        <p:spPr>
          <a:xfrm>
            <a:off x="304800" y="1295400"/>
            <a:ext cx="8686800" cy="5077703"/>
          </a:xfrm>
        </p:spPr>
        <p:txBody>
          <a:bodyPr/>
          <a:lstStyle/>
          <a:p>
            <a:pPr marL="0" indent="0" algn="ctr">
              <a:buNone/>
            </a:pPr>
            <a:r>
              <a:rPr lang="en-US" sz="8800" dirty="0" smtClean="0"/>
              <a:t>Part V</a:t>
            </a:r>
            <a:endParaRPr lang="en-US" sz="7200" dirty="0" smtClean="0"/>
          </a:p>
          <a:p>
            <a:pPr marL="0" indent="0" algn="ctr">
              <a:buNone/>
            </a:pPr>
            <a:r>
              <a:rPr lang="en-US" sz="7200" dirty="0" smtClean="0"/>
              <a:t>Project Scheduling and Tracking</a:t>
            </a:r>
            <a:endParaRPr lang="it-IT" dirty="0" smtClean="0"/>
          </a:p>
          <a:p>
            <a:pPr marL="0" indent="0" algn="ctr"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900" dirty="0" smtClean="0">
              <a:ea typeface="+mn-ea"/>
              <a:cs typeface="+mn-cs"/>
            </a:endParaRPr>
          </a:p>
          <a:p>
            <a:pPr marL="0" indent="0" algn="ctr"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smtClean="0"/>
          </a:p>
          <a:p>
            <a:pPr marL="0" indent="0" algn="ctr"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lvl="1" algn="ctr" defTabSz="457200">
              <a:lnSpc>
                <a:spcPct val="90000"/>
              </a:lnSpc>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lvl="1" algn="ctr" defTabSz="457200">
              <a:lnSpc>
                <a:spcPct val="90000"/>
              </a:lnSpc>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marL="0" indent="0" algn="ctr">
              <a:buNone/>
            </a:pPr>
            <a:endParaRPr lang="en-US"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67</a:t>
            </a:fld>
            <a:endParaRPr lang="en-US"/>
          </a:p>
        </p:txBody>
      </p:sp>
    </p:spTree>
    <p:extLst>
      <p:ext uri="{BB962C8B-B14F-4D97-AF65-F5344CB8AC3E}">
        <p14:creationId xmlns:p14="http://schemas.microsoft.com/office/powerpoint/2010/main" val="96355995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5007559" cy="822305"/>
          </a:xfrm>
        </p:spPr>
        <p:txBody>
          <a:bodyPr/>
          <a:lstStyle/>
          <a:p>
            <a:r>
              <a:rPr lang="fr-FR" dirty="0"/>
              <a:t>P</a:t>
            </a:r>
            <a:r>
              <a:rPr lang="fr-FR" dirty="0" smtClean="0"/>
              <a:t>roject </a:t>
            </a:r>
            <a:r>
              <a:rPr lang="fr-FR" dirty="0" err="1" smtClean="0"/>
              <a:t>Scheduling</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b="0" i="1" dirty="0"/>
              <a:t>Software project scheduling </a:t>
            </a:r>
            <a:r>
              <a:rPr lang="en-US" sz="2400" b="0" dirty="0"/>
              <a:t>is an activity that distributes estimated effort across </a:t>
            </a:r>
            <a:r>
              <a:rPr lang="en-US" sz="2400" b="0" dirty="0" smtClean="0"/>
              <a:t>the planned </a:t>
            </a:r>
            <a:r>
              <a:rPr lang="en-US" sz="2400" b="0" dirty="0"/>
              <a:t>project duration by allocating the effort to specific software engineering tasks</a:t>
            </a:r>
            <a:r>
              <a:rPr lang="en-US" sz="2400" b="0" dirty="0" smtClean="0"/>
              <a:t>.</a:t>
            </a:r>
          </a:p>
          <a:p>
            <a:r>
              <a:rPr lang="en-US" sz="2400" b="0" i="1" dirty="0" smtClean="0"/>
              <a:t>A macroscopic schedule </a:t>
            </a:r>
            <a:r>
              <a:rPr lang="en-US" sz="2400" b="0" dirty="0"/>
              <a:t>is refined into a </a:t>
            </a:r>
            <a:r>
              <a:rPr lang="en-US" sz="2400" b="0" i="1" dirty="0"/>
              <a:t>detailed </a:t>
            </a:r>
            <a:r>
              <a:rPr lang="en-US" sz="2400" b="0" i="1" dirty="0" smtClean="0"/>
              <a:t>schedule.</a:t>
            </a:r>
          </a:p>
          <a:p>
            <a:r>
              <a:rPr lang="en-US" sz="2400" b="0" dirty="0"/>
              <a:t>Effort </a:t>
            </a:r>
            <a:r>
              <a:rPr lang="en-US" sz="2400" b="0" dirty="0" smtClean="0"/>
              <a:t>Distribution: </a:t>
            </a:r>
            <a:r>
              <a:rPr lang="en-US" sz="2400" b="0" i="1" dirty="0"/>
              <a:t>40–20–40 rule</a:t>
            </a:r>
            <a:r>
              <a:rPr lang="en-US" sz="2400" b="0" i="1" dirty="0" smtClean="0"/>
              <a:t>.</a:t>
            </a:r>
          </a:p>
          <a:p>
            <a:pPr marL="0" indent="0">
              <a:buNone/>
            </a:pPr>
            <a:endParaRPr lang="en-US" sz="2400" b="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68</a:t>
            </a:fld>
            <a:endParaRPr lang="en-US"/>
          </a:p>
        </p:txBody>
      </p:sp>
    </p:spTree>
    <p:extLst>
      <p:ext uri="{BB962C8B-B14F-4D97-AF65-F5344CB8AC3E}">
        <p14:creationId xmlns:p14="http://schemas.microsoft.com/office/powerpoint/2010/main" val="103712880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5007559" cy="822305"/>
          </a:xfrm>
        </p:spPr>
        <p:txBody>
          <a:bodyPr/>
          <a:lstStyle/>
          <a:p>
            <a:r>
              <a:rPr lang="fr-FR" dirty="0"/>
              <a:t>P</a:t>
            </a:r>
            <a:r>
              <a:rPr lang="fr-FR" dirty="0" smtClean="0"/>
              <a:t>roject </a:t>
            </a:r>
            <a:r>
              <a:rPr lang="fr-FR" dirty="0" err="1" smtClean="0"/>
              <a:t>Scheduling</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i="1" dirty="0" smtClean="0"/>
              <a:t>Defining a task set</a:t>
            </a:r>
          </a:p>
          <a:p>
            <a:pPr lvl="1"/>
            <a:r>
              <a:rPr lang="en-US" sz="2400" b="0" dirty="0"/>
              <a:t>A </a:t>
            </a:r>
            <a:r>
              <a:rPr lang="en-US" sz="2400" b="0" i="1" dirty="0"/>
              <a:t>task set </a:t>
            </a:r>
            <a:r>
              <a:rPr lang="en-US" sz="2400" b="0" dirty="0"/>
              <a:t>is a collection of software engineering work tasks, milestones, and </a:t>
            </a:r>
            <a:r>
              <a:rPr lang="en-US" sz="2400" b="0" dirty="0" smtClean="0"/>
              <a:t>deliverables that </a:t>
            </a:r>
            <a:r>
              <a:rPr lang="en-US" sz="2400" b="0" dirty="0"/>
              <a:t>must be accomplished to complete a particular project</a:t>
            </a:r>
            <a:r>
              <a:rPr lang="en-US" sz="2400" b="0" dirty="0" smtClean="0"/>
              <a:t>.</a:t>
            </a:r>
          </a:p>
          <a:p>
            <a:r>
              <a:rPr lang="en-US" sz="2400" i="1" dirty="0" smtClean="0"/>
              <a:t>Defining a task network</a:t>
            </a:r>
          </a:p>
          <a:p>
            <a:pPr lvl="1"/>
            <a:r>
              <a:rPr lang="en-US" sz="2400" b="0" dirty="0"/>
              <a:t>A </a:t>
            </a:r>
            <a:r>
              <a:rPr lang="en-US" sz="2400" b="0" i="1" dirty="0"/>
              <a:t>task </a:t>
            </a:r>
            <a:r>
              <a:rPr lang="en-US" sz="2400" b="0" i="1" dirty="0" smtClean="0"/>
              <a:t>network (activity network) </a:t>
            </a:r>
            <a:r>
              <a:rPr lang="en-US" sz="2400" b="0" dirty="0"/>
              <a:t>is a graphic representation of </a:t>
            </a:r>
            <a:r>
              <a:rPr lang="en-US" sz="2400" b="0" dirty="0" smtClean="0"/>
              <a:t>the task </a:t>
            </a:r>
            <a:r>
              <a:rPr lang="en-US" sz="2400" b="0" dirty="0"/>
              <a:t>flow for a project.</a:t>
            </a:r>
            <a:endParaRPr lang="en-US" sz="6800" i="1" dirty="0" smtClean="0"/>
          </a:p>
          <a:p>
            <a:pPr marL="442912" lvl="1" indent="0">
              <a:buNone/>
            </a:pPr>
            <a:endParaRPr lang="en-US" sz="2400" i="1" dirty="0" smtClean="0"/>
          </a:p>
          <a:p>
            <a:pPr marL="0" indent="0">
              <a:buNone/>
            </a:pPr>
            <a:endParaRPr lang="en-US" sz="2400" b="0" dirty="0" smtClean="0"/>
          </a:p>
          <a:p>
            <a:pPr marL="0" indent="0">
              <a:buNone/>
            </a:pPr>
            <a:endParaRPr lang="en-US" sz="2400" b="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69</a:t>
            </a:fld>
            <a:endParaRPr lang="en-US"/>
          </a:p>
        </p:txBody>
      </p:sp>
    </p:spTree>
    <p:extLst>
      <p:ext uri="{BB962C8B-B14F-4D97-AF65-F5344CB8AC3E}">
        <p14:creationId xmlns:p14="http://schemas.microsoft.com/office/powerpoint/2010/main" val="191982463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5007559" cy="822305"/>
          </a:xfrm>
        </p:spPr>
        <p:txBody>
          <a:bodyPr/>
          <a:lstStyle/>
          <a:p>
            <a:r>
              <a:rPr lang="fr-FR" dirty="0"/>
              <a:t>P</a:t>
            </a:r>
            <a:r>
              <a:rPr lang="fr-FR" dirty="0" smtClean="0"/>
              <a:t>roject </a:t>
            </a:r>
            <a:r>
              <a:rPr lang="fr-FR" dirty="0" err="1" smtClean="0"/>
              <a:t>Scheduling</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b="0" dirty="0"/>
              <a:t>A task </a:t>
            </a:r>
            <a:r>
              <a:rPr lang="en-US" sz="2400" b="0" dirty="0" smtClean="0"/>
              <a:t>network example </a:t>
            </a:r>
            <a:r>
              <a:rPr lang="en-US" sz="2400" b="0" dirty="0"/>
              <a:t>for concept development</a:t>
            </a:r>
            <a:endParaRPr lang="en-US" sz="2400" i="1" dirty="0" smtClean="0"/>
          </a:p>
          <a:p>
            <a:pPr marL="0" indent="0">
              <a:buNone/>
            </a:pPr>
            <a:endParaRPr lang="en-US" sz="2400" b="0" dirty="0" smtClean="0"/>
          </a:p>
          <a:p>
            <a:pPr marL="0" indent="0">
              <a:buNone/>
            </a:pPr>
            <a:endParaRPr lang="en-US" sz="2400" b="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70</a:t>
            </a:fld>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1588" y="1814513"/>
            <a:ext cx="7415212" cy="3748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495746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5007559" cy="822305"/>
          </a:xfrm>
        </p:spPr>
        <p:txBody>
          <a:bodyPr/>
          <a:lstStyle/>
          <a:p>
            <a:r>
              <a:rPr lang="fr-FR" dirty="0"/>
              <a:t>P</a:t>
            </a:r>
            <a:r>
              <a:rPr lang="fr-FR" dirty="0" smtClean="0"/>
              <a:t>roject </a:t>
            </a:r>
            <a:r>
              <a:rPr lang="fr-FR" dirty="0" err="1" smtClean="0"/>
              <a:t>Scheduling</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i="1" dirty="0" smtClean="0"/>
              <a:t>Scheduling</a:t>
            </a:r>
          </a:p>
          <a:p>
            <a:pPr lvl="1"/>
            <a:r>
              <a:rPr lang="en-US" sz="2400" b="0" dirty="0" smtClean="0"/>
              <a:t>Two methods: </a:t>
            </a:r>
            <a:r>
              <a:rPr lang="en-US" sz="2400" b="0" i="1" dirty="0" smtClean="0"/>
              <a:t>Program </a:t>
            </a:r>
            <a:r>
              <a:rPr lang="en-US" sz="2400" b="0" i="1" dirty="0"/>
              <a:t>evaluation and review technique </a:t>
            </a:r>
            <a:r>
              <a:rPr lang="en-US" sz="2400" b="0" dirty="0"/>
              <a:t>(PERT) and </a:t>
            </a:r>
            <a:r>
              <a:rPr lang="en-US" sz="2400" b="0" i="1" dirty="0"/>
              <a:t>critical path method </a:t>
            </a:r>
            <a:r>
              <a:rPr lang="en-US" sz="2400" b="0" dirty="0"/>
              <a:t>(CPM</a:t>
            </a:r>
            <a:r>
              <a:rPr lang="en-US" sz="2400" b="0" dirty="0" smtClean="0"/>
              <a:t>).</a:t>
            </a:r>
            <a:endParaRPr lang="en-US" sz="2400" i="1" dirty="0" smtClean="0"/>
          </a:p>
          <a:p>
            <a:pPr lvl="1"/>
            <a:r>
              <a:rPr lang="en-US" sz="2400" b="0" dirty="0" smtClean="0"/>
              <a:t>Driven by:  estimates </a:t>
            </a:r>
            <a:r>
              <a:rPr lang="en-US" sz="2400" b="0" dirty="0"/>
              <a:t>of </a:t>
            </a:r>
            <a:r>
              <a:rPr lang="en-US" sz="2400" b="0" dirty="0" smtClean="0"/>
              <a:t>effort, a </a:t>
            </a:r>
            <a:r>
              <a:rPr lang="en-US" sz="2400" b="0" dirty="0"/>
              <a:t>decomposition of the product </a:t>
            </a:r>
            <a:r>
              <a:rPr lang="en-US" sz="2400" b="0" dirty="0" smtClean="0"/>
              <a:t>function, the </a:t>
            </a:r>
            <a:r>
              <a:rPr lang="en-US" sz="2400" b="0" dirty="0"/>
              <a:t>selection of the appropriate process model and task </a:t>
            </a:r>
            <a:r>
              <a:rPr lang="en-US" sz="2400" b="0" dirty="0" smtClean="0"/>
              <a:t>set, decomposition </a:t>
            </a:r>
            <a:r>
              <a:rPr lang="en-US" sz="2400" b="0" dirty="0"/>
              <a:t>of </a:t>
            </a:r>
            <a:r>
              <a:rPr lang="en-US" sz="2400" b="0" dirty="0" smtClean="0"/>
              <a:t>tasks.</a:t>
            </a:r>
          </a:p>
          <a:p>
            <a:pPr marL="900112" lvl="1" indent="-457200">
              <a:buFont typeface="+mj-lt"/>
              <a:buAutoNum type="arabicPeriod"/>
            </a:pPr>
            <a:endParaRPr lang="en-US" sz="2400" b="0" dirty="0"/>
          </a:p>
          <a:p>
            <a:pPr marL="900112" lvl="1" indent="-457200">
              <a:buFont typeface="+mj-lt"/>
              <a:buAutoNum type="arabicPeriod"/>
            </a:pPr>
            <a:r>
              <a:rPr lang="en-US" sz="2400" b="0" dirty="0"/>
              <a:t>D</a:t>
            </a:r>
            <a:r>
              <a:rPr lang="en-US" sz="2400" b="0" dirty="0" smtClean="0"/>
              <a:t>etermine the </a:t>
            </a:r>
            <a:r>
              <a:rPr lang="en-US" sz="2400" b="0" i="1" dirty="0" smtClean="0"/>
              <a:t>critical path</a:t>
            </a:r>
            <a:r>
              <a:rPr lang="en-US" sz="2400" b="0" dirty="0" smtClean="0"/>
              <a:t>—the chain of tasks that determines the duration of the project; </a:t>
            </a:r>
          </a:p>
          <a:p>
            <a:pPr marL="900112" lvl="1" indent="-457200">
              <a:buFont typeface="+mj-lt"/>
              <a:buAutoNum type="arabicPeriod"/>
            </a:pPr>
            <a:r>
              <a:rPr lang="en-US" sz="2400" b="0" dirty="0" smtClean="0"/>
              <a:t>Establish “most likely” time estimates for individual task by applying statistical models;</a:t>
            </a:r>
          </a:p>
          <a:p>
            <a:pPr marL="900112" lvl="1" indent="-457200">
              <a:buFont typeface="+mj-lt"/>
              <a:buAutoNum type="arabicPeriod"/>
            </a:pPr>
            <a:r>
              <a:rPr lang="en-US" sz="2400" b="0" dirty="0" smtClean="0"/>
              <a:t>Calculate “boundary times” that define a time “window” for a particular  task.</a:t>
            </a:r>
          </a:p>
          <a:p>
            <a:pPr marL="900112" lvl="1" indent="-457200">
              <a:buFont typeface="+mj-lt"/>
              <a:buAutoNum type="arabicPeriod"/>
            </a:pPr>
            <a:endParaRPr lang="en-US" sz="2400" b="0" dirty="0" smtClean="0"/>
          </a:p>
          <a:p>
            <a:pPr marL="900112" lvl="1" indent="-457200">
              <a:buFont typeface="+mj-lt"/>
              <a:buAutoNum type="arabicPeriod"/>
            </a:pPr>
            <a:endParaRPr lang="en-US" sz="2400" i="1" dirty="0" smtClean="0"/>
          </a:p>
          <a:p>
            <a:pPr lvl="1"/>
            <a:endParaRPr lang="en-US" sz="2400" i="1" dirty="0" smtClean="0"/>
          </a:p>
          <a:p>
            <a:pPr marL="0" indent="0">
              <a:buNone/>
            </a:pPr>
            <a:endParaRPr lang="en-US" sz="2400" b="0" dirty="0" smtClean="0"/>
          </a:p>
          <a:p>
            <a:pPr marL="0" indent="0">
              <a:buNone/>
            </a:pPr>
            <a:endParaRPr lang="en-US" sz="2400" b="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71</a:t>
            </a:fld>
            <a:endParaRPr lang="en-US"/>
          </a:p>
        </p:txBody>
      </p:sp>
    </p:spTree>
    <p:extLst>
      <p:ext uri="{BB962C8B-B14F-4D97-AF65-F5344CB8AC3E}">
        <p14:creationId xmlns:p14="http://schemas.microsoft.com/office/powerpoint/2010/main" val="399108498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5007559" cy="822305"/>
          </a:xfrm>
        </p:spPr>
        <p:txBody>
          <a:bodyPr/>
          <a:lstStyle/>
          <a:p>
            <a:r>
              <a:rPr lang="fr-FR" dirty="0"/>
              <a:t>P</a:t>
            </a:r>
            <a:r>
              <a:rPr lang="fr-FR" dirty="0" smtClean="0"/>
              <a:t>roject </a:t>
            </a:r>
            <a:r>
              <a:rPr lang="fr-FR" dirty="0" err="1" smtClean="0"/>
              <a:t>Scheduling</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dirty="0" smtClean="0"/>
              <a:t>Timeline chart </a:t>
            </a:r>
            <a:r>
              <a:rPr lang="en-US" sz="2400" b="0" dirty="0" smtClean="0"/>
              <a:t>(</a:t>
            </a:r>
            <a:r>
              <a:rPr lang="en-US" sz="2400" b="0" i="1" dirty="0"/>
              <a:t>Gantt chart</a:t>
            </a:r>
            <a:r>
              <a:rPr lang="en-US" sz="2400" b="0" dirty="0" smtClean="0"/>
              <a:t>)</a:t>
            </a:r>
          </a:p>
          <a:p>
            <a:pPr lvl="1"/>
            <a:r>
              <a:rPr lang="en-US" sz="2400" b="0" dirty="0" smtClean="0"/>
              <a:t>begins with a </a:t>
            </a:r>
            <a:r>
              <a:rPr lang="en-US" sz="2400" b="0" dirty="0"/>
              <a:t>set of tasks (</a:t>
            </a:r>
            <a:r>
              <a:rPr lang="en-US" sz="2400" b="0" dirty="0" smtClean="0"/>
              <a:t>the work </a:t>
            </a:r>
            <a:r>
              <a:rPr lang="en-US" sz="2400" b="0" dirty="0"/>
              <a:t>breakdown structure</a:t>
            </a:r>
            <a:r>
              <a:rPr lang="en-US" sz="2400" b="0" dirty="0" smtClean="0"/>
              <a:t>)</a:t>
            </a:r>
          </a:p>
          <a:p>
            <a:pPr lvl="1"/>
            <a:r>
              <a:rPr lang="en-US" sz="2400" b="0" dirty="0"/>
              <a:t>e</a:t>
            </a:r>
            <a:r>
              <a:rPr lang="en-US" sz="2400" b="0" dirty="0" smtClean="0"/>
              <a:t>ffort</a:t>
            </a:r>
            <a:r>
              <a:rPr lang="en-US" sz="2400" b="0" dirty="0"/>
              <a:t>, duration, and start date are then input </a:t>
            </a:r>
            <a:r>
              <a:rPr lang="en-US" sz="2400" b="0" dirty="0" smtClean="0"/>
              <a:t>for each task (may assign specific individuals).</a:t>
            </a:r>
          </a:p>
          <a:p>
            <a:pPr lvl="1"/>
            <a:endParaRPr lang="en-US" sz="2400" dirty="0" smtClean="0"/>
          </a:p>
          <a:p>
            <a:pPr marL="900112" lvl="1" indent="-457200">
              <a:buFont typeface="+mj-lt"/>
              <a:buAutoNum type="arabicPeriod"/>
            </a:pPr>
            <a:endParaRPr lang="en-US" sz="2400" b="0" dirty="0" smtClean="0"/>
          </a:p>
          <a:p>
            <a:pPr marL="900112" lvl="1" indent="-457200">
              <a:buFont typeface="+mj-lt"/>
              <a:buAutoNum type="arabicPeriod"/>
            </a:pPr>
            <a:endParaRPr lang="en-US" sz="2400" i="1" dirty="0" smtClean="0"/>
          </a:p>
          <a:p>
            <a:pPr lvl="1"/>
            <a:endParaRPr lang="en-US" sz="2400" i="1" dirty="0" smtClean="0"/>
          </a:p>
          <a:p>
            <a:pPr marL="0" indent="0">
              <a:buNone/>
            </a:pPr>
            <a:endParaRPr lang="en-US" sz="2400" b="0" dirty="0" smtClean="0"/>
          </a:p>
          <a:p>
            <a:pPr marL="0" indent="0">
              <a:buNone/>
            </a:pPr>
            <a:endParaRPr lang="en-US" sz="2400" b="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72</a:t>
            </a:fld>
            <a:endParaRPr lang="en-US"/>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174" y="2667000"/>
            <a:ext cx="8450356" cy="360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419804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5007559" cy="822305"/>
          </a:xfrm>
        </p:spPr>
        <p:txBody>
          <a:bodyPr/>
          <a:lstStyle/>
          <a:p>
            <a:r>
              <a:rPr lang="fr-FR" dirty="0"/>
              <a:t>P</a:t>
            </a:r>
            <a:r>
              <a:rPr lang="fr-FR" dirty="0" smtClean="0"/>
              <a:t>roject </a:t>
            </a:r>
            <a:r>
              <a:rPr lang="fr-FR" dirty="0" err="1" smtClean="0"/>
              <a:t>Scheduling</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dirty="0" smtClean="0"/>
              <a:t>Project Table</a:t>
            </a:r>
          </a:p>
          <a:p>
            <a:pPr lvl="1"/>
            <a:r>
              <a:rPr lang="en-US" sz="2400" b="0" dirty="0"/>
              <a:t>listing of all project tasks, their planned and actual start- and end-dates, and </a:t>
            </a:r>
            <a:r>
              <a:rPr lang="en-US" sz="2400" b="0" dirty="0" smtClean="0"/>
              <a:t>a variety </a:t>
            </a:r>
            <a:r>
              <a:rPr lang="en-US" sz="2400" b="0" dirty="0"/>
              <a:t>of related </a:t>
            </a:r>
            <a:r>
              <a:rPr lang="en-US" sz="2400" b="0" dirty="0" smtClean="0"/>
              <a:t>information</a:t>
            </a:r>
            <a:endParaRPr lang="en-US" sz="2400" b="0" dirty="0"/>
          </a:p>
          <a:p>
            <a:pPr lvl="1"/>
            <a:r>
              <a:rPr lang="en-US" sz="2400" b="0" dirty="0"/>
              <a:t>project tables enable the project manager to track progress.</a:t>
            </a:r>
            <a:endParaRPr lang="en-US" sz="2400" b="0" dirty="0" smtClean="0"/>
          </a:p>
          <a:p>
            <a:pPr marL="900112" lvl="1" indent="-457200">
              <a:buFont typeface="+mj-lt"/>
              <a:buAutoNum type="arabicPeriod"/>
            </a:pPr>
            <a:endParaRPr lang="en-US" sz="2400" b="0" dirty="0" smtClean="0"/>
          </a:p>
          <a:p>
            <a:pPr marL="900112" lvl="1" indent="-457200">
              <a:buFont typeface="+mj-lt"/>
              <a:buAutoNum type="arabicPeriod"/>
            </a:pPr>
            <a:endParaRPr lang="en-US" sz="2400" i="1" dirty="0" smtClean="0"/>
          </a:p>
          <a:p>
            <a:pPr lvl="1"/>
            <a:endParaRPr lang="en-US" sz="2400" i="1" dirty="0" smtClean="0"/>
          </a:p>
          <a:p>
            <a:pPr marL="0" indent="0">
              <a:buNone/>
            </a:pPr>
            <a:endParaRPr lang="en-US" sz="2400" b="0" dirty="0" smtClean="0"/>
          </a:p>
          <a:p>
            <a:pPr marL="0" indent="0">
              <a:buNone/>
            </a:pPr>
            <a:endParaRPr lang="en-US" sz="2400" b="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73</a:t>
            </a:fld>
            <a:endParaRPr lang="en-US"/>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77" y="3021107"/>
            <a:ext cx="9036423" cy="3292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1878917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5777221" cy="822305"/>
          </a:xfrm>
        </p:spPr>
        <p:txBody>
          <a:bodyPr/>
          <a:lstStyle/>
          <a:p>
            <a:r>
              <a:rPr lang="fr-FR" dirty="0" err="1" smtClean="0"/>
              <a:t>Tracking</a:t>
            </a:r>
            <a:r>
              <a:rPr lang="fr-FR" dirty="0" smtClean="0"/>
              <a:t> the Schedule</a:t>
            </a:r>
            <a:endParaRPr lang="fr-FR" dirty="0"/>
          </a:p>
        </p:txBody>
      </p:sp>
      <p:sp>
        <p:nvSpPr>
          <p:cNvPr id="18" name="Content Placeholder 17"/>
          <p:cNvSpPr>
            <a:spLocks noGrp="1"/>
          </p:cNvSpPr>
          <p:nvPr>
            <p:ph idx="1"/>
          </p:nvPr>
        </p:nvSpPr>
        <p:spPr>
          <a:xfrm>
            <a:off x="304800" y="990600"/>
            <a:ext cx="8686800" cy="5105400"/>
          </a:xfrm>
        </p:spPr>
        <p:txBody>
          <a:bodyPr/>
          <a:lstStyle/>
          <a:p>
            <a:r>
              <a:rPr lang="en-US" sz="2400" b="0" dirty="0"/>
              <a:t>Conducting periodic project status meetings in which each team </a:t>
            </a:r>
            <a:r>
              <a:rPr lang="en-US" sz="2400" b="0" dirty="0" smtClean="0"/>
              <a:t>member reports </a:t>
            </a:r>
            <a:r>
              <a:rPr lang="en-US" sz="2400" b="0" dirty="0"/>
              <a:t>progress and problems.</a:t>
            </a:r>
          </a:p>
          <a:p>
            <a:r>
              <a:rPr lang="en-US" sz="2400" b="0" dirty="0" smtClean="0"/>
              <a:t>Evaluating </a:t>
            </a:r>
            <a:r>
              <a:rPr lang="en-US" sz="2400" b="0" dirty="0"/>
              <a:t>the results of all reviews conducted throughout the software </a:t>
            </a:r>
            <a:r>
              <a:rPr lang="en-US" sz="2400" b="0" dirty="0" smtClean="0"/>
              <a:t>engineering process</a:t>
            </a:r>
            <a:r>
              <a:rPr lang="en-US" sz="2400" b="0" dirty="0"/>
              <a:t>.</a:t>
            </a:r>
          </a:p>
          <a:p>
            <a:r>
              <a:rPr lang="en-US" sz="2400" b="0" dirty="0" smtClean="0"/>
              <a:t>Determining </a:t>
            </a:r>
            <a:r>
              <a:rPr lang="en-US" sz="2400" b="0" dirty="0"/>
              <a:t>whether formal project </a:t>
            </a:r>
            <a:r>
              <a:rPr lang="en-US" sz="2400" b="0" dirty="0" smtClean="0"/>
              <a:t>milestones </a:t>
            </a:r>
            <a:r>
              <a:rPr lang="en-US" sz="2400" b="0" dirty="0"/>
              <a:t>have been accomplished by the scheduled date.</a:t>
            </a:r>
          </a:p>
          <a:p>
            <a:r>
              <a:rPr lang="en-US" sz="2400" b="0" dirty="0" smtClean="0"/>
              <a:t>Comparing </a:t>
            </a:r>
            <a:r>
              <a:rPr lang="en-US" sz="2400" b="0" dirty="0"/>
              <a:t>actual start-date to planned start-date for each project task </a:t>
            </a:r>
            <a:r>
              <a:rPr lang="en-US" sz="2400" b="0" dirty="0" smtClean="0"/>
              <a:t>listed in </a:t>
            </a:r>
            <a:r>
              <a:rPr lang="en-US" sz="2400" b="0" dirty="0"/>
              <a:t>the </a:t>
            </a:r>
            <a:r>
              <a:rPr lang="en-US" sz="2400" b="0" dirty="0" smtClean="0"/>
              <a:t>project table.</a:t>
            </a:r>
            <a:endParaRPr lang="en-US" sz="2400" b="0" dirty="0"/>
          </a:p>
          <a:p>
            <a:r>
              <a:rPr lang="en-US" sz="2400" b="0" dirty="0" smtClean="0"/>
              <a:t>Meeting </a:t>
            </a:r>
            <a:r>
              <a:rPr lang="en-US" sz="2400" b="0" dirty="0"/>
              <a:t>informally with practitioners to obtain their subjective assessment </a:t>
            </a:r>
            <a:r>
              <a:rPr lang="en-US" sz="2400" b="0" dirty="0" smtClean="0"/>
              <a:t>of progress </a:t>
            </a:r>
            <a:r>
              <a:rPr lang="en-US" sz="2400" b="0" dirty="0"/>
              <a:t>to date and problems on the horizon.</a:t>
            </a:r>
            <a:endParaRPr lang="en-US" sz="2400" b="0" dirty="0" smtClean="0"/>
          </a:p>
          <a:p>
            <a:pPr marL="0" indent="0">
              <a:buNone/>
            </a:pPr>
            <a:endParaRPr lang="en-US" sz="2400" b="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74</a:t>
            </a:fld>
            <a:endParaRPr lang="en-US"/>
          </a:p>
        </p:txBody>
      </p:sp>
    </p:spTree>
    <p:extLst>
      <p:ext uri="{BB962C8B-B14F-4D97-AF65-F5344CB8AC3E}">
        <p14:creationId xmlns:p14="http://schemas.microsoft.com/office/powerpoint/2010/main" val="230491651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63" y="296327"/>
            <a:ext cx="8148429" cy="605909"/>
          </a:xfrm>
        </p:spPr>
        <p:txBody>
          <a:bodyPr/>
          <a:lstStyle/>
          <a:p>
            <a:r>
              <a:rPr lang="en-US" sz="2800" dirty="0"/>
              <a:t>P</a:t>
            </a:r>
            <a:r>
              <a:rPr lang="en-US" sz="2800" dirty="0" smtClean="0"/>
              <a:t>rinciples </a:t>
            </a:r>
            <a:r>
              <a:rPr lang="en-US" sz="2800" dirty="0"/>
              <a:t>guide software project </a:t>
            </a:r>
            <a:r>
              <a:rPr lang="en-US" sz="2800" dirty="0" smtClean="0"/>
              <a:t>scheduling</a:t>
            </a:r>
            <a:endParaRPr lang="en-US" sz="2800" dirty="0"/>
          </a:p>
        </p:txBody>
      </p:sp>
      <p:sp>
        <p:nvSpPr>
          <p:cNvPr id="3" name="Content Placeholder 2"/>
          <p:cNvSpPr>
            <a:spLocks noGrp="1"/>
          </p:cNvSpPr>
          <p:nvPr>
            <p:ph idx="1"/>
          </p:nvPr>
        </p:nvSpPr>
        <p:spPr/>
        <p:txBody>
          <a:bodyPr/>
          <a:lstStyle/>
          <a:p>
            <a:r>
              <a:rPr lang="en-US" sz="1500" b="0" dirty="0"/>
              <a:t>Compartmentalization </a:t>
            </a:r>
            <a:endParaRPr lang="en-US" sz="1500" b="0" dirty="0" smtClean="0"/>
          </a:p>
          <a:p>
            <a:pPr lvl="1"/>
            <a:r>
              <a:rPr lang="en-US" sz="1500" b="0" dirty="0" smtClean="0"/>
              <a:t>project ~ manageable </a:t>
            </a:r>
            <a:r>
              <a:rPr lang="en-US" sz="1500" b="0" dirty="0"/>
              <a:t>activities and tasks </a:t>
            </a:r>
            <a:endParaRPr lang="en-US" sz="1500" b="0" dirty="0"/>
          </a:p>
          <a:p>
            <a:pPr lvl="1"/>
            <a:r>
              <a:rPr lang="en-US" sz="1500" b="0" dirty="0"/>
              <a:t>both the product and the process are decomposed </a:t>
            </a:r>
            <a:endParaRPr lang="en-US" sz="1500" b="0" dirty="0"/>
          </a:p>
          <a:p>
            <a:r>
              <a:rPr lang="en-US" sz="1500" b="0" dirty="0"/>
              <a:t>Interdependency </a:t>
            </a:r>
            <a:endParaRPr lang="en-US" sz="1500" b="0" dirty="0" smtClean="0"/>
          </a:p>
          <a:p>
            <a:pPr lvl="1"/>
            <a:r>
              <a:rPr lang="en-US" sz="1500" b="0" dirty="0" smtClean="0"/>
              <a:t>tasks </a:t>
            </a:r>
            <a:r>
              <a:rPr lang="en-US" sz="1500" b="0" dirty="0"/>
              <a:t>occur in sequence while others can occur in parallel </a:t>
            </a:r>
            <a:endParaRPr lang="en-US" sz="1500" b="0" dirty="0"/>
          </a:p>
          <a:p>
            <a:r>
              <a:rPr lang="en-US" sz="1500" b="0" dirty="0"/>
              <a:t>Time allocation </a:t>
            </a:r>
            <a:endParaRPr lang="en-US" sz="1500" b="0" dirty="0" smtClean="0"/>
          </a:p>
          <a:p>
            <a:pPr lvl="1"/>
            <a:r>
              <a:rPr lang="en-US" sz="1500" b="0" dirty="0" smtClean="0"/>
              <a:t>task </a:t>
            </a:r>
            <a:r>
              <a:rPr lang="en-US" sz="1500" b="0" dirty="0"/>
              <a:t>to be scheduled must be allocated some </a:t>
            </a:r>
            <a:r>
              <a:rPr lang="en-US" sz="1500" b="0" dirty="0" smtClean="0"/>
              <a:t>number </a:t>
            </a:r>
            <a:r>
              <a:rPr lang="en-US" sz="1500" b="0" dirty="0"/>
              <a:t>of work units (e.g., person-days of effort). </a:t>
            </a:r>
            <a:endParaRPr lang="en-US" sz="1500" b="0" dirty="0" smtClean="0"/>
          </a:p>
          <a:p>
            <a:pPr lvl="1"/>
            <a:r>
              <a:rPr lang="en-US" sz="1500" b="0" dirty="0"/>
              <a:t>each task must be assigned a start date and a completion date </a:t>
            </a:r>
            <a:endParaRPr lang="en-US" sz="1500" b="0" dirty="0"/>
          </a:p>
          <a:p>
            <a:r>
              <a:rPr lang="en-US" sz="1500" b="0" dirty="0"/>
              <a:t>Effort validation </a:t>
            </a:r>
            <a:endParaRPr lang="en-US" sz="1500" b="0" dirty="0" smtClean="0"/>
          </a:p>
          <a:p>
            <a:pPr lvl="1"/>
            <a:r>
              <a:rPr lang="en-US" sz="1500" b="0" dirty="0"/>
              <a:t>defined number of staff members. </a:t>
            </a:r>
            <a:endParaRPr lang="en-US" sz="1500" b="0" dirty="0"/>
          </a:p>
          <a:p>
            <a:pPr lvl="1"/>
            <a:r>
              <a:rPr lang="en-US" sz="1500" b="0" dirty="0"/>
              <a:t>project manager must ensure that no more than the allocated number of people have been scheduled at any given time </a:t>
            </a:r>
            <a:endParaRPr lang="en-US" sz="1500" b="0" dirty="0"/>
          </a:p>
          <a:p>
            <a:r>
              <a:rPr lang="en-US" sz="1500" b="0" dirty="0"/>
              <a:t>Defined responsibilities. </a:t>
            </a:r>
            <a:endParaRPr lang="en-US" sz="1500" b="0" dirty="0" smtClean="0"/>
          </a:p>
          <a:p>
            <a:pPr lvl="1"/>
            <a:r>
              <a:rPr lang="en-US" sz="1500" b="0" dirty="0"/>
              <a:t>Every task that is scheduled should be assigned to a specific team member. </a:t>
            </a:r>
            <a:endParaRPr lang="en-US" sz="1500" b="0" dirty="0"/>
          </a:p>
          <a:p>
            <a:r>
              <a:rPr lang="en-US" sz="1500" b="0" dirty="0"/>
              <a:t>Defined outcomes. </a:t>
            </a:r>
            <a:endParaRPr lang="en-US" sz="1500" b="0" dirty="0" smtClean="0"/>
          </a:p>
          <a:p>
            <a:pPr lvl="1"/>
            <a:r>
              <a:rPr lang="en-US" sz="1500" b="0" dirty="0"/>
              <a:t>Every task that is scheduled should have a defined out- come </a:t>
            </a:r>
            <a:endParaRPr lang="en-US" sz="1500" b="0" dirty="0"/>
          </a:p>
          <a:p>
            <a:r>
              <a:rPr lang="en-US" sz="1500" b="0" dirty="0"/>
              <a:t>Defined milestones </a:t>
            </a:r>
            <a:endParaRPr lang="en-US" sz="1500" b="0" dirty="0" smtClean="0"/>
          </a:p>
          <a:p>
            <a:pPr lvl="1"/>
            <a:r>
              <a:rPr lang="en-US" sz="1500" b="0" dirty="0"/>
              <a:t>Every task or group of tasks should be associated with a project milestone </a:t>
            </a:r>
            <a:endParaRPr lang="en-US" sz="1500" b="0" dirty="0"/>
          </a:p>
        </p:txBody>
      </p:sp>
      <p:sp>
        <p:nvSpPr>
          <p:cNvPr id="4" name="Slide Number Placeholder 3"/>
          <p:cNvSpPr>
            <a:spLocks noGrp="1"/>
          </p:cNvSpPr>
          <p:nvPr>
            <p:ph type="sldNum" sz="quarter" idx="11"/>
          </p:nvPr>
        </p:nvSpPr>
        <p:spPr/>
        <p:txBody>
          <a:bodyPr/>
          <a:lstStyle/>
          <a:p>
            <a:fld id="{B6F15528-21DE-4FAA-801E-634DDDAF4B2B}" type="slidenum">
              <a:rPr lang="en-US" smtClean="0"/>
              <a:pPr/>
              <a:t>75</a:t>
            </a:fld>
            <a:endParaRPr lang="en-US" dirty="0"/>
          </a:p>
        </p:txBody>
      </p:sp>
    </p:spTree>
    <p:extLst>
      <p:ext uri="{BB962C8B-B14F-4D97-AF65-F5344CB8AC3E}">
        <p14:creationId xmlns:p14="http://schemas.microsoft.com/office/powerpoint/2010/main" val="100139647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3393560" cy="822305"/>
          </a:xfrm>
        </p:spPr>
        <p:txBody>
          <a:bodyPr/>
          <a:lstStyle/>
          <a:p>
            <a:r>
              <a:rPr lang="fr-FR" dirty="0" smtClean="0"/>
              <a:t>Project Plan</a:t>
            </a:r>
            <a:endParaRPr lang="fr-FR" dirty="0"/>
          </a:p>
        </p:txBody>
      </p:sp>
      <p:sp>
        <p:nvSpPr>
          <p:cNvPr id="18" name="Content Placeholder 17"/>
          <p:cNvSpPr>
            <a:spLocks noGrp="1"/>
          </p:cNvSpPr>
          <p:nvPr>
            <p:ph idx="1"/>
          </p:nvPr>
        </p:nvSpPr>
        <p:spPr>
          <a:xfrm>
            <a:off x="304800" y="990600"/>
            <a:ext cx="8686800" cy="5105400"/>
          </a:xfrm>
        </p:spPr>
        <p:txBody>
          <a:bodyPr/>
          <a:lstStyle/>
          <a:p>
            <a:pPr>
              <a:lnSpc>
                <a:spcPct val="150000"/>
              </a:lnSpc>
            </a:pPr>
            <a:r>
              <a:rPr lang="en-US" sz="2400" i="1" dirty="0"/>
              <a:t>Software Project Plan </a:t>
            </a:r>
            <a:endParaRPr lang="en-US" sz="2400" i="1" dirty="0" smtClean="0"/>
          </a:p>
          <a:p>
            <a:pPr marL="900112" lvl="1" indent="-457200">
              <a:lnSpc>
                <a:spcPct val="150000"/>
              </a:lnSpc>
              <a:buAutoNum type="arabicParenBoth"/>
            </a:pPr>
            <a:r>
              <a:rPr lang="en-US" sz="2400" b="0" dirty="0" smtClean="0"/>
              <a:t> communicate </a:t>
            </a:r>
            <a:r>
              <a:rPr lang="en-US" sz="2400" b="0" dirty="0"/>
              <a:t>scope and resources to software </a:t>
            </a:r>
            <a:r>
              <a:rPr lang="en-US" sz="2400" b="0" dirty="0" smtClean="0"/>
              <a:t>management, technical </a:t>
            </a:r>
            <a:r>
              <a:rPr lang="en-US" sz="2400" b="0" dirty="0"/>
              <a:t>staff, and the customer; </a:t>
            </a:r>
            <a:endParaRPr lang="en-US" sz="2400" b="0" dirty="0" smtClean="0"/>
          </a:p>
          <a:p>
            <a:pPr marL="900112" lvl="1" indent="-457200">
              <a:lnSpc>
                <a:spcPct val="150000"/>
              </a:lnSpc>
              <a:buAutoNum type="arabicParenBoth"/>
            </a:pPr>
            <a:r>
              <a:rPr lang="en-US" sz="2400" b="0" dirty="0" smtClean="0"/>
              <a:t> define </a:t>
            </a:r>
            <a:r>
              <a:rPr lang="en-US" sz="2400" b="0" dirty="0"/>
              <a:t>risks and suggest risk aversion techniques</a:t>
            </a:r>
            <a:r>
              <a:rPr lang="en-US" sz="2400" b="0" dirty="0" smtClean="0"/>
              <a:t>;</a:t>
            </a:r>
          </a:p>
          <a:p>
            <a:pPr marL="900112" lvl="1" indent="-457200">
              <a:lnSpc>
                <a:spcPct val="150000"/>
              </a:lnSpc>
              <a:buAutoNum type="arabicParenBoth"/>
            </a:pPr>
            <a:r>
              <a:rPr lang="en-US" sz="2400" b="0" dirty="0"/>
              <a:t> </a:t>
            </a:r>
            <a:r>
              <a:rPr lang="en-US" sz="2400" b="0" dirty="0" smtClean="0"/>
              <a:t>define </a:t>
            </a:r>
            <a:r>
              <a:rPr lang="en-US" sz="2400" b="0" dirty="0"/>
              <a:t>cost and schedule for management review; </a:t>
            </a:r>
            <a:endParaRPr lang="en-US" sz="2400" b="0" dirty="0" smtClean="0"/>
          </a:p>
          <a:p>
            <a:pPr marL="900112" lvl="1" indent="-457200">
              <a:lnSpc>
                <a:spcPct val="150000"/>
              </a:lnSpc>
              <a:buAutoNum type="arabicParenBoth"/>
            </a:pPr>
            <a:r>
              <a:rPr lang="en-US" sz="2400" b="0" dirty="0"/>
              <a:t> </a:t>
            </a:r>
            <a:r>
              <a:rPr lang="en-US" sz="2400" b="0" dirty="0" smtClean="0"/>
              <a:t>provide </a:t>
            </a:r>
            <a:r>
              <a:rPr lang="en-US" sz="2400" b="0" dirty="0"/>
              <a:t>an overall </a:t>
            </a:r>
            <a:r>
              <a:rPr lang="en-US" sz="2400" b="0" dirty="0" smtClean="0"/>
              <a:t>approach to </a:t>
            </a:r>
            <a:r>
              <a:rPr lang="en-US" sz="2400" b="0" dirty="0"/>
              <a:t>software development for all people associated with the project; </a:t>
            </a:r>
            <a:endParaRPr lang="en-US" sz="2400" b="0" dirty="0" smtClean="0"/>
          </a:p>
          <a:p>
            <a:pPr marL="900112" lvl="1" indent="-457200">
              <a:lnSpc>
                <a:spcPct val="150000"/>
              </a:lnSpc>
              <a:buAutoNum type="arabicParenBoth"/>
            </a:pPr>
            <a:r>
              <a:rPr lang="en-US" sz="2400" b="0" dirty="0"/>
              <a:t> </a:t>
            </a:r>
            <a:r>
              <a:rPr lang="en-US" sz="2400" b="0" dirty="0" smtClean="0"/>
              <a:t>outline how </a:t>
            </a:r>
            <a:r>
              <a:rPr lang="en-US" sz="2400" b="0" dirty="0"/>
              <a:t>quality will be ensured and change will be managed.</a:t>
            </a:r>
            <a:endParaRPr lang="en-US" sz="2400" b="0" dirty="0" smtClean="0"/>
          </a:p>
        </p:txBody>
      </p:sp>
      <p:sp>
        <p:nvSpPr>
          <p:cNvPr id="3" name="Slide Number Placeholder 2"/>
          <p:cNvSpPr>
            <a:spLocks noGrp="1"/>
          </p:cNvSpPr>
          <p:nvPr>
            <p:ph type="sldNum" sz="quarter" idx="11"/>
          </p:nvPr>
        </p:nvSpPr>
        <p:spPr/>
        <p:txBody>
          <a:bodyPr/>
          <a:lstStyle/>
          <a:p>
            <a:fld id="{B6F15528-21DE-4FAA-801E-634DDDAF4B2B}" type="slidenum">
              <a:rPr lang="en-US" smtClean="0"/>
              <a:pPr/>
              <a:t>76</a:t>
            </a:fld>
            <a:endParaRPr lang="en-US"/>
          </a:p>
        </p:txBody>
      </p:sp>
    </p:spTree>
    <p:extLst>
      <p:ext uri="{BB962C8B-B14F-4D97-AF65-F5344CB8AC3E}">
        <p14:creationId xmlns:p14="http://schemas.microsoft.com/office/powerpoint/2010/main" val="396729226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8" y="2275"/>
            <a:ext cx="2566326" cy="822305"/>
          </a:xfrm>
        </p:spPr>
        <p:txBody>
          <a:bodyPr/>
          <a:lstStyle/>
          <a:p>
            <a:r>
              <a:rPr lang="fr-FR" dirty="0" smtClean="0"/>
              <a:t> Content</a:t>
            </a:r>
            <a:endParaRPr lang="fr-FR" dirty="0"/>
          </a:p>
        </p:txBody>
      </p:sp>
      <p:sp>
        <p:nvSpPr>
          <p:cNvPr id="18" name="Content Placeholder 17"/>
          <p:cNvSpPr>
            <a:spLocks noGrp="1"/>
          </p:cNvSpPr>
          <p:nvPr>
            <p:ph idx="1"/>
          </p:nvPr>
        </p:nvSpPr>
        <p:spPr>
          <a:xfrm>
            <a:off x="304800" y="1295400"/>
            <a:ext cx="8686800" cy="5077703"/>
          </a:xfrm>
        </p:spPr>
        <p:txBody>
          <a:bodyPr/>
          <a:lstStyle/>
          <a:p>
            <a:pPr marL="0" indent="0" algn="ctr">
              <a:buNone/>
            </a:pPr>
            <a:r>
              <a:rPr lang="en-US" sz="8800" dirty="0" smtClean="0"/>
              <a:t>Part </a:t>
            </a:r>
            <a:r>
              <a:rPr lang="en-US" sz="8800" dirty="0" smtClean="0"/>
              <a:t>VI</a:t>
            </a:r>
            <a:endParaRPr lang="en-US" sz="7200" dirty="0"/>
          </a:p>
          <a:p>
            <a:pPr marL="0" indent="0" algn="ctr">
              <a:buNone/>
            </a:pPr>
            <a:r>
              <a:rPr lang="en-US" sz="5400" dirty="0" smtClean="0"/>
              <a:t>SOFTWARE </a:t>
            </a:r>
            <a:r>
              <a:rPr lang="en-US" sz="5400" dirty="0"/>
              <a:t>QUALITY ASSURANCE </a:t>
            </a:r>
            <a:endParaRPr lang="en-US" sz="5400" dirty="0"/>
          </a:p>
          <a:p>
            <a:pPr marL="0" indent="0" algn="ctr"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900" dirty="0" smtClean="0">
              <a:ea typeface="+mn-ea"/>
              <a:cs typeface="+mn-cs"/>
            </a:endParaRPr>
          </a:p>
          <a:p>
            <a:pPr marL="0" indent="0" algn="ctr"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smtClean="0"/>
          </a:p>
          <a:p>
            <a:pPr marL="0" indent="0" algn="ctr" defTabSz="457200">
              <a:lnSpc>
                <a:spcPct val="90000"/>
              </a:lnSpc>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lvl="1" algn="ctr" defTabSz="457200">
              <a:lnSpc>
                <a:spcPct val="90000"/>
              </a:lnSpc>
              <a:buFont typeface="Arial"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lvl="1" algn="ctr" defTabSz="457200">
              <a:lnSpc>
                <a:spcPct val="90000"/>
              </a:lnSpc>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dirty="0"/>
          </a:p>
          <a:p>
            <a:pPr marL="0" indent="0" algn="ctr">
              <a:buNone/>
            </a:pPr>
            <a:endParaRPr lang="en-US" dirty="0"/>
          </a:p>
        </p:txBody>
      </p:sp>
      <p:sp>
        <p:nvSpPr>
          <p:cNvPr id="3" name="Slide Number Placeholder 2"/>
          <p:cNvSpPr>
            <a:spLocks noGrp="1"/>
          </p:cNvSpPr>
          <p:nvPr>
            <p:ph type="sldNum" sz="quarter" idx="11"/>
          </p:nvPr>
        </p:nvSpPr>
        <p:spPr/>
        <p:txBody>
          <a:bodyPr/>
          <a:lstStyle/>
          <a:p>
            <a:fld id="{B6F15528-21DE-4FAA-801E-634DDDAF4B2B}" type="slidenum">
              <a:rPr lang="en-US" smtClean="0"/>
              <a:pPr/>
              <a:t>77</a:t>
            </a:fld>
            <a:endParaRPr lang="en-US"/>
          </a:p>
        </p:txBody>
      </p:sp>
    </p:spTree>
    <p:extLst>
      <p:ext uri="{BB962C8B-B14F-4D97-AF65-F5344CB8AC3E}">
        <p14:creationId xmlns:p14="http://schemas.microsoft.com/office/powerpoint/2010/main" val="64286625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63" y="188129"/>
            <a:ext cx="3073713" cy="822305"/>
          </a:xfrm>
        </p:spPr>
        <p:txBody>
          <a:bodyPr/>
          <a:lstStyle/>
          <a:p>
            <a:r>
              <a:rPr lang="en-US" dirty="0" smtClean="0"/>
              <a:t>Quick look</a:t>
            </a:r>
            <a:endParaRPr lang="en-US" dirty="0"/>
          </a:p>
        </p:txBody>
      </p:sp>
      <p:sp>
        <p:nvSpPr>
          <p:cNvPr id="3" name="Content Placeholder 2"/>
          <p:cNvSpPr>
            <a:spLocks noGrp="1"/>
          </p:cNvSpPr>
          <p:nvPr>
            <p:ph idx="1"/>
          </p:nvPr>
        </p:nvSpPr>
        <p:spPr/>
        <p:txBody>
          <a:bodyPr/>
          <a:lstStyle/>
          <a:p>
            <a:r>
              <a:rPr lang="en-US" sz="2000" b="0" dirty="0" smtClean="0"/>
              <a:t>WHAT</a:t>
            </a:r>
          </a:p>
          <a:p>
            <a:pPr lvl="1"/>
            <a:r>
              <a:rPr lang="en-US" sz="2000" b="0" dirty="0"/>
              <a:t>(1) explicitly define what is meant when you say “software quality,” </a:t>
            </a:r>
            <a:endParaRPr lang="en-US" sz="2000" b="0" dirty="0" smtClean="0"/>
          </a:p>
          <a:p>
            <a:pPr lvl="1"/>
            <a:r>
              <a:rPr lang="en-US" sz="2000" b="0" dirty="0" smtClean="0"/>
              <a:t>(</a:t>
            </a:r>
            <a:r>
              <a:rPr lang="en-US" sz="2000" b="0" dirty="0"/>
              <a:t>2) create a set of activities that will help ensure that every soft- ware engineering work product exhibits high quality</a:t>
            </a:r>
            <a:r>
              <a:rPr lang="en-US" sz="2000" b="0" dirty="0" smtClean="0"/>
              <a:t>,</a:t>
            </a:r>
          </a:p>
          <a:p>
            <a:pPr lvl="1"/>
            <a:r>
              <a:rPr lang="en-US" sz="2000" b="0" dirty="0" smtClean="0"/>
              <a:t> </a:t>
            </a:r>
            <a:r>
              <a:rPr lang="en-US" sz="2000" b="0" dirty="0"/>
              <a:t>(3) perform quality assurance activities on every software project, </a:t>
            </a:r>
            <a:endParaRPr lang="en-US" sz="2000" b="0" dirty="0" smtClean="0"/>
          </a:p>
          <a:p>
            <a:pPr lvl="1"/>
            <a:r>
              <a:rPr lang="en-US" sz="2000" b="0" dirty="0" smtClean="0"/>
              <a:t>(</a:t>
            </a:r>
            <a:r>
              <a:rPr lang="en-US" sz="2000" b="0" dirty="0"/>
              <a:t>4) use metrics to develop strategies for improving your software process and, as a consequence, the quality of the end product. </a:t>
            </a:r>
            <a:endParaRPr lang="en-US" sz="2000" b="0" dirty="0" smtClean="0"/>
          </a:p>
          <a:p>
            <a:r>
              <a:rPr lang="en-US" sz="2000" b="0" dirty="0" smtClean="0"/>
              <a:t>WHO</a:t>
            </a:r>
          </a:p>
          <a:p>
            <a:pPr lvl="1"/>
            <a:r>
              <a:rPr lang="en-US" sz="2000" b="0" dirty="0"/>
              <a:t>Everyone involved in the software </a:t>
            </a:r>
            <a:r>
              <a:rPr lang="en-US" sz="2000" b="0" dirty="0" smtClean="0"/>
              <a:t>engineering </a:t>
            </a:r>
            <a:r>
              <a:rPr lang="en-US" sz="2000" b="0" dirty="0"/>
              <a:t>process </a:t>
            </a:r>
            <a:endParaRPr lang="en-US" sz="2000" b="0" dirty="0" smtClean="0"/>
          </a:p>
          <a:p>
            <a:r>
              <a:rPr lang="en-US" sz="2000" b="0" dirty="0" smtClean="0"/>
              <a:t>WHY</a:t>
            </a:r>
          </a:p>
          <a:p>
            <a:pPr lvl="1"/>
            <a:r>
              <a:rPr lang="en-US" sz="2000" b="0" dirty="0"/>
              <a:t>You can do it right, or you can do it over again </a:t>
            </a:r>
            <a:endParaRPr lang="en-US" sz="2000" b="0" dirty="0" smtClean="0"/>
          </a:p>
          <a:p>
            <a:r>
              <a:rPr lang="en-US" sz="2000" b="0" dirty="0" smtClean="0"/>
              <a:t>WORKPRODUCT</a:t>
            </a:r>
          </a:p>
          <a:p>
            <a:pPr lvl="1"/>
            <a:r>
              <a:rPr lang="en-US" sz="2000" b="0" dirty="0"/>
              <a:t>Software Quality </a:t>
            </a:r>
            <a:r>
              <a:rPr lang="en-US" sz="2000" b="0" dirty="0" smtClean="0"/>
              <a:t>Assurance </a:t>
            </a:r>
            <a:r>
              <a:rPr lang="en-US" sz="2000" b="0" dirty="0"/>
              <a:t>Plan </a:t>
            </a:r>
            <a:endParaRPr lang="en-US" sz="2000" b="0" dirty="0" smtClean="0"/>
          </a:p>
          <a:p>
            <a:pPr lvl="1"/>
            <a:r>
              <a:rPr lang="en-US" sz="2000" b="0" dirty="0"/>
              <a:t>formal technical review summary report </a:t>
            </a:r>
            <a:endParaRPr lang="en-US" sz="2000" b="0" dirty="0"/>
          </a:p>
          <a:p>
            <a:pPr lvl="1"/>
            <a:endParaRPr lang="en-US" sz="2000" b="0" dirty="0"/>
          </a:p>
          <a:p>
            <a:pPr lvl="1"/>
            <a:endParaRPr lang="en-US" sz="2000" b="0" dirty="0"/>
          </a:p>
        </p:txBody>
      </p:sp>
      <p:sp>
        <p:nvSpPr>
          <p:cNvPr id="4" name="Slide Number Placeholder 3"/>
          <p:cNvSpPr>
            <a:spLocks noGrp="1"/>
          </p:cNvSpPr>
          <p:nvPr>
            <p:ph type="sldNum" sz="quarter" idx="11"/>
          </p:nvPr>
        </p:nvSpPr>
        <p:spPr/>
        <p:txBody>
          <a:bodyPr/>
          <a:lstStyle/>
          <a:p>
            <a:fld id="{B6F15528-21DE-4FAA-801E-634DDDAF4B2B}" type="slidenum">
              <a:rPr lang="en-US" smtClean="0"/>
              <a:pPr/>
              <a:t>78</a:t>
            </a:fld>
            <a:endParaRPr lang="en-US" dirty="0"/>
          </a:p>
        </p:txBody>
      </p:sp>
    </p:spTree>
    <p:extLst>
      <p:ext uri="{BB962C8B-B14F-4D97-AF65-F5344CB8AC3E}">
        <p14:creationId xmlns:p14="http://schemas.microsoft.com/office/powerpoint/2010/main" val="7980760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63" y="188129"/>
            <a:ext cx="4495001" cy="822305"/>
          </a:xfrm>
        </p:spPr>
        <p:txBody>
          <a:bodyPr/>
          <a:lstStyle/>
          <a:p>
            <a:r>
              <a:rPr lang="en-US" dirty="0" smtClean="0"/>
              <a:t>Quality concepts</a:t>
            </a:r>
            <a:endParaRPr lang="en-US" dirty="0"/>
          </a:p>
        </p:txBody>
      </p:sp>
      <p:sp>
        <p:nvSpPr>
          <p:cNvPr id="3" name="Content Placeholder 2"/>
          <p:cNvSpPr>
            <a:spLocks noGrp="1"/>
          </p:cNvSpPr>
          <p:nvPr>
            <p:ph idx="1"/>
          </p:nvPr>
        </p:nvSpPr>
        <p:spPr/>
        <p:txBody>
          <a:bodyPr/>
          <a:lstStyle/>
          <a:p>
            <a:r>
              <a:rPr lang="en-US" sz="2000" b="0" dirty="0" smtClean="0"/>
              <a:t>Quality</a:t>
            </a:r>
          </a:p>
          <a:p>
            <a:pPr lvl="1"/>
            <a:r>
              <a:rPr lang="en-US" sz="2000" b="0" i="1" dirty="0"/>
              <a:t>American Heritage Dictionary </a:t>
            </a:r>
            <a:r>
              <a:rPr lang="en-US" sz="2000" b="0" dirty="0"/>
              <a:t>defines </a:t>
            </a:r>
            <a:r>
              <a:rPr lang="en-US" sz="2000" b="0" i="1" dirty="0"/>
              <a:t>quality </a:t>
            </a:r>
            <a:r>
              <a:rPr lang="en-US" sz="2000" b="0" dirty="0"/>
              <a:t>as “a characteristic or attribute of something.” </a:t>
            </a:r>
            <a:endParaRPr lang="en-US" sz="2000" b="0" dirty="0" smtClean="0"/>
          </a:p>
          <a:p>
            <a:r>
              <a:rPr lang="en-US" sz="2000" b="0" i="1" dirty="0"/>
              <a:t>Quality of design </a:t>
            </a:r>
            <a:endParaRPr lang="en-US" sz="2000" b="0" i="1" dirty="0" smtClean="0"/>
          </a:p>
          <a:p>
            <a:pPr lvl="1"/>
            <a:r>
              <a:rPr lang="en-US" sz="2000" b="0" dirty="0" smtClean="0"/>
              <a:t>the </a:t>
            </a:r>
            <a:r>
              <a:rPr lang="en-US" sz="2000" b="0" dirty="0"/>
              <a:t>characteristics that designers specify for an </a:t>
            </a:r>
            <a:r>
              <a:rPr lang="en-US" sz="2000" b="0" dirty="0" smtClean="0"/>
              <a:t>item; the </a:t>
            </a:r>
            <a:r>
              <a:rPr lang="en-US" sz="2000" b="0" dirty="0"/>
              <a:t>product is manufactured according to specifications. </a:t>
            </a:r>
            <a:endParaRPr lang="en-US" sz="2000" b="0" dirty="0" smtClean="0"/>
          </a:p>
          <a:p>
            <a:r>
              <a:rPr lang="en-US" sz="2000" b="0" i="1" dirty="0"/>
              <a:t>Quality of conformance </a:t>
            </a:r>
            <a:endParaRPr lang="en-US" sz="2000" b="0" dirty="0"/>
          </a:p>
          <a:p>
            <a:pPr lvl="1"/>
            <a:r>
              <a:rPr lang="en-US" sz="2000" b="0" dirty="0" smtClean="0"/>
              <a:t> </a:t>
            </a:r>
            <a:r>
              <a:rPr lang="en-US" sz="2000" b="0" dirty="0"/>
              <a:t>the degree to which the design specifications are </a:t>
            </a:r>
            <a:r>
              <a:rPr lang="en-US" sz="2000" b="0" dirty="0" smtClean="0"/>
              <a:t>followed </a:t>
            </a:r>
            <a:r>
              <a:rPr lang="en-US" sz="2000" b="0" dirty="0"/>
              <a:t>during manufacturing. </a:t>
            </a:r>
            <a:endParaRPr lang="en-US" sz="2000" b="0" dirty="0" smtClean="0"/>
          </a:p>
          <a:p>
            <a:pPr lvl="1"/>
            <a:r>
              <a:rPr lang="en-US" sz="2000" b="0" dirty="0"/>
              <a:t>User satisfaction = compliant product + good quality + delivery within budget and schedule </a:t>
            </a:r>
            <a:endParaRPr lang="en-US" sz="2000" b="0" dirty="0" smtClean="0"/>
          </a:p>
          <a:p>
            <a:r>
              <a:rPr lang="en-US" sz="2000" b="0" dirty="0" smtClean="0"/>
              <a:t>DeMarco [DEM99] states: </a:t>
            </a:r>
            <a:r>
              <a:rPr lang="en-US" sz="2000" b="0" i="1" dirty="0" smtClean="0"/>
              <a:t>“A product’s quality is a function of how much it changes the world for the better.” </a:t>
            </a:r>
            <a:endParaRPr lang="en-US" sz="2000" b="0" dirty="0"/>
          </a:p>
          <a:p>
            <a:endParaRPr lang="en-US" sz="2000" b="0" dirty="0"/>
          </a:p>
        </p:txBody>
      </p:sp>
      <p:sp>
        <p:nvSpPr>
          <p:cNvPr id="4" name="Slide Number Placeholder 3"/>
          <p:cNvSpPr>
            <a:spLocks noGrp="1"/>
          </p:cNvSpPr>
          <p:nvPr>
            <p:ph type="sldNum" sz="quarter" idx="11"/>
          </p:nvPr>
        </p:nvSpPr>
        <p:spPr/>
        <p:txBody>
          <a:bodyPr/>
          <a:lstStyle/>
          <a:p>
            <a:fld id="{B6F15528-21DE-4FAA-801E-634DDDAF4B2B}" type="slidenum">
              <a:rPr lang="en-US" smtClean="0"/>
              <a:pPr/>
              <a:t>79</a:t>
            </a:fld>
            <a:endParaRPr lang="en-US" dirty="0"/>
          </a:p>
        </p:txBody>
      </p:sp>
    </p:spTree>
    <p:extLst>
      <p:ext uri="{BB962C8B-B14F-4D97-AF65-F5344CB8AC3E}">
        <p14:creationId xmlns:p14="http://schemas.microsoft.com/office/powerpoint/2010/main" val="11848351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63" y="188129"/>
            <a:ext cx="4105678" cy="822305"/>
          </a:xfrm>
        </p:spPr>
        <p:txBody>
          <a:bodyPr/>
          <a:lstStyle/>
          <a:p>
            <a:r>
              <a:rPr lang="en-US" dirty="0" smtClean="0"/>
              <a:t>Quality Control</a:t>
            </a:r>
            <a:endParaRPr lang="en-US" dirty="0"/>
          </a:p>
        </p:txBody>
      </p:sp>
      <p:sp>
        <p:nvSpPr>
          <p:cNvPr id="3" name="Content Placeholder 2"/>
          <p:cNvSpPr>
            <a:spLocks noGrp="1"/>
          </p:cNvSpPr>
          <p:nvPr>
            <p:ph idx="1"/>
          </p:nvPr>
        </p:nvSpPr>
        <p:spPr/>
        <p:txBody>
          <a:bodyPr/>
          <a:lstStyle/>
          <a:p>
            <a:r>
              <a:rPr lang="en-US" sz="2000" b="0" i="1" dirty="0"/>
              <a:t>Quality control </a:t>
            </a:r>
            <a:r>
              <a:rPr lang="en-US" sz="2000" b="0" dirty="0"/>
              <a:t>involves the series of inspections, reviews, and tests used throughout the software process to ensure each work product meets the </a:t>
            </a:r>
            <a:r>
              <a:rPr lang="en-US" sz="2000" b="0" dirty="0" smtClean="0"/>
              <a:t>requirements </a:t>
            </a:r>
            <a:r>
              <a:rPr lang="en-US" sz="2000" b="0" dirty="0"/>
              <a:t>placed upon it. </a:t>
            </a:r>
            <a:endParaRPr lang="en-US" sz="2000" b="0" dirty="0" smtClean="0"/>
          </a:p>
          <a:p>
            <a:r>
              <a:rPr lang="en-US" sz="2000" b="0" dirty="0" smtClean="0"/>
              <a:t>Quality </a:t>
            </a:r>
            <a:r>
              <a:rPr lang="en-US" sz="2000" b="0" dirty="0"/>
              <a:t>control includes a feedback loop to the process that created the work product. The combination of measurement and feedback allows us to tune the process when the work products created fail to meet their specifications. This approach views quality control as part of the manufacturing process. </a:t>
            </a:r>
            <a:endParaRPr lang="en-US" sz="2000" b="0" dirty="0"/>
          </a:p>
          <a:p>
            <a:r>
              <a:rPr lang="en-US" sz="2000" b="0" dirty="0"/>
              <a:t>Quality control activities may be fully automated, entirely manual, or a </a:t>
            </a:r>
            <a:r>
              <a:rPr lang="en-US" sz="2000" b="0" dirty="0" smtClean="0"/>
              <a:t>combination </a:t>
            </a:r>
            <a:r>
              <a:rPr lang="en-US" sz="2000" b="0" dirty="0"/>
              <a:t>of automated tools and human interaction. </a:t>
            </a:r>
            <a:endParaRPr lang="en-US" sz="2000" b="0" dirty="0" smtClean="0"/>
          </a:p>
          <a:p>
            <a:r>
              <a:rPr lang="en-US" sz="2000" b="0" dirty="0" smtClean="0"/>
              <a:t>A </a:t>
            </a:r>
            <a:r>
              <a:rPr lang="en-US" sz="2000" b="0" dirty="0"/>
              <a:t>key concept of quality control is that all work products have defined, measurable specifications to which we may com- pare the output of each process. The feedback loop is essential to minimize the defects produced. </a:t>
            </a:r>
            <a:endParaRPr lang="en-US" sz="2000" b="0" dirty="0"/>
          </a:p>
          <a:p>
            <a:endParaRPr lang="en-US" sz="2000" b="0" dirty="0"/>
          </a:p>
        </p:txBody>
      </p:sp>
      <p:sp>
        <p:nvSpPr>
          <p:cNvPr id="4" name="Slide Number Placeholder 3"/>
          <p:cNvSpPr>
            <a:spLocks noGrp="1"/>
          </p:cNvSpPr>
          <p:nvPr>
            <p:ph type="sldNum" sz="quarter" idx="11"/>
          </p:nvPr>
        </p:nvSpPr>
        <p:spPr/>
        <p:txBody>
          <a:bodyPr/>
          <a:lstStyle/>
          <a:p>
            <a:fld id="{B6F15528-21DE-4FAA-801E-634DDDAF4B2B}" type="slidenum">
              <a:rPr lang="en-US" smtClean="0"/>
              <a:pPr/>
              <a:t>80</a:t>
            </a:fld>
            <a:endParaRPr lang="en-US" dirty="0"/>
          </a:p>
        </p:txBody>
      </p:sp>
    </p:spTree>
    <p:extLst>
      <p:ext uri="{BB962C8B-B14F-4D97-AF65-F5344CB8AC3E}">
        <p14:creationId xmlns:p14="http://schemas.microsoft.com/office/powerpoint/2010/main" val="9270984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63" y="188129"/>
            <a:ext cx="5005878" cy="822305"/>
          </a:xfrm>
        </p:spPr>
        <p:txBody>
          <a:bodyPr/>
          <a:lstStyle/>
          <a:p>
            <a:r>
              <a:rPr lang="en-US" dirty="0"/>
              <a:t>Quality Assurance </a:t>
            </a:r>
            <a:endParaRPr lang="en-US" dirty="0"/>
          </a:p>
        </p:txBody>
      </p:sp>
      <p:sp>
        <p:nvSpPr>
          <p:cNvPr id="3" name="Content Placeholder 2"/>
          <p:cNvSpPr>
            <a:spLocks noGrp="1"/>
          </p:cNvSpPr>
          <p:nvPr>
            <p:ph idx="1"/>
          </p:nvPr>
        </p:nvSpPr>
        <p:spPr/>
        <p:txBody>
          <a:bodyPr/>
          <a:lstStyle/>
          <a:p>
            <a:r>
              <a:rPr lang="en-US" b="0" i="1" dirty="0"/>
              <a:t>Quality assurance </a:t>
            </a:r>
            <a:r>
              <a:rPr lang="en-US" b="0" dirty="0"/>
              <a:t>consists of the auditing and reporting functions of management. </a:t>
            </a:r>
            <a:endParaRPr lang="en-US" b="0" dirty="0" smtClean="0"/>
          </a:p>
          <a:p>
            <a:r>
              <a:rPr lang="en-US" b="0" dirty="0" smtClean="0"/>
              <a:t>The </a:t>
            </a:r>
            <a:r>
              <a:rPr lang="en-US" b="0" dirty="0"/>
              <a:t>goal of quality assurance is to provide management with the data necessary to be informed about product quality, thereby gaining insight and confidence that </a:t>
            </a:r>
            <a:r>
              <a:rPr lang="en-US" b="0" dirty="0" smtClean="0"/>
              <a:t>product </a:t>
            </a:r>
            <a:r>
              <a:rPr lang="en-US" b="0" dirty="0"/>
              <a:t>quality is meeting its goals. </a:t>
            </a:r>
            <a:endParaRPr lang="en-US" b="0" dirty="0" smtClean="0"/>
          </a:p>
          <a:p>
            <a:r>
              <a:rPr lang="en-US" b="0" dirty="0" smtClean="0"/>
              <a:t>Of </a:t>
            </a:r>
            <a:r>
              <a:rPr lang="en-US" b="0" dirty="0"/>
              <a:t>course, if the data provided through quality </a:t>
            </a:r>
            <a:r>
              <a:rPr lang="en-US" b="0" dirty="0" smtClean="0"/>
              <a:t>assurance identify </a:t>
            </a:r>
            <a:r>
              <a:rPr lang="en-US" b="0" dirty="0"/>
              <a:t>problems, it is management’s responsibility to address the problems </a:t>
            </a:r>
            <a:r>
              <a:rPr lang="en-US" b="0" dirty="0" smtClean="0"/>
              <a:t>and </a:t>
            </a:r>
            <a:r>
              <a:rPr lang="en-US" b="0" dirty="0"/>
              <a:t>apply the necessary resources to resolve quality issues. </a:t>
            </a:r>
            <a:endParaRPr lang="en-US" b="0" dirty="0"/>
          </a:p>
        </p:txBody>
      </p:sp>
      <p:sp>
        <p:nvSpPr>
          <p:cNvPr id="4" name="Slide Number Placeholder 3"/>
          <p:cNvSpPr>
            <a:spLocks noGrp="1"/>
          </p:cNvSpPr>
          <p:nvPr>
            <p:ph type="sldNum" sz="quarter" idx="11"/>
          </p:nvPr>
        </p:nvSpPr>
        <p:spPr/>
        <p:txBody>
          <a:bodyPr/>
          <a:lstStyle/>
          <a:p>
            <a:fld id="{B6F15528-21DE-4FAA-801E-634DDDAF4B2B}" type="slidenum">
              <a:rPr lang="en-US" smtClean="0"/>
              <a:pPr/>
              <a:t>81</a:t>
            </a:fld>
            <a:endParaRPr lang="en-US" dirty="0"/>
          </a:p>
        </p:txBody>
      </p:sp>
    </p:spTree>
    <p:extLst>
      <p:ext uri="{BB962C8B-B14F-4D97-AF65-F5344CB8AC3E}">
        <p14:creationId xmlns:p14="http://schemas.microsoft.com/office/powerpoint/2010/main" val="58528699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63" y="296327"/>
            <a:ext cx="6692527" cy="605909"/>
          </a:xfrm>
        </p:spPr>
        <p:txBody>
          <a:bodyPr/>
          <a:lstStyle/>
          <a:p>
            <a:r>
              <a:rPr lang="en-US" sz="2800" dirty="0"/>
              <a:t>SOFTWARE QUALITY ASSURANCE </a:t>
            </a:r>
            <a:endParaRPr lang="en-US" sz="2800" dirty="0"/>
          </a:p>
        </p:txBody>
      </p:sp>
      <p:sp>
        <p:nvSpPr>
          <p:cNvPr id="3" name="Content Placeholder 2"/>
          <p:cNvSpPr>
            <a:spLocks noGrp="1"/>
          </p:cNvSpPr>
          <p:nvPr>
            <p:ph idx="1"/>
          </p:nvPr>
        </p:nvSpPr>
        <p:spPr/>
        <p:txBody>
          <a:bodyPr/>
          <a:lstStyle/>
          <a:p>
            <a:r>
              <a:rPr lang="en-US" sz="2000" b="0" dirty="0"/>
              <a:t>"Every program does something right, it just may not be the thing that we want it to do." </a:t>
            </a:r>
            <a:endParaRPr lang="en-US" sz="2000" b="0" dirty="0"/>
          </a:p>
          <a:p>
            <a:r>
              <a:rPr lang="en-US" sz="2000" b="0" i="1" dirty="0"/>
              <a:t>S</a:t>
            </a:r>
            <a:r>
              <a:rPr lang="en-US" sz="2000" b="0" i="1" dirty="0" smtClean="0"/>
              <a:t>oftware </a:t>
            </a:r>
            <a:r>
              <a:rPr lang="en-US" sz="2000" b="0" i="1" dirty="0"/>
              <a:t>quality </a:t>
            </a:r>
            <a:r>
              <a:rPr lang="en-US" sz="2000" b="0" dirty="0"/>
              <a:t>is </a:t>
            </a:r>
            <a:r>
              <a:rPr lang="en-US" sz="2000" b="0" dirty="0" smtClean="0"/>
              <a:t>defined: Conformance </a:t>
            </a:r>
            <a:r>
              <a:rPr lang="en-US" sz="2000" b="0" dirty="0"/>
              <a:t>to explicitly stated functional and performance requirements, explicitly </a:t>
            </a:r>
            <a:r>
              <a:rPr lang="en-US" sz="2000" b="0" dirty="0" smtClean="0"/>
              <a:t>documented </a:t>
            </a:r>
            <a:r>
              <a:rPr lang="en-US" sz="2000" b="0" dirty="0"/>
              <a:t>development standards, and implicit characteristics that are expected of all </a:t>
            </a:r>
            <a:r>
              <a:rPr lang="en-US" sz="2000" b="0" dirty="0" smtClean="0"/>
              <a:t>professionally </a:t>
            </a:r>
            <a:r>
              <a:rPr lang="en-US" sz="2000" b="0" dirty="0"/>
              <a:t>developed software. </a:t>
            </a:r>
            <a:endParaRPr lang="en-US" sz="2000" b="0" dirty="0"/>
          </a:p>
          <a:p>
            <a:pPr marL="457200" indent="-457200">
              <a:buFont typeface="+mj-lt"/>
              <a:buAutoNum type="arabicPeriod"/>
            </a:pPr>
            <a:r>
              <a:rPr lang="en-US" sz="2000" b="0" dirty="0"/>
              <a:t>Software requirements are the foundation from which quality is measured. Lack of conformance to requirements is lack of quality. </a:t>
            </a:r>
          </a:p>
          <a:p>
            <a:pPr marL="457200" indent="-457200">
              <a:buFont typeface="+mj-lt"/>
              <a:buAutoNum type="arabicPeriod"/>
            </a:pPr>
            <a:r>
              <a:rPr lang="en-US" sz="2000" b="0" dirty="0"/>
              <a:t>Specified standards define a set of development criteria that guide the </a:t>
            </a:r>
            <a:r>
              <a:rPr lang="en-US" sz="2000" b="0" dirty="0" smtClean="0"/>
              <a:t>manner </a:t>
            </a:r>
            <a:r>
              <a:rPr lang="en-US" sz="2000" b="0" dirty="0"/>
              <a:t>in which software is engineered. If the criteria are not followed, lack of quality will almost surely result. </a:t>
            </a:r>
          </a:p>
          <a:p>
            <a:pPr marL="457200" indent="-457200">
              <a:buFont typeface="+mj-lt"/>
              <a:buAutoNum type="arabicPeriod"/>
            </a:pPr>
            <a:r>
              <a:rPr lang="en-US" sz="2000" b="0" dirty="0"/>
              <a:t>A set of implicit requirements often goes unmentioned (e.g., the desire for ease of use and good maintainability). If software conforms to its explicit requirements but fails to meet implicit requirements, software quality is </a:t>
            </a:r>
            <a:r>
              <a:rPr lang="en-US" sz="2000" b="0" dirty="0" smtClean="0"/>
              <a:t>suspect</a:t>
            </a:r>
            <a:r>
              <a:rPr lang="en-US" sz="2000" b="0" dirty="0"/>
              <a:t>. </a:t>
            </a:r>
          </a:p>
          <a:p>
            <a:endParaRPr lang="en-US" sz="2000" b="0" dirty="0"/>
          </a:p>
        </p:txBody>
      </p:sp>
      <p:sp>
        <p:nvSpPr>
          <p:cNvPr id="4" name="Slide Number Placeholder 3"/>
          <p:cNvSpPr>
            <a:spLocks noGrp="1"/>
          </p:cNvSpPr>
          <p:nvPr>
            <p:ph type="sldNum" sz="quarter" idx="11"/>
          </p:nvPr>
        </p:nvSpPr>
        <p:spPr/>
        <p:txBody>
          <a:bodyPr/>
          <a:lstStyle/>
          <a:p>
            <a:fld id="{B6F15528-21DE-4FAA-801E-634DDDAF4B2B}" type="slidenum">
              <a:rPr lang="en-US" smtClean="0"/>
              <a:pPr/>
              <a:t>82</a:t>
            </a:fld>
            <a:endParaRPr lang="en-US" dirty="0"/>
          </a:p>
        </p:txBody>
      </p:sp>
    </p:spTree>
    <p:extLst>
      <p:ext uri="{BB962C8B-B14F-4D97-AF65-F5344CB8AC3E}">
        <p14:creationId xmlns:p14="http://schemas.microsoft.com/office/powerpoint/2010/main" val="18970478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63" y="188129"/>
            <a:ext cx="4076847" cy="822305"/>
          </a:xfrm>
        </p:spPr>
        <p:txBody>
          <a:bodyPr/>
          <a:lstStyle/>
          <a:p>
            <a:r>
              <a:rPr lang="en-US" dirty="0"/>
              <a:t>SQA Activities </a:t>
            </a:r>
            <a:endParaRPr lang="en-US" dirty="0"/>
          </a:p>
        </p:txBody>
      </p:sp>
      <p:sp>
        <p:nvSpPr>
          <p:cNvPr id="3" name="Content Placeholder 2"/>
          <p:cNvSpPr>
            <a:spLocks noGrp="1"/>
          </p:cNvSpPr>
          <p:nvPr>
            <p:ph idx="1"/>
          </p:nvPr>
        </p:nvSpPr>
        <p:spPr/>
        <p:txBody>
          <a:bodyPr/>
          <a:lstStyle/>
          <a:p>
            <a:r>
              <a:rPr lang="en-US" sz="1300" dirty="0"/>
              <a:t>Prepares an SQA plan for a project. </a:t>
            </a:r>
            <a:r>
              <a:rPr lang="en-US" sz="1300" b="0" dirty="0"/>
              <a:t>The plan is developed during project </a:t>
            </a:r>
            <a:r>
              <a:rPr lang="en-US" sz="1300" b="0" dirty="0" smtClean="0"/>
              <a:t>planning </a:t>
            </a:r>
            <a:r>
              <a:rPr lang="en-US" sz="1300" b="0" dirty="0"/>
              <a:t>and is reviewed by all interested parties. Quality assurance activities performed by the software engineering team and the SQA group are governed by the plan. The plan identifies </a:t>
            </a:r>
            <a:endParaRPr lang="en-US" sz="1300" b="0" dirty="0"/>
          </a:p>
          <a:p>
            <a:pPr lvl="1"/>
            <a:r>
              <a:rPr lang="en-US" sz="1300" b="0" dirty="0"/>
              <a:t>evaluations to be performed </a:t>
            </a:r>
          </a:p>
          <a:p>
            <a:pPr lvl="1"/>
            <a:r>
              <a:rPr lang="en-US" sz="1300" b="0" dirty="0"/>
              <a:t>audits and reviews to be performed </a:t>
            </a:r>
          </a:p>
          <a:p>
            <a:pPr lvl="1"/>
            <a:r>
              <a:rPr lang="en-US" sz="1300" b="0" dirty="0"/>
              <a:t>standards that are applicable to the project </a:t>
            </a:r>
          </a:p>
          <a:p>
            <a:pPr lvl="1"/>
            <a:r>
              <a:rPr lang="en-US" sz="1300" b="0" dirty="0"/>
              <a:t>procedures for error reporting and tracking </a:t>
            </a:r>
          </a:p>
          <a:p>
            <a:pPr lvl="1"/>
            <a:r>
              <a:rPr lang="en-US" sz="1300" b="0" dirty="0"/>
              <a:t>documents to be produced by the SQA group </a:t>
            </a:r>
          </a:p>
          <a:p>
            <a:pPr lvl="1"/>
            <a:r>
              <a:rPr lang="en-US" sz="1300" b="0" dirty="0"/>
              <a:t>amount of feedback provided to the software project team </a:t>
            </a:r>
          </a:p>
          <a:p>
            <a:r>
              <a:rPr lang="en-US" sz="1300" dirty="0"/>
              <a:t>Participates in the development of the project’s software process </a:t>
            </a:r>
            <a:r>
              <a:rPr lang="en-US" sz="1300" dirty="0" smtClean="0"/>
              <a:t>description</a:t>
            </a:r>
            <a:r>
              <a:rPr lang="en-US" sz="1300" b="0" dirty="0"/>
              <a:t>. The software team selects a process for the work to be performed. The SQA group reviews the process description for compliance with organizational policy, internal software standards, externally imposed standards (e.g., ISO-9001), and other parts of the software project plan. </a:t>
            </a:r>
          </a:p>
          <a:p>
            <a:r>
              <a:rPr lang="en-US" sz="1300" dirty="0"/>
              <a:t>Reviews software engineering activities to verify compliance with the defined software process. </a:t>
            </a:r>
            <a:r>
              <a:rPr lang="en-US" sz="1300" b="0" dirty="0"/>
              <a:t>The SQA group identifies, documents, and tracks deviations from the process and verifies that corrections have been made. </a:t>
            </a:r>
          </a:p>
          <a:p>
            <a:r>
              <a:rPr lang="en-US" sz="1300" dirty="0" smtClean="0"/>
              <a:t>Audits </a:t>
            </a:r>
            <a:r>
              <a:rPr lang="en-US" sz="1300" dirty="0"/>
              <a:t>designated software work products to verify compliance with those defined as part of the software process. </a:t>
            </a:r>
            <a:r>
              <a:rPr lang="en-US" sz="1300" b="0" dirty="0"/>
              <a:t>The SQA group reviews selected work products; identifies, documents, and tracks deviations; verifies that corrections have been made; and periodically reports the results of its work to the project manager. </a:t>
            </a:r>
            <a:endParaRPr lang="en-US" sz="1300" b="0" dirty="0"/>
          </a:p>
          <a:p>
            <a:r>
              <a:rPr lang="en-US" sz="1300" dirty="0"/>
              <a:t>Ensures that deviations in software work and work products are documented and handled according to a documented procedure. </a:t>
            </a:r>
            <a:r>
              <a:rPr lang="en-US" sz="1300" b="0" dirty="0"/>
              <a:t>Deviations may be </a:t>
            </a:r>
            <a:r>
              <a:rPr lang="en-US" sz="1300" b="0" dirty="0" smtClean="0"/>
              <a:t>encountered </a:t>
            </a:r>
            <a:r>
              <a:rPr lang="en-US" sz="1300" b="0" dirty="0"/>
              <a:t>in the project plan, process description, applicable standards, or technical work products. </a:t>
            </a:r>
            <a:endParaRPr lang="en-US" sz="1300" b="0" dirty="0"/>
          </a:p>
          <a:p>
            <a:r>
              <a:rPr lang="en-US" sz="1300" dirty="0"/>
              <a:t>Records any noncompliance and reports to senior management. </a:t>
            </a:r>
            <a:r>
              <a:rPr lang="en-US" sz="1300" b="0" dirty="0" smtClean="0"/>
              <a:t>Noncompliance </a:t>
            </a:r>
            <a:r>
              <a:rPr lang="en-US" sz="1300" b="0" dirty="0"/>
              <a:t>items are tracked until they are resolved. </a:t>
            </a:r>
            <a:endParaRPr lang="en-US" sz="1300" b="0" dirty="0"/>
          </a:p>
          <a:p>
            <a:endParaRPr lang="en-US" sz="1300" b="0" dirty="0"/>
          </a:p>
        </p:txBody>
      </p:sp>
      <p:sp>
        <p:nvSpPr>
          <p:cNvPr id="4" name="Slide Number Placeholder 3"/>
          <p:cNvSpPr>
            <a:spLocks noGrp="1"/>
          </p:cNvSpPr>
          <p:nvPr>
            <p:ph type="sldNum" sz="quarter" idx="11"/>
          </p:nvPr>
        </p:nvSpPr>
        <p:spPr/>
        <p:txBody>
          <a:bodyPr/>
          <a:lstStyle/>
          <a:p>
            <a:fld id="{B6F15528-21DE-4FAA-801E-634DDDAF4B2B}" type="slidenum">
              <a:rPr lang="en-US" smtClean="0"/>
              <a:pPr/>
              <a:t>83</a:t>
            </a:fld>
            <a:endParaRPr lang="en-US" dirty="0"/>
          </a:p>
        </p:txBody>
      </p:sp>
    </p:spTree>
    <p:extLst>
      <p:ext uri="{BB962C8B-B14F-4D97-AF65-F5344CB8AC3E}">
        <p14:creationId xmlns:p14="http://schemas.microsoft.com/office/powerpoint/2010/main" val="1670345348"/>
      </p:ext>
    </p:extLst>
  </p:cSld>
  <p:clrMapOvr>
    <a:masterClrMapping/>
  </p:clrMapOvr>
</p:sld>
</file>

<file path=ppt/theme/theme1.xml><?xml version="1.0" encoding="utf-8"?>
<a:theme xmlns:a="http://schemas.openxmlformats.org/drawingml/2006/main" name="modele_liris_2010">
  <a:themeElements>
    <a:clrScheme name="modele-diapo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odele-diapos">
      <a:majorFont>
        <a:latin typeface="Arial"/>
        <a:ea typeface=""/>
        <a:cs typeface=""/>
      </a:majorFont>
      <a:minorFont>
        <a:latin typeface="Arial"/>
        <a:ea typeface=""/>
        <a:cs typeface=""/>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odele-diapo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ele-diapo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ele-diapo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ele-diapo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ele-diapo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ele-diapos 6">
        <a:dk1>
          <a:srgbClr val="174A7C"/>
        </a:dk1>
        <a:lt1>
          <a:srgbClr val="EBEBF1"/>
        </a:lt1>
        <a:dk2>
          <a:srgbClr val="00539F"/>
        </a:dk2>
        <a:lt2>
          <a:srgbClr val="878EAF"/>
        </a:lt2>
        <a:accent1>
          <a:srgbClr val="1E613C"/>
        </a:accent1>
        <a:accent2>
          <a:srgbClr val="55004E"/>
        </a:accent2>
        <a:accent3>
          <a:srgbClr val="F3F3F7"/>
        </a:accent3>
        <a:accent4>
          <a:srgbClr val="123E69"/>
        </a:accent4>
        <a:accent5>
          <a:srgbClr val="ABB7AF"/>
        </a:accent5>
        <a:accent6>
          <a:srgbClr val="4C0046"/>
        </a:accent6>
        <a:hlink>
          <a:srgbClr val="C06616"/>
        </a:hlink>
        <a:folHlink>
          <a:srgbClr val="9E0A0F"/>
        </a:folHlink>
      </a:clrScheme>
      <a:clrMap bg1="lt1" tx1="dk1" bg2="lt2" tx2="dk2" accent1="accent1" accent2="accent2" accent3="accent3" accent4="accent4" accent5="accent5" accent6="accent6" hlink="hlink" folHlink="folHlink"/>
    </a:extraClrScheme>
    <a:extraClrScheme>
      <a:clrScheme name="modele-diapos 7">
        <a:dk1>
          <a:srgbClr val="174A7C"/>
        </a:dk1>
        <a:lt1>
          <a:srgbClr val="EBEBF1"/>
        </a:lt1>
        <a:dk2>
          <a:srgbClr val="00539F"/>
        </a:dk2>
        <a:lt2>
          <a:srgbClr val="878EAF"/>
        </a:lt2>
        <a:accent1>
          <a:srgbClr val="D60153"/>
        </a:accent1>
        <a:accent2>
          <a:srgbClr val="55004E"/>
        </a:accent2>
        <a:accent3>
          <a:srgbClr val="F3F3F7"/>
        </a:accent3>
        <a:accent4>
          <a:srgbClr val="123E69"/>
        </a:accent4>
        <a:accent5>
          <a:srgbClr val="E8AAB3"/>
        </a:accent5>
        <a:accent6>
          <a:srgbClr val="4C0046"/>
        </a:accent6>
        <a:hlink>
          <a:srgbClr val="C06616"/>
        </a:hlink>
        <a:folHlink>
          <a:srgbClr val="9E0A0F"/>
        </a:folHlink>
      </a:clrScheme>
      <a:clrMap bg1="lt1" tx1="dk1" bg2="lt2" tx2="dk2" accent1="accent1" accent2="accent2" accent3="accent3" accent4="accent4" accent5="accent5" accent6="accent6" hlink="hlink" folHlink="folHlink"/>
    </a:extraClrScheme>
    <a:extraClrScheme>
      <a:clrScheme name="modele-diapos 8">
        <a:dk1>
          <a:srgbClr val="174A7C"/>
        </a:dk1>
        <a:lt1>
          <a:srgbClr val="EDEDF3"/>
        </a:lt1>
        <a:dk2>
          <a:srgbClr val="FFFFFF"/>
        </a:dk2>
        <a:lt2>
          <a:srgbClr val="878EAF"/>
        </a:lt2>
        <a:accent1>
          <a:srgbClr val="007772"/>
        </a:accent1>
        <a:accent2>
          <a:srgbClr val="231F20"/>
        </a:accent2>
        <a:accent3>
          <a:srgbClr val="F4F4F8"/>
        </a:accent3>
        <a:accent4>
          <a:srgbClr val="123E69"/>
        </a:accent4>
        <a:accent5>
          <a:srgbClr val="AABDBC"/>
        </a:accent5>
        <a:accent6>
          <a:srgbClr val="1F1B1C"/>
        </a:accent6>
        <a:hlink>
          <a:srgbClr val="D61353"/>
        </a:hlink>
        <a:folHlink>
          <a:srgbClr val="57005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34638</TotalTime>
  <Words>5844</Words>
  <Application>Microsoft Macintosh PowerPoint</Application>
  <PresentationFormat>On-screen Show (4:3)</PresentationFormat>
  <Paragraphs>689</Paragraphs>
  <Slides>83</Slides>
  <Notes>65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83</vt:i4>
      </vt:variant>
    </vt:vector>
  </HeadingPairs>
  <TitlesOfParts>
    <vt:vector size="87" baseType="lpstr">
      <vt:lpstr>Calibri</vt:lpstr>
      <vt:lpstr>Wingdings 2</vt:lpstr>
      <vt:lpstr>Arial</vt:lpstr>
      <vt:lpstr>modele_liris_2010</vt:lpstr>
      <vt:lpstr>SOFTWARE PROJECT MANAGEMENT</vt:lpstr>
      <vt:lpstr>Interest</vt:lpstr>
      <vt:lpstr> State of problem</vt:lpstr>
      <vt:lpstr> Content</vt:lpstr>
      <vt:lpstr>Key concepts</vt:lpstr>
      <vt:lpstr>People - Players</vt:lpstr>
      <vt:lpstr>People – Team leader</vt:lpstr>
      <vt:lpstr>People – Software Team</vt:lpstr>
      <vt:lpstr>People – Software Team</vt:lpstr>
      <vt:lpstr>Key concepts - Product</vt:lpstr>
      <vt:lpstr>Key concepts - Process</vt:lpstr>
      <vt:lpstr> Process - Framework activities</vt:lpstr>
      <vt:lpstr> Melding the Product and the Process  </vt:lpstr>
      <vt:lpstr>Process Decomposition </vt:lpstr>
      <vt:lpstr>Process Decomposition </vt:lpstr>
      <vt:lpstr> Project - What can go wrong in a project?</vt:lpstr>
      <vt:lpstr>Key concept - Project</vt:lpstr>
      <vt:lpstr>Key concept - Project</vt:lpstr>
      <vt:lpstr> W5HH principle</vt:lpstr>
      <vt:lpstr>State of Art – Project definition</vt:lpstr>
      <vt:lpstr>Project - Critical Practices</vt:lpstr>
      <vt:lpstr>Determinants for software quality &amp; organizational effectiveness  </vt:lpstr>
      <vt:lpstr> Content</vt:lpstr>
      <vt:lpstr> Sate of problem</vt:lpstr>
      <vt:lpstr> Goals of software measurement</vt:lpstr>
      <vt:lpstr>Steps</vt:lpstr>
      <vt:lpstr> Concepts</vt:lpstr>
      <vt:lpstr>Project indicators </vt:lpstr>
      <vt:lpstr> Sized-Oriented Metrics</vt:lpstr>
      <vt:lpstr> Sized-Oriented Metrics</vt:lpstr>
      <vt:lpstr> Function-Oriented Metrics</vt:lpstr>
      <vt:lpstr> Function-Oriented Metrics</vt:lpstr>
      <vt:lpstr> Function-Oriented Metrics</vt:lpstr>
      <vt:lpstr> Function-Oriented Metrics</vt:lpstr>
      <vt:lpstr> Function-Oriented Metrics</vt:lpstr>
      <vt:lpstr> Function-Oriented Metrics</vt:lpstr>
      <vt:lpstr> Function-Oriented Metrics</vt:lpstr>
      <vt:lpstr> Function-Oriented Metrics</vt:lpstr>
      <vt:lpstr> Function-Oriented Metrics</vt:lpstr>
      <vt:lpstr> Metrics for Software Quality</vt:lpstr>
      <vt:lpstr> Measuring Quality Indicators</vt:lpstr>
      <vt:lpstr> Measuring Quality Indicators</vt:lpstr>
      <vt:lpstr> Measuring Quality Indicators</vt:lpstr>
      <vt:lpstr> Measuring Quality Indicators</vt:lpstr>
      <vt:lpstr> Measuring Quality Indicators</vt:lpstr>
      <vt:lpstr> Defect Removal Efficiency</vt:lpstr>
      <vt:lpstr> Content</vt:lpstr>
      <vt:lpstr> Software Project Planning</vt:lpstr>
      <vt:lpstr> Project Planning Objectives</vt:lpstr>
      <vt:lpstr> Project Planning Objectives</vt:lpstr>
      <vt:lpstr> Project Planning Objectives</vt:lpstr>
      <vt:lpstr> Project Planning Objectives</vt:lpstr>
      <vt:lpstr> Project Planning Objectives</vt:lpstr>
      <vt:lpstr> Project Planning Objectives</vt:lpstr>
      <vt:lpstr> Project Planning Objectives</vt:lpstr>
      <vt:lpstr> Software Project Estimation</vt:lpstr>
      <vt:lpstr> Software Project Estimation</vt:lpstr>
      <vt:lpstr> Content</vt:lpstr>
      <vt:lpstr>Software Risk</vt:lpstr>
      <vt:lpstr>Software Risk</vt:lpstr>
      <vt:lpstr>Software Risk</vt:lpstr>
      <vt:lpstr>Software Risk</vt:lpstr>
      <vt:lpstr>Software Risk</vt:lpstr>
      <vt:lpstr>Software Risk</vt:lpstr>
      <vt:lpstr>Software Risk</vt:lpstr>
      <vt:lpstr>Software Risk</vt:lpstr>
      <vt:lpstr> Content</vt:lpstr>
      <vt:lpstr>Project Scheduling</vt:lpstr>
      <vt:lpstr>Project Scheduling</vt:lpstr>
      <vt:lpstr>Project Scheduling</vt:lpstr>
      <vt:lpstr>Project Scheduling</vt:lpstr>
      <vt:lpstr>Project Scheduling</vt:lpstr>
      <vt:lpstr>Project Scheduling</vt:lpstr>
      <vt:lpstr>Tracking the Schedule</vt:lpstr>
      <vt:lpstr>Principles guide software project scheduling</vt:lpstr>
      <vt:lpstr>Project Plan</vt:lpstr>
      <vt:lpstr> Content</vt:lpstr>
      <vt:lpstr>Quick look</vt:lpstr>
      <vt:lpstr>Quality concepts</vt:lpstr>
      <vt:lpstr>Quality Control</vt:lpstr>
      <vt:lpstr>Quality Assurance </vt:lpstr>
      <vt:lpstr>SOFTWARE QUALITY ASSURANCE </vt:lpstr>
      <vt:lpstr>SQA Activities </vt:lpstr>
    </vt:vector>
  </TitlesOfParts>
  <LinksUpToDate>false</LinksUpToDate>
  <SharedDoc>false</SharedDoc>
  <HyperlinksChanged>false</HyperlinksChanged>
  <AppVersion>15.0029</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Une approche Embedded pour la sélection de variables en mode semi-supervisé</dc:title>
  <dc:creator>amameer</dc:creator>
  <cp:lastModifiedBy>Microsoft Office User</cp:lastModifiedBy>
  <cp:revision>1187</cp:revision>
  <dcterms:created xsi:type="dcterms:W3CDTF">2006-08-16T00:00:00Z</dcterms:created>
  <dcterms:modified xsi:type="dcterms:W3CDTF">2024-04-24T16:46:16Z</dcterms:modified>
</cp:coreProperties>
</file>